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144000" cy="1097280"/>
          </a:xfrm>
          <a:prstGeom prst="rect">
            <a:avLst/>
          </a:prstGeom>
          <a:noFill/>
        </p:spPr>
        <p:txBody>
          <a:bodyPr wrap="square"/>
          <a:lstStyle/>
          <a:p>
            <a:pPr algn="ctr">
              <a:lnSpc>
                <a:spcPts val="7600"/>
              </a:lnSpc>
              <a:defRPr sz="6400" b="1">
                <a:solidFill>
                  <a:srgbClr val="2D3A4A"/>
                </a:solidFill>
                <a:latin typeface="Calibri Light"/>
              </a:defRPr>
            </a:pPr>
            <a:r>
              <a:t>NEW DAWN</a:t>
            </a:r>
          </a:p>
        </p:txBody>
      </p:sp>
      <p:sp>
        <p:nvSpPr>
          <p:cNvPr id="4" name="Rectangle 3"/>
          <p:cNvSpPr/>
          <p:nvPr/>
        </p:nvSpPr>
        <p:spPr>
          <a:xfrm>
            <a:off x="5029200" y="2834640"/>
            <a:ext cx="2103120" cy="38100"/>
          </a:xfrm>
          <a:prstGeom prst="rect">
            <a:avLst/>
          </a:prstGeom>
          <a:solidFill>
            <a:srgbClr val="E6A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3108960"/>
            <a:ext cx="9144000" cy="731520"/>
          </a:xfrm>
          <a:prstGeom prst="rect">
            <a:avLst/>
          </a:prstGeom>
          <a:noFill/>
        </p:spPr>
        <p:txBody>
          <a:bodyPr wrap="square"/>
          <a:lstStyle/>
          <a:p>
            <a:pPr algn="ctr">
              <a:lnSpc>
                <a:spcPts val="3300"/>
              </a:lnSpc>
              <a:defRPr sz="2800" b="0">
                <a:solidFill>
                  <a:srgbClr val="6AA8CB"/>
                </a:solidFill>
                <a:latin typeface="Calibri Light"/>
              </a:defRPr>
            </a:pPr>
            <a:r>
              <a:t>A Path to Healing and Hope</a:t>
            </a:r>
          </a:p>
        </p:txBody>
      </p:sp>
      <p:sp>
        <p:nvSpPr>
          <p:cNvPr id="6" name="TextBox 5"/>
          <p:cNvSpPr txBox="1"/>
          <p:nvPr/>
        </p:nvSpPr>
        <p:spPr>
          <a:xfrm>
            <a:off x="1371600" y="4937760"/>
            <a:ext cx="9144000" cy="457200"/>
          </a:xfrm>
          <a:prstGeom prst="rect">
            <a:avLst/>
          </a:prstGeom>
          <a:noFill/>
        </p:spPr>
        <p:txBody>
          <a:bodyPr wrap="square"/>
          <a:lstStyle/>
          <a:p>
            <a:pPr algn="ctr">
              <a:lnSpc>
                <a:spcPts val="1900"/>
              </a:lnSpc>
              <a:defRPr sz="1600" b="1">
                <a:solidFill>
                  <a:srgbClr val="2D3A4A"/>
                </a:solidFill>
                <a:latin typeface="Calibri"/>
              </a:defRPr>
            </a:pPr>
            <a:r>
              <a:t>Section 3  |  Group 9</a:t>
            </a:r>
          </a:p>
        </p:txBody>
      </p:sp>
      <p:sp>
        <p:nvSpPr>
          <p:cNvPr id="7" name="TextBox 6"/>
          <p:cNvSpPr txBox="1"/>
          <p:nvPr/>
        </p:nvSpPr>
        <p:spPr>
          <a:xfrm>
            <a:off x="1371600" y="5349240"/>
            <a:ext cx="9144000" cy="457200"/>
          </a:xfrm>
          <a:prstGeom prst="rect">
            <a:avLst/>
          </a:prstGeom>
          <a:noFill/>
        </p:spPr>
        <p:txBody>
          <a:bodyPr wrap="square"/>
          <a:lstStyle/>
          <a:p>
            <a:pPr algn="ctr">
              <a:lnSpc>
                <a:spcPts val="1600"/>
              </a:lnSpc>
              <a:defRPr sz="1400" b="0">
                <a:solidFill>
                  <a:srgbClr val="888888"/>
                </a:solidFill>
                <a:latin typeface="Calibri"/>
              </a:defRPr>
            </a:pPr>
            <a:r>
              <a:t>Zack Hada   |   Lincoln Lyons   |   [Team Members]</a:t>
            </a:r>
          </a:p>
        </p:txBody>
      </p:sp>
      <p:sp>
        <p:nvSpPr>
          <p:cNvPr id="8" name="TextBox 7"/>
          <p:cNvSpPr txBox="1"/>
          <p:nvPr/>
        </p:nvSpPr>
        <p:spPr>
          <a:xfrm>
            <a:off x="11155680" y="6446520"/>
            <a:ext cx="914400" cy="365760"/>
          </a:xfrm>
          <a:prstGeom prst="rect">
            <a:avLst/>
          </a:prstGeom>
          <a:noFill/>
        </p:spPr>
        <p:txBody>
          <a:bodyPr wrap="square"/>
          <a:lstStyle/>
          <a:p>
            <a:pPr algn="r">
              <a:lnSpc>
                <a:spcPts val="1200"/>
              </a:lnSpc>
              <a:defRPr sz="1000" b="0">
                <a:solidFill>
                  <a:srgbClr val="888888"/>
                </a:solidFill>
                <a:latin typeface="Calibri"/>
              </a:defRPr>
            </a:pPr>
            <a:r>
              <a:t>1 /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914400"/>
            <a:ext cx="9418320" cy="457200"/>
          </a:xfrm>
          <a:prstGeom prst="rect">
            <a:avLst/>
          </a:prstGeom>
          <a:noFill/>
        </p:spPr>
        <p:txBody>
          <a:bodyPr wrap="square"/>
          <a:lstStyle/>
          <a:p>
            <a:pPr algn="ctr">
              <a:lnSpc>
                <a:spcPts val="1600"/>
              </a:lnSpc>
              <a:defRPr sz="1400" b="1">
                <a:solidFill>
                  <a:srgbClr val="2D3A4A"/>
                </a:solidFill>
                <a:latin typeface="Calibri"/>
              </a:defRPr>
            </a:pPr>
            <a:r>
              <a:t>YOUR MISSION</a:t>
            </a:r>
          </a:p>
        </p:txBody>
      </p:sp>
      <p:sp>
        <p:nvSpPr>
          <p:cNvPr id="4" name="TextBox 3"/>
          <p:cNvSpPr txBox="1"/>
          <p:nvPr/>
        </p:nvSpPr>
        <p:spPr>
          <a:xfrm>
            <a:off x="1371600" y="1463040"/>
            <a:ext cx="9418320" cy="1097280"/>
          </a:xfrm>
          <a:prstGeom prst="rect">
            <a:avLst/>
          </a:prstGeom>
          <a:noFill/>
        </p:spPr>
        <p:txBody>
          <a:bodyPr wrap="square"/>
          <a:lstStyle/>
          <a:p>
            <a:pPr algn="ctr">
              <a:lnSpc>
                <a:spcPts val="3900"/>
              </a:lnSpc>
              <a:defRPr sz="2600" b="0">
                <a:solidFill>
                  <a:srgbClr val="2D3A4A"/>
                </a:solidFill>
                <a:latin typeface="Calibri Light"/>
              </a:defRPr>
            </a:pPr>
            <a:r>
              <a:t>You're building an organization to provide safe homes for girls</a:t>
            </a:r>
            <a:br/>
            <a:r>
              <a:t>who are survivors of sexual abuse and trafficking in the Philippines.</a:t>
            </a:r>
          </a:p>
        </p:txBody>
      </p:sp>
      <p:sp>
        <p:nvSpPr>
          <p:cNvPr id="5" name="TextBox 4"/>
          <p:cNvSpPr txBox="1"/>
          <p:nvPr/>
        </p:nvSpPr>
        <p:spPr>
          <a:xfrm>
            <a:off x="1371600" y="2743200"/>
            <a:ext cx="9418320" cy="640080"/>
          </a:xfrm>
          <a:prstGeom prst="rect">
            <a:avLst/>
          </a:prstGeom>
          <a:noFill/>
        </p:spPr>
        <p:txBody>
          <a:bodyPr wrap="square"/>
          <a:lstStyle/>
          <a:p>
            <a:pPr algn="ctr">
              <a:lnSpc>
                <a:spcPts val="2600"/>
              </a:lnSpc>
              <a:defRPr sz="2200" b="1">
                <a:solidFill>
                  <a:srgbClr val="5E8C5E"/>
                </a:solidFill>
                <a:latin typeface="Calibri Light"/>
              </a:defRPr>
            </a:pPr>
            <a:r>
              <a:t>Caring. Healing. Teaching.</a:t>
            </a:r>
          </a:p>
        </p:txBody>
      </p:sp>
      <p:sp>
        <p:nvSpPr>
          <p:cNvPr id="6" name="Rectangle 5"/>
          <p:cNvSpPr/>
          <p:nvPr/>
        </p:nvSpPr>
        <p:spPr>
          <a:xfrm>
            <a:off x="5303520" y="3474720"/>
            <a:ext cx="1554480" cy="25400"/>
          </a:xfrm>
          <a:prstGeom prst="rect">
            <a:avLst/>
          </a:prstGeom>
          <a:solidFill>
            <a:srgbClr val="E6A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3840480"/>
            <a:ext cx="9418320" cy="1371600"/>
          </a:xfrm>
          <a:prstGeom prst="rect">
            <a:avLst/>
          </a:prstGeom>
          <a:noFill/>
        </p:spPr>
        <p:txBody>
          <a:bodyPr wrap="square"/>
          <a:lstStyle/>
          <a:p>
            <a:pPr algn="ctr">
              <a:lnSpc>
                <a:spcPts val="3000"/>
              </a:lnSpc>
              <a:defRPr sz="2000" b="0">
                <a:solidFill>
                  <a:srgbClr val="555F6D"/>
                </a:solidFill>
                <a:latin typeface="Calibri Light"/>
              </a:defRPr>
            </a:pPr>
            <a:r>
              <a:t>Shelter, counseling, education, and reintegration</a:t>
            </a:r>
            <a:br/>
            <a:r>
              <a:t>for the most vulnerable -- with limited staff, limited budget,</a:t>
            </a:r>
            <a:br/>
            <a:r>
              <a:t>and data that could be saving lives if you had the tools to use it.</a:t>
            </a:r>
          </a:p>
        </p:txBody>
      </p:sp>
      <p:sp>
        <p:nvSpPr>
          <p:cNvPr id="8" name="TextBox 7"/>
          <p:cNvSpPr txBox="1"/>
          <p:nvPr/>
        </p:nvSpPr>
        <p:spPr>
          <a:xfrm>
            <a:off x="1371600" y="5303520"/>
            <a:ext cx="9418320" cy="548640"/>
          </a:xfrm>
          <a:prstGeom prst="rect">
            <a:avLst/>
          </a:prstGeom>
          <a:noFill/>
        </p:spPr>
        <p:txBody>
          <a:bodyPr wrap="square"/>
          <a:lstStyle/>
          <a:p>
            <a:pPr algn="ctr">
              <a:lnSpc>
                <a:spcPts val="2600"/>
              </a:lnSpc>
              <a:defRPr sz="2200" b="1">
                <a:solidFill>
                  <a:srgbClr val="2D3A4A"/>
                </a:solidFill>
                <a:latin typeface="Calibri Light"/>
              </a:defRPr>
            </a:pPr>
            <a:r>
              <a:t>You asked us to build those tools.</a:t>
            </a:r>
          </a:p>
        </p:txBody>
      </p:sp>
      <p:sp>
        <p:nvSpPr>
          <p:cNvPr id="9" name="TextBox 8"/>
          <p:cNvSpPr txBox="1"/>
          <p:nvPr/>
        </p:nvSpPr>
        <p:spPr>
          <a:xfrm>
            <a:off x="1371600" y="5852160"/>
            <a:ext cx="9418320" cy="548640"/>
          </a:xfrm>
          <a:prstGeom prst="rect">
            <a:avLst/>
          </a:prstGeom>
          <a:noFill/>
        </p:spPr>
        <p:txBody>
          <a:bodyPr wrap="square"/>
          <a:lstStyle/>
          <a:p>
            <a:pPr algn="ctr">
              <a:lnSpc>
                <a:spcPts val="2100"/>
              </a:lnSpc>
              <a:defRPr sz="1800" b="0">
                <a:solidFill>
                  <a:srgbClr val="888888"/>
                </a:solidFill>
                <a:latin typeface="Calibri Light"/>
              </a:defRPr>
            </a:pPr>
            <a:r>
              <a:t>This is what we built.</a:t>
            </a:r>
          </a:p>
        </p:txBody>
      </p:sp>
      <p:sp>
        <p:nvSpPr>
          <p:cNvPr id="10" name="TextBox 9"/>
          <p:cNvSpPr txBox="1"/>
          <p:nvPr/>
        </p:nvSpPr>
        <p:spPr>
          <a:xfrm>
            <a:off x="11155680" y="6446520"/>
            <a:ext cx="914400" cy="365760"/>
          </a:xfrm>
          <a:prstGeom prst="rect">
            <a:avLst/>
          </a:prstGeom>
          <a:noFill/>
        </p:spPr>
        <p:txBody>
          <a:bodyPr wrap="square"/>
          <a:lstStyle/>
          <a:p>
            <a:pPr algn="r">
              <a:lnSpc>
                <a:spcPts val="1200"/>
              </a:lnSpc>
              <a:defRPr sz="1000" b="0">
                <a:solidFill>
                  <a:srgbClr val="888888"/>
                </a:solidFill>
                <a:latin typeface="Calibri"/>
              </a:defRPr>
            </a:pPr>
            <a: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457200"/>
          </a:xfrm>
          <a:prstGeom prst="rect">
            <a:avLst/>
          </a:prstGeom>
          <a:noFill/>
        </p:spPr>
        <p:txBody>
          <a:bodyPr wrap="square"/>
          <a:lstStyle/>
          <a:p>
            <a:pPr algn="l">
              <a:lnSpc>
                <a:spcPts val="1600"/>
              </a:lnSpc>
              <a:defRPr sz="1400" b="1">
                <a:solidFill>
                  <a:srgbClr val="2D3A4A"/>
                </a:solidFill>
                <a:latin typeface="Calibri"/>
              </a:defRPr>
            </a:pPr>
            <a:r>
              <a:t>WHAT YOU SHARED WITH US</a:t>
            </a:r>
          </a:p>
        </p:txBody>
      </p:sp>
      <p:sp>
        <p:nvSpPr>
          <p:cNvPr id="4" name="TextBox 3"/>
          <p:cNvSpPr txBox="1"/>
          <p:nvPr/>
        </p:nvSpPr>
        <p:spPr>
          <a:xfrm>
            <a:off x="731520" y="822960"/>
            <a:ext cx="10058400" cy="731520"/>
          </a:xfrm>
          <a:prstGeom prst="rect">
            <a:avLst/>
          </a:prstGeom>
          <a:noFill/>
        </p:spPr>
        <p:txBody>
          <a:bodyPr wrap="square"/>
          <a:lstStyle/>
          <a:p>
            <a:pPr algn="l">
              <a:lnSpc>
                <a:spcPts val="4500"/>
              </a:lnSpc>
              <a:defRPr sz="3800" b="1">
                <a:solidFill>
                  <a:srgbClr val="2D3A4A"/>
                </a:solidFill>
                <a:latin typeface="Calibri Light"/>
              </a:defRPr>
            </a:pPr>
            <a:r>
              <a:t>Three Things That Keep You Up at Night</a:t>
            </a:r>
          </a:p>
        </p:txBody>
      </p:sp>
      <p:sp>
        <p:nvSpPr>
          <p:cNvPr id="5" name="Rectangle 4"/>
          <p:cNvSpPr/>
          <p:nvPr/>
        </p:nvSpPr>
        <p:spPr>
          <a:xfrm>
            <a:off x="731520" y="1508760"/>
            <a:ext cx="1828800" cy="38100"/>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2011680"/>
            <a:ext cx="3291840" cy="4114800"/>
          </a:xfrm>
          <a:prstGeom prst="round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2011680"/>
            <a:ext cx="3291840" cy="54864"/>
          </a:xfrm>
          <a:prstGeom prst="rect">
            <a:avLst/>
          </a:prstGeom>
          <a:solidFill>
            <a:srgbClr val="5E8C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377440"/>
            <a:ext cx="2743200" cy="914400"/>
          </a:xfrm>
          <a:prstGeom prst="rect">
            <a:avLst/>
          </a:prstGeom>
          <a:noFill/>
        </p:spPr>
        <p:txBody>
          <a:bodyPr wrap="square"/>
          <a:lstStyle/>
          <a:p>
            <a:pPr algn="l">
              <a:lnSpc>
                <a:spcPts val="2000"/>
              </a:lnSpc>
              <a:defRPr sz="1700" b="1">
                <a:solidFill>
                  <a:srgbClr val="5E8C5E"/>
                </a:solidFill>
                <a:latin typeface="Calibri Light"/>
              </a:defRPr>
            </a:pPr>
            <a:r>
              <a:t>"We worry about girls</a:t>
            </a:r>
            <a:br/>
            <a:r>
              <a:t>falling through the cracks."</a:t>
            </a:r>
          </a:p>
        </p:txBody>
      </p:sp>
      <p:sp>
        <p:nvSpPr>
          <p:cNvPr id="9" name="TextBox 8"/>
          <p:cNvSpPr txBox="1"/>
          <p:nvPr/>
        </p:nvSpPr>
        <p:spPr>
          <a:xfrm>
            <a:off x="1005840" y="3474720"/>
            <a:ext cx="2743200" cy="2377440"/>
          </a:xfrm>
          <a:prstGeom prst="rect">
            <a:avLst/>
          </a:prstGeom>
          <a:noFill/>
        </p:spPr>
        <p:txBody>
          <a:bodyPr wrap="square"/>
          <a:lstStyle/>
          <a:p>
            <a:pPr algn="l">
              <a:lnSpc>
                <a:spcPts val="1600"/>
              </a:lnSpc>
              <a:defRPr sz="1400" b="0">
                <a:solidFill>
                  <a:srgbClr val="555F6D"/>
                </a:solidFill>
                <a:latin typeface="Calibri"/>
              </a:defRPr>
            </a:pPr>
            <a:r>
              <a:t>With limited staff across multiple safehouses, you can't always see which girls are progressing and which are struggling. There's no way to predict when someone is ready for reintegration -- or at risk of regression.</a:t>
            </a:r>
          </a:p>
        </p:txBody>
      </p:sp>
      <p:sp>
        <p:nvSpPr>
          <p:cNvPr id="10" name="Rounded Rectangle 9"/>
          <p:cNvSpPr/>
          <p:nvPr/>
        </p:nvSpPr>
        <p:spPr>
          <a:xfrm>
            <a:off x="4389120" y="2011680"/>
            <a:ext cx="3291840" cy="4114800"/>
          </a:xfrm>
          <a:prstGeom prst="round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2011680"/>
            <a:ext cx="3291840" cy="54864"/>
          </a:xfrm>
          <a:prstGeom prst="rect">
            <a:avLst/>
          </a:prstGeom>
          <a:solidFill>
            <a:srgbClr val="6AA8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2377440"/>
            <a:ext cx="2743200" cy="914400"/>
          </a:xfrm>
          <a:prstGeom prst="rect">
            <a:avLst/>
          </a:prstGeom>
          <a:noFill/>
        </p:spPr>
        <p:txBody>
          <a:bodyPr wrap="square"/>
          <a:lstStyle/>
          <a:p>
            <a:pPr algn="l">
              <a:lnSpc>
                <a:spcPts val="2000"/>
              </a:lnSpc>
              <a:defRPr sz="1700" b="1">
                <a:solidFill>
                  <a:srgbClr val="6AA8CB"/>
                </a:solidFill>
                <a:latin typeface="Calibri Light"/>
              </a:defRPr>
            </a:pPr>
            <a:r>
              <a:t>"We don't know what</a:t>
            </a:r>
            <a:br/>
            <a:r>
              <a:t>to post or when."</a:t>
            </a:r>
          </a:p>
        </p:txBody>
      </p:sp>
      <p:sp>
        <p:nvSpPr>
          <p:cNvPr id="13" name="TextBox 12"/>
          <p:cNvSpPr txBox="1"/>
          <p:nvPr/>
        </p:nvSpPr>
        <p:spPr>
          <a:xfrm>
            <a:off x="4663440" y="3474720"/>
            <a:ext cx="2743200" cy="2377440"/>
          </a:xfrm>
          <a:prstGeom prst="rect">
            <a:avLst/>
          </a:prstGeom>
          <a:noFill/>
        </p:spPr>
        <p:txBody>
          <a:bodyPr wrap="square"/>
          <a:lstStyle/>
          <a:p>
            <a:pPr algn="l">
              <a:lnSpc>
                <a:spcPts val="1600"/>
              </a:lnSpc>
              <a:defRPr sz="1400" b="0">
                <a:solidFill>
                  <a:srgbClr val="555F6D"/>
                </a:solidFill>
                <a:latin typeface="Calibri"/>
              </a:defRPr>
            </a:pPr>
            <a:r>
              <a:t>Social media is your primary channel for reaching donors, but you've told us you aren't experienced with it. You post sporadically and can't tell what actually drives donations versus just generating likes.</a:t>
            </a:r>
          </a:p>
        </p:txBody>
      </p:sp>
      <p:sp>
        <p:nvSpPr>
          <p:cNvPr id="14" name="Rounded Rectangle 13"/>
          <p:cNvSpPr/>
          <p:nvPr/>
        </p:nvSpPr>
        <p:spPr>
          <a:xfrm>
            <a:off x="8046720" y="2011680"/>
            <a:ext cx="3291840" cy="4114800"/>
          </a:xfrm>
          <a:prstGeom prst="round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20" y="2011680"/>
            <a:ext cx="3291840" cy="54864"/>
          </a:xfrm>
          <a:prstGeom prst="rect">
            <a:avLst/>
          </a:prstGeom>
          <a:solidFill>
            <a:srgbClr val="E6A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40" y="2377440"/>
            <a:ext cx="2743200" cy="914400"/>
          </a:xfrm>
          <a:prstGeom prst="rect">
            <a:avLst/>
          </a:prstGeom>
          <a:noFill/>
        </p:spPr>
        <p:txBody>
          <a:bodyPr wrap="square"/>
          <a:lstStyle/>
          <a:p>
            <a:pPr algn="l">
              <a:lnSpc>
                <a:spcPts val="2000"/>
              </a:lnSpc>
              <a:defRPr sz="1700" b="1">
                <a:solidFill>
                  <a:srgbClr val="E6A817"/>
                </a:solidFill>
                <a:latin typeface="Calibri Light"/>
              </a:defRPr>
            </a:pPr>
            <a:r>
              <a:t>"We lose donors and</a:t>
            </a:r>
            <a:br/>
            <a:r>
              <a:t>don't understand why."</a:t>
            </a:r>
          </a:p>
        </p:txBody>
      </p:sp>
      <p:sp>
        <p:nvSpPr>
          <p:cNvPr id="17" name="TextBox 16"/>
          <p:cNvSpPr txBox="1"/>
          <p:nvPr/>
        </p:nvSpPr>
        <p:spPr>
          <a:xfrm>
            <a:off x="8321040" y="3474720"/>
            <a:ext cx="2743200" cy="2377440"/>
          </a:xfrm>
          <a:prstGeom prst="rect">
            <a:avLst/>
          </a:prstGeom>
          <a:noFill/>
        </p:spPr>
        <p:txBody>
          <a:bodyPr wrap="square"/>
          <a:lstStyle/>
          <a:p>
            <a:pPr algn="l">
              <a:lnSpc>
                <a:spcPts val="1600"/>
              </a:lnSpc>
              <a:defRPr sz="1400" b="0">
                <a:solidFill>
                  <a:srgbClr val="555F6D"/>
                </a:solidFill>
                <a:latin typeface="Calibri"/>
              </a:defRPr>
            </a:pPr>
            <a:r>
              <a:t>Your organization depends entirely on donations. You run fundraising campaigns but aren't sure which ones move the needle. You want to know which donors might give more, which are at risk of lapsing, and how to personalize outreach without a marketing team.</a:t>
            </a:r>
          </a:p>
        </p:txBody>
      </p:sp>
      <p:sp>
        <p:nvSpPr>
          <p:cNvPr id="18" name="TextBox 17"/>
          <p:cNvSpPr txBox="1"/>
          <p:nvPr/>
        </p:nvSpPr>
        <p:spPr>
          <a:xfrm>
            <a:off x="11155680" y="6446520"/>
            <a:ext cx="914400" cy="365760"/>
          </a:xfrm>
          <a:prstGeom prst="rect">
            <a:avLst/>
          </a:prstGeom>
          <a:noFill/>
        </p:spPr>
        <p:txBody>
          <a:bodyPr wrap="square"/>
          <a:lstStyle/>
          <a:p>
            <a:pPr algn="r">
              <a:lnSpc>
                <a:spcPts val="1200"/>
              </a:lnSpc>
              <a:defRPr sz="1000" b="0">
                <a:solidFill>
                  <a:srgbClr val="888888"/>
                </a:solidFill>
                <a:latin typeface="Calibri"/>
              </a:defRPr>
            </a:pPr>
            <a: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457200"/>
          </a:xfrm>
          <a:prstGeom prst="rect">
            <a:avLst/>
          </a:prstGeom>
          <a:noFill/>
        </p:spPr>
        <p:txBody>
          <a:bodyPr wrap="square"/>
          <a:lstStyle/>
          <a:p>
            <a:pPr algn="l">
              <a:lnSpc>
                <a:spcPts val="1600"/>
              </a:lnSpc>
              <a:defRPr sz="1400" b="1">
                <a:solidFill>
                  <a:srgbClr val="2D3A4A"/>
                </a:solidFill>
                <a:latin typeface="Calibri"/>
              </a:defRPr>
            </a:pPr>
            <a:r>
              <a:t>OUR ANSWER</a:t>
            </a:r>
          </a:p>
        </p:txBody>
      </p:sp>
      <p:sp>
        <p:nvSpPr>
          <p:cNvPr id="4" name="TextBox 3"/>
          <p:cNvSpPr txBox="1"/>
          <p:nvPr/>
        </p:nvSpPr>
        <p:spPr>
          <a:xfrm>
            <a:off x="731520" y="822960"/>
            <a:ext cx="10058400" cy="731520"/>
          </a:xfrm>
          <a:prstGeom prst="rect">
            <a:avLst/>
          </a:prstGeom>
          <a:noFill/>
        </p:spPr>
        <p:txBody>
          <a:bodyPr wrap="square"/>
          <a:lstStyle/>
          <a:p>
            <a:pPr algn="l">
              <a:lnSpc>
                <a:spcPts val="4500"/>
              </a:lnSpc>
              <a:defRPr sz="3800" b="1">
                <a:solidFill>
                  <a:srgbClr val="2D3A4A"/>
                </a:solidFill>
                <a:latin typeface="Calibri Light"/>
              </a:defRPr>
            </a:pPr>
            <a:r>
              <a:t>One Platform, Three Solutions</a:t>
            </a:r>
          </a:p>
        </p:txBody>
      </p:sp>
      <p:sp>
        <p:nvSpPr>
          <p:cNvPr id="5" name="Rectangle 4"/>
          <p:cNvSpPr/>
          <p:nvPr/>
        </p:nvSpPr>
        <p:spPr>
          <a:xfrm>
            <a:off x="731520" y="1508760"/>
            <a:ext cx="1828800" cy="38100"/>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28800"/>
            <a:ext cx="10058400" cy="731520"/>
          </a:xfrm>
          <a:prstGeom prst="rect">
            <a:avLst/>
          </a:prstGeom>
          <a:noFill/>
        </p:spPr>
        <p:txBody>
          <a:bodyPr wrap="square"/>
          <a:lstStyle/>
          <a:p>
            <a:pPr algn="l">
              <a:lnSpc>
                <a:spcPts val="2100"/>
              </a:lnSpc>
              <a:defRPr sz="1800" b="0">
                <a:solidFill>
                  <a:srgbClr val="555F6D"/>
                </a:solidFill>
                <a:latin typeface="Calibri"/>
              </a:defRPr>
            </a:pPr>
            <a:r>
              <a:t>We built New Dawn -- a full-stack web application that combines case management,</a:t>
            </a:r>
            <a:br/>
            <a:r>
              <a:t>donor intelligence, and AI-powered social media tools into one system.</a:t>
            </a:r>
          </a:p>
        </p:txBody>
      </p:sp>
      <p:sp>
        <p:nvSpPr>
          <p:cNvPr id="7" name="Rounded Rectangle 6"/>
          <p:cNvSpPr/>
          <p:nvPr/>
        </p:nvSpPr>
        <p:spPr>
          <a:xfrm>
            <a:off x="731520" y="2926080"/>
            <a:ext cx="3291840" cy="2743200"/>
          </a:xfrm>
          <a:prstGeom prst="round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2926080"/>
            <a:ext cx="3291840" cy="54864"/>
          </a:xfrm>
          <a:prstGeom prst="rect">
            <a:avLst/>
          </a:prstGeom>
          <a:solidFill>
            <a:srgbClr val="5E8C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200400"/>
            <a:ext cx="2743200" cy="457200"/>
          </a:xfrm>
          <a:prstGeom prst="rect">
            <a:avLst/>
          </a:prstGeom>
          <a:noFill/>
        </p:spPr>
        <p:txBody>
          <a:bodyPr wrap="square"/>
          <a:lstStyle/>
          <a:p>
            <a:pPr algn="l">
              <a:lnSpc>
                <a:spcPts val="2400"/>
              </a:lnSpc>
              <a:defRPr sz="2000" b="1">
                <a:solidFill>
                  <a:srgbClr val="5E8C5E"/>
                </a:solidFill>
                <a:latin typeface="Calibri"/>
              </a:defRPr>
            </a:pPr>
            <a:r>
              <a:t>Caseload Intelligence</a:t>
            </a:r>
          </a:p>
        </p:txBody>
      </p:sp>
      <p:sp>
        <p:nvSpPr>
          <p:cNvPr id="10" name="TextBox 9"/>
          <p:cNvSpPr txBox="1"/>
          <p:nvPr/>
        </p:nvSpPr>
        <p:spPr>
          <a:xfrm>
            <a:off x="1005840" y="3749040"/>
            <a:ext cx="2743200" cy="1371600"/>
          </a:xfrm>
          <a:prstGeom prst="rect">
            <a:avLst/>
          </a:prstGeom>
          <a:noFill/>
        </p:spPr>
        <p:txBody>
          <a:bodyPr wrap="square"/>
          <a:lstStyle/>
          <a:p>
            <a:pPr algn="l">
              <a:lnSpc>
                <a:spcPts val="1600"/>
              </a:lnSpc>
              <a:defRPr sz="1400" b="0">
                <a:solidFill>
                  <a:srgbClr val="555F6D"/>
                </a:solidFill>
                <a:latin typeface="Calibri"/>
              </a:defRPr>
            </a:pPr>
            <a:r>
              <a:t>ML risk prediction flags at-risk residents before they regress. Causal analysis identifies which factors actually drive successful reintegration. Automated notifications alert staff to forgotten cases.</a:t>
            </a:r>
          </a:p>
        </p:txBody>
      </p:sp>
      <p:sp>
        <p:nvSpPr>
          <p:cNvPr id="11" name="TextBox 10"/>
          <p:cNvSpPr txBox="1"/>
          <p:nvPr/>
        </p:nvSpPr>
        <p:spPr>
          <a:xfrm>
            <a:off x="1005840" y="5029200"/>
            <a:ext cx="2743200" cy="457200"/>
          </a:xfrm>
          <a:prstGeom prst="rect">
            <a:avLst/>
          </a:prstGeom>
          <a:noFill/>
        </p:spPr>
        <p:txBody>
          <a:bodyPr wrap="square"/>
          <a:lstStyle/>
          <a:p>
            <a:pPr algn="l">
              <a:lnSpc>
                <a:spcPts val="1300"/>
              </a:lnSpc>
              <a:defRPr sz="1100" b="0">
                <a:solidFill>
                  <a:srgbClr val="888888"/>
                </a:solidFill>
                <a:latin typeface="Calibri"/>
              </a:defRPr>
            </a:pPr>
            <a:r>
              <a:t>Risk Prediction + Reintegration Causal + Notifications</a:t>
            </a:r>
          </a:p>
        </p:txBody>
      </p:sp>
      <p:sp>
        <p:nvSpPr>
          <p:cNvPr id="12" name="Rounded Rectangle 11"/>
          <p:cNvSpPr/>
          <p:nvPr/>
        </p:nvSpPr>
        <p:spPr>
          <a:xfrm>
            <a:off x="4389120" y="2926080"/>
            <a:ext cx="3291840" cy="2743200"/>
          </a:xfrm>
          <a:prstGeom prst="round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2926080"/>
            <a:ext cx="3291840" cy="54864"/>
          </a:xfrm>
          <a:prstGeom prst="rect">
            <a:avLst/>
          </a:prstGeom>
          <a:solidFill>
            <a:srgbClr val="6AA8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0" y="3200400"/>
            <a:ext cx="2743200" cy="457200"/>
          </a:xfrm>
          <a:prstGeom prst="rect">
            <a:avLst/>
          </a:prstGeom>
          <a:noFill/>
        </p:spPr>
        <p:txBody>
          <a:bodyPr wrap="square"/>
          <a:lstStyle/>
          <a:p>
            <a:pPr algn="l">
              <a:lnSpc>
                <a:spcPts val="2400"/>
              </a:lnSpc>
              <a:defRPr sz="2000" b="1">
                <a:solidFill>
                  <a:srgbClr val="6AA8CB"/>
                </a:solidFill>
                <a:latin typeface="Calibri"/>
              </a:defRPr>
            </a:pPr>
            <a:r>
              <a:t>AI Social Editor</a:t>
            </a:r>
          </a:p>
        </p:txBody>
      </p:sp>
      <p:sp>
        <p:nvSpPr>
          <p:cNvPr id="15" name="TextBox 14"/>
          <p:cNvSpPr txBox="1"/>
          <p:nvPr/>
        </p:nvSpPr>
        <p:spPr>
          <a:xfrm>
            <a:off x="4663440" y="3749040"/>
            <a:ext cx="2743200" cy="1371600"/>
          </a:xfrm>
          <a:prstGeom prst="rect">
            <a:avLst/>
          </a:prstGeom>
          <a:noFill/>
        </p:spPr>
        <p:txBody>
          <a:bodyPr wrap="square"/>
          <a:lstStyle/>
          <a:p>
            <a:pPr algn="l">
              <a:lnSpc>
                <a:spcPts val="1600"/>
              </a:lnSpc>
              <a:defRPr sz="1400" b="0">
                <a:solidFill>
                  <a:srgbClr val="555F6D"/>
                </a:solidFill>
                <a:latin typeface="Calibri"/>
              </a:defRPr>
            </a:pPr>
            <a:r>
              <a:t>AI generates and refines social media posts via interactive chat. ML predicts donations, engagement, and reach in real time. Optimal posting times maximize fundraising. Save drafts, upload media, preview per platform.</a:t>
            </a:r>
          </a:p>
        </p:txBody>
      </p:sp>
      <p:sp>
        <p:nvSpPr>
          <p:cNvPr id="16" name="TextBox 15"/>
          <p:cNvSpPr txBox="1"/>
          <p:nvPr/>
        </p:nvSpPr>
        <p:spPr>
          <a:xfrm>
            <a:off x="4663440" y="5029200"/>
            <a:ext cx="2743200" cy="457200"/>
          </a:xfrm>
          <a:prstGeom prst="rect">
            <a:avLst/>
          </a:prstGeom>
          <a:noFill/>
        </p:spPr>
        <p:txBody>
          <a:bodyPr wrap="square"/>
          <a:lstStyle/>
          <a:p>
            <a:pPr algn="l">
              <a:lnSpc>
                <a:spcPts val="1300"/>
              </a:lnSpc>
              <a:defRPr sz="1100" b="0">
                <a:solidFill>
                  <a:srgbClr val="888888"/>
                </a:solidFill>
                <a:latin typeface="Calibri"/>
              </a:defRPr>
            </a:pPr>
            <a:r>
              <a:t>AI Generation + Referral Predictions + Best Posting Times</a:t>
            </a:r>
          </a:p>
        </p:txBody>
      </p:sp>
      <p:sp>
        <p:nvSpPr>
          <p:cNvPr id="17" name="Rounded Rectangle 16"/>
          <p:cNvSpPr/>
          <p:nvPr/>
        </p:nvSpPr>
        <p:spPr>
          <a:xfrm>
            <a:off x="8046720" y="2926080"/>
            <a:ext cx="3291840" cy="2743200"/>
          </a:xfrm>
          <a:prstGeom prst="round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6720" y="2926080"/>
            <a:ext cx="3291840" cy="54864"/>
          </a:xfrm>
          <a:prstGeom prst="rect">
            <a:avLst/>
          </a:prstGeom>
          <a:solidFill>
            <a:srgbClr val="E6A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1040" y="3200400"/>
            <a:ext cx="2743200" cy="457200"/>
          </a:xfrm>
          <a:prstGeom prst="rect">
            <a:avLst/>
          </a:prstGeom>
          <a:noFill/>
        </p:spPr>
        <p:txBody>
          <a:bodyPr wrap="square"/>
          <a:lstStyle/>
          <a:p>
            <a:pPr algn="l">
              <a:lnSpc>
                <a:spcPts val="2400"/>
              </a:lnSpc>
              <a:defRPr sz="2000" b="1">
                <a:solidFill>
                  <a:srgbClr val="E6A817"/>
                </a:solidFill>
                <a:latin typeface="Calibri"/>
              </a:defRPr>
            </a:pPr>
            <a:r>
              <a:t>Donor Intelligence</a:t>
            </a:r>
          </a:p>
        </p:txBody>
      </p:sp>
      <p:sp>
        <p:nvSpPr>
          <p:cNvPr id="20" name="TextBox 19"/>
          <p:cNvSpPr txBox="1"/>
          <p:nvPr/>
        </p:nvSpPr>
        <p:spPr>
          <a:xfrm>
            <a:off x="8321040" y="3749040"/>
            <a:ext cx="2743200" cy="1371600"/>
          </a:xfrm>
          <a:prstGeom prst="rect">
            <a:avLst/>
          </a:prstGeom>
          <a:noFill/>
        </p:spPr>
        <p:txBody>
          <a:bodyPr wrap="square"/>
          <a:lstStyle/>
          <a:p>
            <a:pPr algn="l">
              <a:lnSpc>
                <a:spcPts val="1600"/>
              </a:lnSpc>
              <a:defRPr sz="1400" b="0">
                <a:solidFill>
                  <a:srgbClr val="555F6D"/>
                </a:solidFill>
                <a:latin typeface="Calibri"/>
              </a:defRPr>
            </a:pPr>
            <a:r>
              <a:t>ML predicts which donors are likely to give again within 6 months, with SHAP-driven reasons explaining each score. Automated alerts flag declining donors so staff can act before they lapse.</a:t>
            </a:r>
          </a:p>
        </p:txBody>
      </p:sp>
      <p:sp>
        <p:nvSpPr>
          <p:cNvPr id="21" name="TextBox 20"/>
          <p:cNvSpPr txBox="1"/>
          <p:nvPr/>
        </p:nvSpPr>
        <p:spPr>
          <a:xfrm>
            <a:off x="8321040" y="5029200"/>
            <a:ext cx="2743200" cy="457200"/>
          </a:xfrm>
          <a:prstGeom prst="rect">
            <a:avLst/>
          </a:prstGeom>
          <a:noFill/>
        </p:spPr>
        <p:txBody>
          <a:bodyPr wrap="square"/>
          <a:lstStyle/>
          <a:p>
            <a:pPr algn="l">
              <a:lnSpc>
                <a:spcPts val="1300"/>
              </a:lnSpc>
              <a:defRPr sz="1100" b="0">
                <a:solidFill>
                  <a:srgbClr val="888888"/>
                </a:solidFill>
                <a:latin typeface="Calibri"/>
              </a:defRPr>
            </a:pPr>
            <a:r>
              <a:t>Donor Likelihood Prediction + Decline Notifications</a:t>
            </a:r>
          </a:p>
        </p:txBody>
      </p:sp>
      <p:sp>
        <p:nvSpPr>
          <p:cNvPr id="22" name="TextBox 21"/>
          <p:cNvSpPr txBox="1"/>
          <p:nvPr/>
        </p:nvSpPr>
        <p:spPr>
          <a:xfrm>
            <a:off x="1371600" y="6035040"/>
            <a:ext cx="9144000" cy="457200"/>
          </a:xfrm>
          <a:prstGeom prst="rect">
            <a:avLst/>
          </a:prstGeom>
          <a:noFill/>
        </p:spPr>
        <p:txBody>
          <a:bodyPr wrap="square"/>
          <a:lstStyle/>
          <a:p>
            <a:pPr algn="ctr">
              <a:lnSpc>
                <a:spcPts val="2400"/>
              </a:lnSpc>
              <a:defRPr sz="2000" b="1">
                <a:solidFill>
                  <a:srgbClr val="2D3A4A"/>
                </a:solidFill>
                <a:latin typeface="Calibri Light"/>
              </a:defRPr>
            </a:pPr>
            <a:r>
              <a:t>Let us show you.</a:t>
            </a:r>
          </a:p>
        </p:txBody>
      </p:sp>
      <p:sp>
        <p:nvSpPr>
          <p:cNvPr id="23" name="TextBox 22"/>
          <p:cNvSpPr txBox="1"/>
          <p:nvPr/>
        </p:nvSpPr>
        <p:spPr>
          <a:xfrm>
            <a:off x="11155680" y="6446520"/>
            <a:ext cx="914400" cy="365760"/>
          </a:xfrm>
          <a:prstGeom prst="rect">
            <a:avLst/>
          </a:prstGeom>
          <a:noFill/>
        </p:spPr>
        <p:txBody>
          <a:bodyPr wrap="square"/>
          <a:lstStyle/>
          <a:p>
            <a:pPr algn="r">
              <a:lnSpc>
                <a:spcPts val="1200"/>
              </a:lnSpc>
              <a:defRPr sz="1000" b="0">
                <a:solidFill>
                  <a:srgbClr val="888888"/>
                </a:solidFill>
                <a:latin typeface="Calibri"/>
              </a:defRPr>
            </a:pPr>
            <a: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2743200" cy="457200"/>
          </a:xfrm>
          <a:prstGeom prst="rect">
            <a:avLst/>
          </a:prstGeom>
          <a:noFill/>
        </p:spPr>
        <p:txBody>
          <a:bodyPr wrap="square"/>
          <a:lstStyle/>
          <a:p>
            <a:pPr algn="l">
              <a:lnSpc>
                <a:spcPts val="1600"/>
              </a:lnSpc>
              <a:defRPr sz="1400" b="1">
                <a:solidFill>
                  <a:srgbClr val="2D3A4A"/>
                </a:solidFill>
                <a:latin typeface="Calibri"/>
              </a:defRPr>
            </a:pPr>
            <a:r>
              <a:t>LIVE DEMO</a:t>
            </a:r>
          </a:p>
        </p:txBody>
      </p:sp>
      <p:sp>
        <p:nvSpPr>
          <p:cNvPr id="4" name="TextBox 3"/>
          <p:cNvSpPr txBox="1"/>
          <p:nvPr/>
        </p:nvSpPr>
        <p:spPr>
          <a:xfrm>
            <a:off x="7772400" y="274320"/>
            <a:ext cx="4114800" cy="457200"/>
          </a:xfrm>
          <a:prstGeom prst="rect">
            <a:avLst/>
          </a:prstGeom>
          <a:noFill/>
        </p:spPr>
        <p:txBody>
          <a:bodyPr wrap="square"/>
          <a:lstStyle/>
          <a:p>
            <a:pPr algn="r">
              <a:lnSpc>
                <a:spcPts val="1600"/>
              </a:lnSpc>
              <a:defRPr sz="1400" b="0">
                <a:solidFill>
                  <a:srgbClr val="6AA8CB"/>
                </a:solidFill>
                <a:latin typeface="Calibri"/>
              </a:defRPr>
            </a:pPr>
            <a:r>
              <a:t>new-dawn-virid.vercel.app</a:t>
            </a:r>
          </a:p>
        </p:txBody>
      </p:sp>
      <p:sp>
        <p:nvSpPr>
          <p:cNvPr id="5" name="Rounded Rectangle 4"/>
          <p:cNvSpPr/>
          <p:nvPr/>
        </p:nvSpPr>
        <p:spPr>
          <a:xfrm>
            <a:off x="457200" y="822960"/>
            <a:ext cx="3520440" cy="5760720"/>
          </a:xfrm>
          <a:prstGeom prst="round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005840"/>
            <a:ext cx="3017520" cy="320040"/>
          </a:xfrm>
          <a:prstGeom prst="rect">
            <a:avLst/>
          </a:prstGeom>
          <a:noFill/>
        </p:spPr>
        <p:txBody>
          <a:bodyPr wrap="square"/>
          <a:lstStyle/>
          <a:p>
            <a:pPr algn="l">
              <a:lnSpc>
                <a:spcPts val="1400"/>
              </a:lnSpc>
              <a:defRPr sz="1200" b="1">
                <a:solidFill>
                  <a:srgbClr val="2D3A4A"/>
                </a:solidFill>
                <a:latin typeface="Calibri"/>
              </a:defRPr>
            </a:pPr>
            <a:r>
              <a:t>PUBLIC EXPERIENCE</a:t>
            </a:r>
          </a:p>
        </p:txBody>
      </p:sp>
      <p:sp>
        <p:nvSpPr>
          <p:cNvPr id="7" name="TextBox 6"/>
          <p:cNvSpPr txBox="1"/>
          <p:nvPr/>
        </p:nvSpPr>
        <p:spPr>
          <a:xfrm>
            <a:off x="685800" y="1371600"/>
            <a:ext cx="3108960" cy="2377440"/>
          </a:xfrm>
          <a:prstGeom prst="rect">
            <a:avLst/>
          </a:prstGeom>
          <a:noFill/>
        </p:spPr>
        <p:txBody>
          <a:bodyPr wrap="square">
            <a:spAutoFit/>
          </a:bodyPr>
          <a:lstStyle/>
          <a:p>
            <a:pPr>
              <a:lnSpc>
                <a:spcPts val="1900"/>
              </a:lnSpc>
            </a:pPr>
            <a:r>
              <a:rPr sz="1200" b="1">
                <a:solidFill>
                  <a:srgbClr val="2D3A4A"/>
                </a:solidFill>
                <a:latin typeface="Calibri"/>
              </a:rPr>
              <a:t>1. </a:t>
            </a:r>
            <a:r>
              <a:rPr sz="1200" b="0">
                <a:solidFill>
                  <a:srgbClr val="555F6D"/>
                </a:solidFill>
                <a:latin typeface="Calibri"/>
              </a:rPr>
              <a:t>Landing page -- mission, three pillars (Caring, Healing, Teaching), live stats</a:t>
            </a:r>
          </a:p>
          <a:p>
            <a:pPr>
              <a:lnSpc>
                <a:spcPts val="1900"/>
              </a:lnSpc>
            </a:pPr>
            <a:r>
              <a:rPr sz="1200" b="1">
                <a:solidFill>
                  <a:srgbClr val="2D3A4A"/>
                </a:solidFill>
                <a:latin typeface="Calibri"/>
              </a:rPr>
              <a:t>2. </a:t>
            </a:r>
            <a:r>
              <a:rPr sz="1200" b="0">
                <a:solidFill>
                  <a:srgbClr val="555F6D"/>
                </a:solidFill>
                <a:latin typeface="Calibri"/>
              </a:rPr>
              <a:t>Impact Dashboard -- charts: residents served, program outcomes, donation impact</a:t>
            </a:r>
          </a:p>
          <a:p>
            <a:pPr>
              <a:lnSpc>
                <a:spcPts val="1900"/>
              </a:lnSpc>
            </a:pPr>
            <a:r>
              <a:rPr sz="1200" b="1">
                <a:solidFill>
                  <a:srgbClr val="2D3A4A"/>
                </a:solidFill>
                <a:latin typeface="Calibri"/>
              </a:rPr>
              <a:t>3. </a:t>
            </a:r>
            <a:r>
              <a:rPr sz="1200" b="0">
                <a:solidFill>
                  <a:srgbClr val="555F6D"/>
                </a:solidFill>
                <a:latin typeface="Calibri"/>
              </a:rPr>
              <a:t>Donate page -- four tiers with impact messaging</a:t>
            </a:r>
          </a:p>
          <a:p>
            <a:pPr>
              <a:lnSpc>
                <a:spcPts val="1900"/>
              </a:lnSpc>
            </a:pPr>
            <a:r>
              <a:rPr sz="1200" b="1">
                <a:solidFill>
                  <a:srgbClr val="2D3A4A"/>
                </a:solidFill>
                <a:latin typeface="Calibri"/>
              </a:rPr>
              <a:t>4. </a:t>
            </a:r>
            <a:r>
              <a:rPr sz="1200" b="0">
                <a:solidFill>
                  <a:srgbClr val="555F6D"/>
                </a:solidFill>
                <a:latin typeface="Calibri"/>
              </a:rPr>
              <a:t>Dark/light mode toggle (stored in browser cookie)</a:t>
            </a:r>
          </a:p>
          <a:p>
            <a:pPr>
              <a:lnSpc>
                <a:spcPts val="1900"/>
              </a:lnSpc>
            </a:pPr>
            <a:r>
              <a:rPr sz="1200" b="1">
                <a:solidFill>
                  <a:srgbClr val="2D3A4A"/>
                </a:solidFill>
                <a:latin typeface="Calibri"/>
              </a:rPr>
              <a:t>5. </a:t>
            </a:r>
            <a:r>
              <a:rPr sz="1200" b="0">
                <a:solidFill>
                  <a:srgbClr val="555F6D"/>
                </a:solidFill>
                <a:latin typeface="Calibri"/>
              </a:rPr>
              <a:t>Privacy policy + GDPR cookie consent banner</a:t>
            </a:r>
          </a:p>
        </p:txBody>
      </p:sp>
      <p:sp>
        <p:nvSpPr>
          <p:cNvPr id="8" name="Rectangle 7"/>
          <p:cNvSpPr/>
          <p:nvPr/>
        </p:nvSpPr>
        <p:spPr>
          <a:xfrm>
            <a:off x="685800" y="3749040"/>
            <a:ext cx="3017520" cy="127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931920"/>
            <a:ext cx="3017520" cy="320040"/>
          </a:xfrm>
          <a:prstGeom prst="rect">
            <a:avLst/>
          </a:prstGeom>
          <a:noFill/>
        </p:spPr>
        <p:txBody>
          <a:bodyPr wrap="square"/>
          <a:lstStyle/>
          <a:p>
            <a:pPr algn="l">
              <a:lnSpc>
                <a:spcPts val="1400"/>
              </a:lnSpc>
              <a:defRPr sz="1200" b="1">
                <a:solidFill>
                  <a:srgbClr val="2D3A4A"/>
                </a:solidFill>
                <a:latin typeface="Calibri"/>
              </a:defRPr>
            </a:pPr>
            <a:r>
              <a:t>AUTH &amp; ADMIN</a:t>
            </a:r>
          </a:p>
        </p:txBody>
      </p:sp>
      <p:sp>
        <p:nvSpPr>
          <p:cNvPr id="10" name="TextBox 9"/>
          <p:cNvSpPr txBox="1"/>
          <p:nvPr/>
        </p:nvSpPr>
        <p:spPr>
          <a:xfrm>
            <a:off x="685800" y="4297680"/>
            <a:ext cx="3108960" cy="2103120"/>
          </a:xfrm>
          <a:prstGeom prst="rect">
            <a:avLst/>
          </a:prstGeom>
          <a:noFill/>
        </p:spPr>
        <p:txBody>
          <a:bodyPr wrap="square">
            <a:spAutoFit/>
          </a:bodyPr>
          <a:lstStyle/>
          <a:p>
            <a:pPr>
              <a:lnSpc>
                <a:spcPts val="1900"/>
              </a:lnSpc>
            </a:pPr>
            <a:r>
              <a:rPr sz="1200" b="1">
                <a:solidFill>
                  <a:srgbClr val="2D3A4A"/>
                </a:solidFill>
                <a:latin typeface="Calibri"/>
              </a:rPr>
              <a:t>1. </a:t>
            </a:r>
            <a:r>
              <a:rPr sz="1200" b="0">
                <a:solidFill>
                  <a:srgbClr val="555F6D"/>
                </a:solidFill>
                <a:latin typeface="Calibri"/>
              </a:rPr>
              <a:t>Login with Google OAuth; show MFA setup in profile</a:t>
            </a:r>
          </a:p>
          <a:p>
            <a:pPr>
              <a:lnSpc>
                <a:spcPts val="1900"/>
              </a:lnSpc>
            </a:pPr>
            <a:r>
              <a:rPr sz="1200" b="1">
                <a:solidFill>
                  <a:srgbClr val="2D3A4A"/>
                </a:solidFill>
                <a:latin typeface="Calibri"/>
              </a:rPr>
              <a:t>2. </a:t>
            </a:r>
            <a:r>
              <a:rPr sz="1200" b="0">
                <a:solidFill>
                  <a:srgbClr val="555F6D"/>
                </a:solidFill>
                <a:latin typeface="Calibri"/>
              </a:rPr>
              <a:t>Admin Dashboard -- residents, donations, OKR metric, reintegration insights</a:t>
            </a:r>
          </a:p>
          <a:p>
            <a:pPr>
              <a:lnSpc>
                <a:spcPts val="1900"/>
              </a:lnSpc>
            </a:pPr>
            <a:r>
              <a:rPr sz="1200" b="1">
                <a:solidFill>
                  <a:srgbClr val="2D3A4A"/>
                </a:solidFill>
                <a:latin typeface="Calibri"/>
              </a:rPr>
              <a:t>3. </a:t>
            </a:r>
            <a:r>
              <a:rPr sz="1200" b="0">
                <a:solidFill>
                  <a:srgbClr val="555F6D"/>
                </a:solidFill>
                <a:latin typeface="Calibri"/>
              </a:rPr>
              <a:t>Notification bell -- alerts for at-risk donors, forgotten cases, milestones</a:t>
            </a:r>
          </a:p>
          <a:p>
            <a:pPr>
              <a:lnSpc>
                <a:spcPts val="1900"/>
              </a:lnSpc>
            </a:pPr>
            <a:r>
              <a:rPr sz="1200" b="1">
                <a:solidFill>
                  <a:srgbClr val="2D3A4A"/>
                </a:solidFill>
                <a:latin typeface="Calibri"/>
              </a:rPr>
              <a:t>4. </a:t>
            </a:r>
            <a:r>
              <a:rPr sz="1200" b="0">
                <a:solidFill>
                  <a:srgbClr val="555F6D"/>
                </a:solidFill>
                <a:latin typeface="Calibri"/>
              </a:rPr>
              <a:t>Role-based access, delete confirmations, pagination on every list</a:t>
            </a:r>
          </a:p>
        </p:txBody>
      </p:sp>
      <p:sp>
        <p:nvSpPr>
          <p:cNvPr id="11" name="Rounded Rectangle 10"/>
          <p:cNvSpPr/>
          <p:nvPr/>
        </p:nvSpPr>
        <p:spPr>
          <a:xfrm>
            <a:off x="4206240" y="822960"/>
            <a:ext cx="3520440" cy="5760720"/>
          </a:xfrm>
          <a:prstGeom prst="round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005840"/>
            <a:ext cx="3017520" cy="320040"/>
          </a:xfrm>
          <a:prstGeom prst="rect">
            <a:avLst/>
          </a:prstGeom>
          <a:noFill/>
        </p:spPr>
        <p:txBody>
          <a:bodyPr wrap="square"/>
          <a:lstStyle/>
          <a:p>
            <a:pPr algn="l">
              <a:lnSpc>
                <a:spcPts val="1400"/>
              </a:lnSpc>
              <a:defRPr sz="1200" b="1">
                <a:solidFill>
                  <a:srgbClr val="5E8C5E"/>
                </a:solidFill>
                <a:latin typeface="Calibri"/>
              </a:defRPr>
            </a:pPr>
            <a:r>
              <a:t>CASELOAD INTELLIGENCE</a:t>
            </a:r>
          </a:p>
        </p:txBody>
      </p:sp>
      <p:sp>
        <p:nvSpPr>
          <p:cNvPr id="13" name="TextBox 12"/>
          <p:cNvSpPr txBox="1"/>
          <p:nvPr/>
        </p:nvSpPr>
        <p:spPr>
          <a:xfrm>
            <a:off x="4434840" y="1371600"/>
            <a:ext cx="3108960" cy="2377440"/>
          </a:xfrm>
          <a:prstGeom prst="rect">
            <a:avLst/>
          </a:prstGeom>
          <a:noFill/>
        </p:spPr>
        <p:txBody>
          <a:bodyPr wrap="square">
            <a:spAutoFit/>
          </a:bodyPr>
          <a:lstStyle/>
          <a:p>
            <a:pPr>
              <a:lnSpc>
                <a:spcPts val="1900"/>
              </a:lnSpc>
            </a:pPr>
            <a:r>
              <a:rPr sz="1200" b="1">
                <a:solidFill>
                  <a:srgbClr val="5E8C5E"/>
                </a:solidFill>
                <a:latin typeface="Calibri"/>
              </a:rPr>
              <a:t>1. </a:t>
            </a:r>
            <a:r>
              <a:rPr sz="1200" b="0">
                <a:solidFill>
                  <a:srgbClr val="555F6D"/>
                </a:solidFill>
                <a:latin typeface="Calibri"/>
              </a:rPr>
              <a:t>Residents list -- filters by status, safehouse, risk. Show ML risk arrows</a:t>
            </a:r>
          </a:p>
          <a:p>
            <a:pPr>
              <a:lnSpc>
                <a:spcPts val="1900"/>
              </a:lnSpc>
            </a:pPr>
            <a:r>
              <a:rPr sz="1200" b="1">
                <a:solidFill>
                  <a:srgbClr val="5E8C5E"/>
                </a:solidFill>
                <a:latin typeface="Calibri"/>
              </a:rPr>
              <a:t>2. </a:t>
            </a:r>
            <a:r>
              <a:rPr sz="1200" b="0">
                <a:solidFill>
                  <a:srgbClr val="555F6D"/>
                </a:solidFill>
                <a:latin typeface="Calibri"/>
              </a:rPr>
              <a:t>Click a resident -- full profile, demographics, case info, disability data</a:t>
            </a:r>
          </a:p>
          <a:p>
            <a:pPr>
              <a:lnSpc>
                <a:spcPts val="1900"/>
              </a:lnSpc>
            </a:pPr>
            <a:r>
              <a:rPr sz="1200" b="1">
                <a:solidFill>
                  <a:srgbClr val="5E8C5E"/>
                </a:solidFill>
                <a:latin typeface="Calibri"/>
              </a:rPr>
              <a:t>3. </a:t>
            </a:r>
            <a:r>
              <a:rPr sz="1200" b="0">
                <a:solidFill>
                  <a:srgbClr val="555F6D"/>
                </a:solidFill>
                <a:latin typeface="Calibri"/>
              </a:rPr>
              <a:t>ML Risk Assessment card -- predicted risk + confidence + top SHAP factors</a:t>
            </a:r>
          </a:p>
          <a:p>
            <a:pPr>
              <a:lnSpc>
                <a:spcPts val="1900"/>
              </a:lnSpc>
            </a:pPr>
            <a:r>
              <a:rPr sz="1200" b="1">
                <a:solidFill>
                  <a:srgbClr val="5E8C5E"/>
                </a:solidFill>
                <a:latin typeface="Calibri"/>
              </a:rPr>
              <a:t>4. </a:t>
            </a:r>
            <a:r>
              <a:rPr sz="1200" b="0">
                <a:solidFill>
                  <a:srgbClr val="555F6D"/>
                </a:solidFill>
                <a:latin typeface="Calibri"/>
              </a:rPr>
              <a:t>Reintegration Insights -- causal factors from logistic regression</a:t>
            </a:r>
          </a:p>
          <a:p>
            <a:pPr>
              <a:lnSpc>
                <a:spcPts val="1900"/>
              </a:lnSpc>
            </a:pPr>
            <a:r>
              <a:rPr sz="1200" b="1">
                <a:solidFill>
                  <a:srgbClr val="5E8C5E"/>
                </a:solidFill>
                <a:latin typeface="Calibri"/>
              </a:rPr>
              <a:t>5. </a:t>
            </a:r>
            <a:r>
              <a:rPr sz="1200" b="0">
                <a:solidFill>
                  <a:srgbClr val="555F6D"/>
                </a:solidFill>
                <a:latin typeface="Calibri"/>
              </a:rPr>
              <a:t>Process recordings, education, health, interventions, incidents (show 1-2)</a:t>
            </a:r>
          </a:p>
        </p:txBody>
      </p:sp>
      <p:sp>
        <p:nvSpPr>
          <p:cNvPr id="14" name="Rectangle 13"/>
          <p:cNvSpPr/>
          <p:nvPr/>
        </p:nvSpPr>
        <p:spPr>
          <a:xfrm>
            <a:off x="4434840" y="3749040"/>
            <a:ext cx="3017520" cy="127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3931920"/>
            <a:ext cx="3017520" cy="320040"/>
          </a:xfrm>
          <a:prstGeom prst="rect">
            <a:avLst/>
          </a:prstGeom>
          <a:noFill/>
        </p:spPr>
        <p:txBody>
          <a:bodyPr wrap="square"/>
          <a:lstStyle/>
          <a:p>
            <a:pPr algn="l">
              <a:lnSpc>
                <a:spcPts val="1400"/>
              </a:lnSpc>
              <a:defRPr sz="1200" b="1">
                <a:solidFill>
                  <a:srgbClr val="E6A817"/>
                </a:solidFill>
                <a:latin typeface="Calibri"/>
              </a:defRPr>
            </a:pPr>
            <a:r>
              <a:t>DONOR INTELLIGENCE</a:t>
            </a:r>
          </a:p>
        </p:txBody>
      </p:sp>
      <p:sp>
        <p:nvSpPr>
          <p:cNvPr id="16" name="TextBox 15"/>
          <p:cNvSpPr txBox="1"/>
          <p:nvPr/>
        </p:nvSpPr>
        <p:spPr>
          <a:xfrm>
            <a:off x="4434840" y="4297680"/>
            <a:ext cx="3108960" cy="2103120"/>
          </a:xfrm>
          <a:prstGeom prst="rect">
            <a:avLst/>
          </a:prstGeom>
          <a:noFill/>
        </p:spPr>
        <p:txBody>
          <a:bodyPr wrap="square">
            <a:spAutoFit/>
          </a:bodyPr>
          <a:lstStyle/>
          <a:p>
            <a:pPr>
              <a:lnSpc>
                <a:spcPts val="1900"/>
              </a:lnSpc>
            </a:pPr>
            <a:r>
              <a:rPr sz="1200" b="1">
                <a:solidFill>
                  <a:srgbClr val="E6A817"/>
                </a:solidFill>
                <a:latin typeface="Calibri"/>
              </a:rPr>
              <a:t>1. </a:t>
            </a:r>
            <a:r>
              <a:rPr sz="1200" b="0">
                <a:solidFill>
                  <a:srgbClr val="555F6D"/>
                </a:solidFill>
                <a:latin typeface="Calibri"/>
              </a:rPr>
              <a:t>Supporters list with ML likelihood badges (High/Med/Low)</a:t>
            </a:r>
          </a:p>
          <a:p>
            <a:pPr>
              <a:lnSpc>
                <a:spcPts val="1900"/>
              </a:lnSpc>
            </a:pPr>
            <a:r>
              <a:rPr sz="1200" b="1">
                <a:solidFill>
                  <a:srgbClr val="E6A817"/>
                </a:solidFill>
                <a:latin typeface="Calibri"/>
              </a:rPr>
              <a:t>2. </a:t>
            </a:r>
            <a:r>
              <a:rPr sz="1200" b="0">
                <a:solidFill>
                  <a:srgbClr val="555F6D"/>
                </a:solidFill>
                <a:latin typeface="Calibri"/>
              </a:rPr>
              <a:t>SHAP reasons in plain language explain each prediction</a:t>
            </a:r>
          </a:p>
          <a:p>
            <a:pPr>
              <a:lnSpc>
                <a:spcPts val="1900"/>
              </a:lnSpc>
            </a:pPr>
            <a:r>
              <a:rPr sz="1200" b="1">
                <a:solidFill>
                  <a:srgbClr val="E6A817"/>
                </a:solidFill>
                <a:latin typeface="Calibri"/>
              </a:rPr>
              <a:t>3. </a:t>
            </a:r>
            <a:r>
              <a:rPr sz="1200" b="0">
                <a:solidFill>
                  <a:srgbClr val="555F6D"/>
                </a:solidFill>
                <a:latin typeface="Calibri"/>
              </a:rPr>
              <a:t>Sort by likelihood to prioritize at-risk donor outreach</a:t>
            </a:r>
          </a:p>
          <a:p>
            <a:pPr>
              <a:lnSpc>
                <a:spcPts val="1900"/>
              </a:lnSpc>
            </a:pPr>
            <a:r>
              <a:rPr sz="1200" b="1">
                <a:solidFill>
                  <a:srgbClr val="E6A817"/>
                </a:solidFill>
                <a:latin typeface="Calibri"/>
              </a:rPr>
              <a:t>4. </a:t>
            </a:r>
            <a:r>
              <a:rPr sz="1200" b="0">
                <a:solidFill>
                  <a:srgbClr val="555F6D"/>
                </a:solidFill>
                <a:latin typeface="Calibri"/>
              </a:rPr>
              <a:t>Donor detail -- history, lifetime value, frequency, avg gift</a:t>
            </a:r>
          </a:p>
          <a:p>
            <a:pPr>
              <a:lnSpc>
                <a:spcPts val="1900"/>
              </a:lnSpc>
            </a:pPr>
            <a:r>
              <a:rPr sz="1200" b="1">
                <a:solidFill>
                  <a:srgbClr val="E6A817"/>
                </a:solidFill>
                <a:latin typeface="Calibri"/>
              </a:rPr>
              <a:t>5. </a:t>
            </a:r>
            <a:r>
              <a:rPr sz="1200" b="0">
                <a:solidFill>
                  <a:srgbClr val="555F6D"/>
                </a:solidFill>
                <a:latin typeface="Calibri"/>
              </a:rPr>
              <a:t>Allocations -- where each dollar goes by safehouse/program</a:t>
            </a:r>
          </a:p>
        </p:txBody>
      </p:sp>
      <p:sp>
        <p:nvSpPr>
          <p:cNvPr id="17" name="Rounded Rectangle 16"/>
          <p:cNvSpPr/>
          <p:nvPr/>
        </p:nvSpPr>
        <p:spPr>
          <a:xfrm>
            <a:off x="7955280" y="822960"/>
            <a:ext cx="3520440" cy="5760720"/>
          </a:xfrm>
          <a:prstGeom prst="round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149840" y="960120"/>
            <a:ext cx="1097280" cy="274320"/>
          </a:xfrm>
          <a:prstGeom prst="rect">
            <a:avLst/>
          </a:prstGeom>
          <a:solidFill>
            <a:srgbClr val="E6A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95560" y="978408"/>
            <a:ext cx="1005840" cy="228600"/>
          </a:xfrm>
          <a:prstGeom prst="rect">
            <a:avLst/>
          </a:prstGeom>
          <a:noFill/>
        </p:spPr>
        <p:txBody>
          <a:bodyPr wrap="square"/>
          <a:lstStyle/>
          <a:p>
            <a:pPr algn="l">
              <a:lnSpc>
                <a:spcPts val="1200"/>
              </a:lnSpc>
              <a:defRPr sz="1000" b="1">
                <a:solidFill>
                  <a:srgbClr val="FFFFFF"/>
                </a:solidFill>
                <a:latin typeface="Calibri"/>
              </a:defRPr>
            </a:pPr>
            <a:r>
              <a:t>HIGHLIGHT</a:t>
            </a:r>
          </a:p>
        </p:txBody>
      </p:sp>
      <p:sp>
        <p:nvSpPr>
          <p:cNvPr id="20" name="TextBox 19"/>
          <p:cNvSpPr txBox="1"/>
          <p:nvPr/>
        </p:nvSpPr>
        <p:spPr>
          <a:xfrm>
            <a:off x="8183880" y="1005840"/>
            <a:ext cx="2011680" cy="320040"/>
          </a:xfrm>
          <a:prstGeom prst="rect">
            <a:avLst/>
          </a:prstGeom>
          <a:noFill/>
        </p:spPr>
        <p:txBody>
          <a:bodyPr wrap="square"/>
          <a:lstStyle/>
          <a:p>
            <a:pPr algn="l">
              <a:lnSpc>
                <a:spcPts val="1400"/>
              </a:lnSpc>
              <a:defRPr sz="1200" b="1">
                <a:solidFill>
                  <a:srgbClr val="6AA8CB"/>
                </a:solidFill>
                <a:latin typeface="Calibri"/>
              </a:defRPr>
            </a:pPr>
            <a:r>
              <a:t>AI SOCIAL EDITOR</a:t>
            </a:r>
          </a:p>
        </p:txBody>
      </p:sp>
      <p:sp>
        <p:nvSpPr>
          <p:cNvPr id="21" name="TextBox 20"/>
          <p:cNvSpPr txBox="1"/>
          <p:nvPr/>
        </p:nvSpPr>
        <p:spPr>
          <a:xfrm>
            <a:off x="8183880" y="1371600"/>
            <a:ext cx="3108960" cy="2377440"/>
          </a:xfrm>
          <a:prstGeom prst="rect">
            <a:avLst/>
          </a:prstGeom>
          <a:noFill/>
        </p:spPr>
        <p:txBody>
          <a:bodyPr wrap="square">
            <a:spAutoFit/>
          </a:bodyPr>
          <a:lstStyle/>
          <a:p>
            <a:pPr>
              <a:lnSpc>
                <a:spcPts val="1900"/>
              </a:lnSpc>
            </a:pPr>
            <a:r>
              <a:rPr sz="1200" b="1">
                <a:solidFill>
                  <a:srgbClr val="6AA8CB"/>
                </a:solidFill>
                <a:latin typeface="Calibri"/>
              </a:rPr>
              <a:t>1. </a:t>
            </a:r>
            <a:r>
              <a:rPr sz="1200" b="0">
                <a:solidFill>
                  <a:srgbClr val="555F6D"/>
                </a:solidFill>
                <a:latin typeface="Calibri"/>
              </a:rPr>
              <a:t>Fill out a brief (platform, topic, CTA, tone) then AI generates the post</a:t>
            </a:r>
          </a:p>
          <a:p>
            <a:pPr>
              <a:lnSpc>
                <a:spcPts val="1900"/>
              </a:lnSpc>
            </a:pPr>
            <a:r>
              <a:rPr sz="1200" b="1">
                <a:solidFill>
                  <a:srgbClr val="6AA8CB"/>
                </a:solidFill>
                <a:latin typeface="Calibri"/>
              </a:rPr>
              <a:t>2. </a:t>
            </a:r>
            <a:r>
              <a:rPr sz="1200" b="0">
                <a:solidFill>
                  <a:srgbClr val="555F6D"/>
                </a:solidFill>
                <a:latin typeface="Calibri"/>
              </a:rPr>
              <a:t>Refine via AI chat -- ask it to adjust tone, add hashtags, etc.</a:t>
            </a:r>
          </a:p>
          <a:p>
            <a:pPr>
              <a:lnSpc>
                <a:spcPts val="1900"/>
              </a:lnSpc>
            </a:pPr>
            <a:r>
              <a:rPr sz="1200" b="1">
                <a:solidFill>
                  <a:srgbClr val="6AA8CB"/>
                </a:solidFill>
                <a:latin typeface="Calibri"/>
              </a:rPr>
              <a:t>3. </a:t>
            </a:r>
            <a:r>
              <a:rPr sz="1200" b="0">
                <a:solidFill>
                  <a:srgbClr val="555F6D"/>
                </a:solidFill>
                <a:latin typeface="Calibri"/>
              </a:rPr>
              <a:t>Upload media and see platform-specific previews (IG Reel, TikTok, etc.)</a:t>
            </a:r>
          </a:p>
          <a:p>
            <a:pPr>
              <a:lnSpc>
                <a:spcPts val="1900"/>
              </a:lnSpc>
            </a:pPr>
            <a:r>
              <a:rPr sz="1200" b="1">
                <a:solidFill>
                  <a:srgbClr val="6AA8CB"/>
                </a:solidFill>
                <a:latin typeface="Calibri"/>
              </a:rPr>
              <a:t>4. </a:t>
            </a:r>
            <a:r>
              <a:rPr sz="1200" b="0">
                <a:solidFill>
                  <a:srgbClr val="555F6D"/>
                </a:solidFill>
                <a:latin typeface="Calibri"/>
              </a:rPr>
              <a:t>Predict Performance: 6 ML metrics update (referrals, value, engagement...)</a:t>
            </a:r>
          </a:p>
          <a:p>
            <a:pPr>
              <a:lnSpc>
                <a:spcPts val="1900"/>
              </a:lnSpc>
            </a:pPr>
            <a:r>
              <a:rPr sz="1200" b="1">
                <a:solidFill>
                  <a:srgbClr val="6AA8CB"/>
                </a:solidFill>
                <a:latin typeface="Calibri"/>
              </a:rPr>
              <a:t>5. </a:t>
            </a:r>
            <a:r>
              <a:rPr sz="1200" b="0">
                <a:solidFill>
                  <a:srgbClr val="555F6D"/>
                </a:solidFill>
                <a:latin typeface="Calibri"/>
              </a:rPr>
              <a:t>Suggest Times: ML-ranked optimal day/hour slots, click to schedule</a:t>
            </a:r>
          </a:p>
        </p:txBody>
      </p:sp>
      <p:sp>
        <p:nvSpPr>
          <p:cNvPr id="22" name="Rectangle 21"/>
          <p:cNvSpPr/>
          <p:nvPr/>
        </p:nvSpPr>
        <p:spPr>
          <a:xfrm>
            <a:off x="8183880" y="3749040"/>
            <a:ext cx="3017520" cy="127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83880" y="3931920"/>
            <a:ext cx="3017520" cy="320040"/>
          </a:xfrm>
          <a:prstGeom prst="rect">
            <a:avLst/>
          </a:prstGeom>
          <a:noFill/>
        </p:spPr>
        <p:txBody>
          <a:bodyPr wrap="square"/>
          <a:lstStyle/>
          <a:p>
            <a:pPr algn="l">
              <a:lnSpc>
                <a:spcPts val="1400"/>
              </a:lnSpc>
              <a:defRPr sz="1200" b="1">
                <a:solidFill>
                  <a:srgbClr val="2D3A4A"/>
                </a:solidFill>
                <a:latin typeface="Calibri"/>
              </a:defRPr>
            </a:pPr>
            <a:r>
              <a:t>REPORTS &amp; ANALYTICS</a:t>
            </a:r>
          </a:p>
        </p:txBody>
      </p:sp>
      <p:sp>
        <p:nvSpPr>
          <p:cNvPr id="24" name="TextBox 23"/>
          <p:cNvSpPr txBox="1"/>
          <p:nvPr/>
        </p:nvSpPr>
        <p:spPr>
          <a:xfrm>
            <a:off x="8183880" y="4297680"/>
            <a:ext cx="3108960" cy="2103120"/>
          </a:xfrm>
          <a:prstGeom prst="rect">
            <a:avLst/>
          </a:prstGeom>
          <a:noFill/>
        </p:spPr>
        <p:txBody>
          <a:bodyPr wrap="square">
            <a:spAutoFit/>
          </a:bodyPr>
          <a:lstStyle/>
          <a:p>
            <a:pPr>
              <a:lnSpc>
                <a:spcPts val="1900"/>
              </a:lnSpc>
            </a:pPr>
            <a:r>
              <a:rPr sz="1200" b="1">
                <a:solidFill>
                  <a:srgbClr val="2D3A4A"/>
                </a:solidFill>
                <a:latin typeface="Calibri"/>
              </a:rPr>
              <a:t>1. </a:t>
            </a:r>
            <a:r>
              <a:rPr sz="1200" b="0">
                <a:solidFill>
                  <a:srgbClr val="555F6D"/>
                </a:solidFill>
                <a:latin typeface="Calibri"/>
              </a:rPr>
              <a:t>Donation trends (monthly totals + counts over time)</a:t>
            </a:r>
          </a:p>
          <a:p>
            <a:pPr>
              <a:lnSpc>
                <a:spcPts val="1900"/>
              </a:lnSpc>
            </a:pPr>
            <a:r>
              <a:rPr sz="1200" b="1">
                <a:solidFill>
                  <a:srgbClr val="2D3A4A"/>
                </a:solidFill>
                <a:latin typeface="Calibri"/>
              </a:rPr>
              <a:t>2. </a:t>
            </a:r>
            <a:r>
              <a:rPr sz="1200" b="0">
                <a:solidFill>
                  <a:srgbClr val="555F6D"/>
                </a:solidFill>
                <a:latin typeface="Calibri"/>
              </a:rPr>
              <a:t>Education progress &amp; health trends by safehouse</a:t>
            </a:r>
          </a:p>
          <a:p>
            <a:pPr>
              <a:lnSpc>
                <a:spcPts val="1900"/>
              </a:lnSpc>
            </a:pPr>
            <a:r>
              <a:rPr sz="1200" b="1">
                <a:solidFill>
                  <a:srgbClr val="2D3A4A"/>
                </a:solidFill>
                <a:latin typeface="Calibri"/>
              </a:rPr>
              <a:t>3. </a:t>
            </a:r>
            <a:r>
              <a:rPr sz="1200" b="0">
                <a:solidFill>
                  <a:srgbClr val="555F6D"/>
                </a:solidFill>
                <a:latin typeface="Calibri"/>
              </a:rPr>
              <a:t>Reintegration success rates per safehouse</a:t>
            </a:r>
          </a:p>
          <a:p>
            <a:pPr>
              <a:lnSpc>
                <a:spcPts val="1900"/>
              </a:lnSpc>
            </a:pPr>
            <a:r>
              <a:rPr sz="1200" b="1">
                <a:solidFill>
                  <a:srgbClr val="2D3A4A"/>
                </a:solidFill>
                <a:latin typeface="Calibri"/>
              </a:rPr>
              <a:t>4. </a:t>
            </a:r>
            <a:r>
              <a:rPr sz="1200" b="0">
                <a:solidFill>
                  <a:srgbClr val="555F6D"/>
                </a:solidFill>
                <a:latin typeface="Calibri"/>
              </a:rPr>
              <a:t>Incident summary by type and severity</a:t>
            </a:r>
          </a:p>
          <a:p>
            <a:pPr>
              <a:lnSpc>
                <a:spcPts val="1900"/>
              </a:lnSpc>
            </a:pPr>
            <a:r>
              <a:rPr sz="1200" b="1">
                <a:solidFill>
                  <a:srgbClr val="2D3A4A"/>
                </a:solidFill>
                <a:latin typeface="Calibri"/>
              </a:rPr>
              <a:t>5. </a:t>
            </a:r>
            <a:r>
              <a:rPr sz="1200" b="0">
                <a:solidFill>
                  <a:srgbClr val="555F6D"/>
                </a:solidFill>
                <a:latin typeface="Calibri"/>
              </a:rPr>
              <a:t>Social media post performance and platform comparison</a:t>
            </a:r>
          </a:p>
        </p:txBody>
      </p:sp>
      <p:sp>
        <p:nvSpPr>
          <p:cNvPr id="25" name="TextBox 24"/>
          <p:cNvSpPr txBox="1"/>
          <p:nvPr/>
        </p:nvSpPr>
        <p:spPr>
          <a:xfrm>
            <a:off x="11155680" y="6446520"/>
            <a:ext cx="914400" cy="365760"/>
          </a:xfrm>
          <a:prstGeom prst="rect">
            <a:avLst/>
          </a:prstGeom>
          <a:noFill/>
        </p:spPr>
        <p:txBody>
          <a:bodyPr wrap="square"/>
          <a:lstStyle/>
          <a:p>
            <a:pPr algn="r">
              <a:lnSpc>
                <a:spcPts val="1200"/>
              </a:lnSpc>
              <a:defRPr sz="1000" b="0">
                <a:solidFill>
                  <a:srgbClr val="888888"/>
                </a:solidFill>
                <a:latin typeface="Calibri"/>
              </a:defRPr>
            </a:pPr>
            <a: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457200"/>
          </a:xfrm>
          <a:prstGeom prst="rect">
            <a:avLst/>
          </a:prstGeom>
          <a:noFill/>
        </p:spPr>
        <p:txBody>
          <a:bodyPr wrap="square"/>
          <a:lstStyle/>
          <a:p>
            <a:pPr algn="l">
              <a:lnSpc>
                <a:spcPts val="1600"/>
              </a:lnSpc>
              <a:defRPr sz="1400" b="1">
                <a:solidFill>
                  <a:srgbClr val="2D3A4A"/>
                </a:solidFill>
                <a:latin typeface="Calibri"/>
              </a:defRPr>
            </a:pPr>
            <a:r>
              <a:t>UNDER THE HOOD</a:t>
            </a:r>
          </a:p>
        </p:txBody>
      </p:sp>
      <p:sp>
        <p:nvSpPr>
          <p:cNvPr id="4" name="TextBox 3"/>
          <p:cNvSpPr txBox="1"/>
          <p:nvPr/>
        </p:nvSpPr>
        <p:spPr>
          <a:xfrm>
            <a:off x="731520" y="822960"/>
            <a:ext cx="10058400" cy="731520"/>
          </a:xfrm>
          <a:prstGeom prst="rect">
            <a:avLst/>
          </a:prstGeom>
          <a:noFill/>
        </p:spPr>
        <p:txBody>
          <a:bodyPr wrap="square"/>
          <a:lstStyle/>
          <a:p>
            <a:pPr algn="l">
              <a:lnSpc>
                <a:spcPts val="4500"/>
              </a:lnSpc>
              <a:defRPr sz="3800" b="1">
                <a:solidFill>
                  <a:srgbClr val="2D3A4A"/>
                </a:solidFill>
                <a:latin typeface="Calibri Light"/>
              </a:defRPr>
            </a:pPr>
            <a:r>
              <a:t>5 Production ML Pipelines</a:t>
            </a:r>
          </a:p>
        </p:txBody>
      </p:sp>
      <p:sp>
        <p:nvSpPr>
          <p:cNvPr id="5" name="Rectangle 4"/>
          <p:cNvSpPr/>
          <p:nvPr/>
        </p:nvSpPr>
        <p:spPr>
          <a:xfrm>
            <a:off x="731520" y="1508760"/>
            <a:ext cx="1828800" cy="38100"/>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11064240" cy="411480"/>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20"/>
            <a:ext cx="365760" cy="320040"/>
          </a:xfrm>
          <a:prstGeom prst="rect">
            <a:avLst/>
          </a:prstGeom>
          <a:noFill/>
        </p:spPr>
        <p:txBody>
          <a:bodyPr wrap="square"/>
          <a:lstStyle/>
          <a:p>
            <a:pPr algn="l">
              <a:lnSpc>
                <a:spcPts val="1400"/>
              </a:lnSpc>
              <a:defRPr sz="1200" b="1">
                <a:solidFill>
                  <a:srgbClr val="FFFFFF"/>
                </a:solidFill>
                <a:latin typeface="Calibri"/>
              </a:defRPr>
            </a:pPr>
            <a:r>
              <a:t>#</a:t>
            </a:r>
          </a:p>
        </p:txBody>
      </p:sp>
      <p:sp>
        <p:nvSpPr>
          <p:cNvPr id="8" name="TextBox 7"/>
          <p:cNvSpPr txBox="1"/>
          <p:nvPr/>
        </p:nvSpPr>
        <p:spPr>
          <a:xfrm>
            <a:off x="1005840" y="1874520"/>
            <a:ext cx="2011680" cy="320040"/>
          </a:xfrm>
          <a:prstGeom prst="rect">
            <a:avLst/>
          </a:prstGeom>
          <a:noFill/>
        </p:spPr>
        <p:txBody>
          <a:bodyPr wrap="square"/>
          <a:lstStyle/>
          <a:p>
            <a:pPr algn="l">
              <a:lnSpc>
                <a:spcPts val="1400"/>
              </a:lnSpc>
              <a:defRPr sz="1200" b="1">
                <a:solidFill>
                  <a:srgbClr val="FFFFFF"/>
                </a:solidFill>
                <a:latin typeface="Calibri"/>
              </a:defRPr>
            </a:pPr>
            <a:r>
              <a:t>Pipeline</a:t>
            </a:r>
          </a:p>
        </p:txBody>
      </p:sp>
      <p:sp>
        <p:nvSpPr>
          <p:cNvPr id="9" name="TextBox 8"/>
          <p:cNvSpPr txBox="1"/>
          <p:nvPr/>
        </p:nvSpPr>
        <p:spPr>
          <a:xfrm>
            <a:off x="3108960" y="1874520"/>
            <a:ext cx="2011680" cy="320040"/>
          </a:xfrm>
          <a:prstGeom prst="rect">
            <a:avLst/>
          </a:prstGeom>
          <a:noFill/>
        </p:spPr>
        <p:txBody>
          <a:bodyPr wrap="square"/>
          <a:lstStyle/>
          <a:p>
            <a:pPr algn="l">
              <a:lnSpc>
                <a:spcPts val="1400"/>
              </a:lnSpc>
              <a:defRPr sz="1200" b="1">
                <a:solidFill>
                  <a:srgbClr val="FFFFFF"/>
                </a:solidFill>
                <a:latin typeface="Calibri"/>
              </a:defRPr>
            </a:pPr>
            <a:r>
              <a:t>Approach</a:t>
            </a:r>
          </a:p>
        </p:txBody>
      </p:sp>
      <p:sp>
        <p:nvSpPr>
          <p:cNvPr id="10" name="TextBox 9"/>
          <p:cNvSpPr txBox="1"/>
          <p:nvPr/>
        </p:nvSpPr>
        <p:spPr>
          <a:xfrm>
            <a:off x="5212080" y="1874520"/>
            <a:ext cx="2011680" cy="320040"/>
          </a:xfrm>
          <a:prstGeom prst="rect">
            <a:avLst/>
          </a:prstGeom>
          <a:noFill/>
        </p:spPr>
        <p:txBody>
          <a:bodyPr wrap="square"/>
          <a:lstStyle/>
          <a:p>
            <a:pPr algn="l">
              <a:lnSpc>
                <a:spcPts val="1400"/>
              </a:lnSpc>
              <a:defRPr sz="1200" b="1">
                <a:solidFill>
                  <a:srgbClr val="FFFFFF"/>
                </a:solidFill>
                <a:latin typeface="Calibri"/>
              </a:defRPr>
            </a:pPr>
            <a:r>
              <a:t>Algorithm</a:t>
            </a:r>
          </a:p>
        </p:txBody>
      </p:sp>
      <p:sp>
        <p:nvSpPr>
          <p:cNvPr id="11" name="TextBox 10"/>
          <p:cNvSpPr txBox="1"/>
          <p:nvPr/>
        </p:nvSpPr>
        <p:spPr>
          <a:xfrm>
            <a:off x="7315200" y="1874520"/>
            <a:ext cx="1828800" cy="320040"/>
          </a:xfrm>
          <a:prstGeom prst="rect">
            <a:avLst/>
          </a:prstGeom>
          <a:noFill/>
        </p:spPr>
        <p:txBody>
          <a:bodyPr wrap="square"/>
          <a:lstStyle/>
          <a:p>
            <a:pPr algn="l">
              <a:lnSpc>
                <a:spcPts val="1400"/>
              </a:lnSpc>
              <a:defRPr sz="1200" b="1">
                <a:solidFill>
                  <a:srgbClr val="FFFFFF"/>
                </a:solidFill>
                <a:latin typeface="Calibri"/>
              </a:defRPr>
            </a:pPr>
            <a:r>
              <a:t>Key Metric</a:t>
            </a:r>
          </a:p>
        </p:txBody>
      </p:sp>
      <p:sp>
        <p:nvSpPr>
          <p:cNvPr id="12" name="TextBox 11"/>
          <p:cNvSpPr txBox="1"/>
          <p:nvPr/>
        </p:nvSpPr>
        <p:spPr>
          <a:xfrm>
            <a:off x="9235440" y="1874520"/>
            <a:ext cx="2377440" cy="320040"/>
          </a:xfrm>
          <a:prstGeom prst="rect">
            <a:avLst/>
          </a:prstGeom>
          <a:noFill/>
        </p:spPr>
        <p:txBody>
          <a:bodyPr wrap="square"/>
          <a:lstStyle/>
          <a:p>
            <a:pPr algn="l">
              <a:lnSpc>
                <a:spcPts val="1400"/>
              </a:lnSpc>
              <a:defRPr sz="1200" b="1">
                <a:solidFill>
                  <a:srgbClr val="FFFFFF"/>
                </a:solidFill>
                <a:latin typeface="Calibri"/>
              </a:defRPr>
            </a:pPr>
            <a:r>
              <a:t>Integration</a:t>
            </a:r>
          </a:p>
        </p:txBody>
      </p:sp>
      <p:sp>
        <p:nvSpPr>
          <p:cNvPr id="13" name="Rectangle 12"/>
          <p:cNvSpPr/>
          <p:nvPr/>
        </p:nvSpPr>
        <p:spPr>
          <a:xfrm>
            <a:off x="548640" y="2286000"/>
            <a:ext cx="11064240" cy="4572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350008"/>
            <a:ext cx="365760" cy="320040"/>
          </a:xfrm>
          <a:prstGeom prst="rect">
            <a:avLst/>
          </a:prstGeom>
          <a:noFill/>
        </p:spPr>
        <p:txBody>
          <a:bodyPr wrap="square"/>
          <a:lstStyle/>
          <a:p>
            <a:pPr algn="l">
              <a:lnSpc>
                <a:spcPts val="1400"/>
              </a:lnSpc>
              <a:defRPr sz="1200" b="1">
                <a:solidFill>
                  <a:srgbClr val="2D3A4A"/>
                </a:solidFill>
                <a:latin typeface="Calibri"/>
              </a:defRPr>
            </a:pPr>
            <a:r>
              <a:t>1</a:t>
            </a:r>
          </a:p>
        </p:txBody>
      </p:sp>
      <p:sp>
        <p:nvSpPr>
          <p:cNvPr id="15" name="TextBox 14"/>
          <p:cNvSpPr txBox="1"/>
          <p:nvPr/>
        </p:nvSpPr>
        <p:spPr>
          <a:xfrm>
            <a:off x="1005840" y="2350008"/>
            <a:ext cx="2011680" cy="320040"/>
          </a:xfrm>
          <a:prstGeom prst="rect">
            <a:avLst/>
          </a:prstGeom>
          <a:noFill/>
        </p:spPr>
        <p:txBody>
          <a:bodyPr wrap="square"/>
          <a:lstStyle/>
          <a:p>
            <a:pPr algn="l">
              <a:lnSpc>
                <a:spcPts val="1400"/>
              </a:lnSpc>
              <a:defRPr sz="1200" b="0">
                <a:solidFill>
                  <a:srgbClr val="2D3A4A"/>
                </a:solidFill>
                <a:latin typeface="Calibri"/>
              </a:defRPr>
            </a:pPr>
            <a:r>
              <a:t>Donor Likelihood</a:t>
            </a:r>
          </a:p>
        </p:txBody>
      </p:sp>
      <p:sp>
        <p:nvSpPr>
          <p:cNvPr id="16" name="TextBox 15"/>
          <p:cNvSpPr txBox="1"/>
          <p:nvPr/>
        </p:nvSpPr>
        <p:spPr>
          <a:xfrm>
            <a:off x="3108960" y="2350008"/>
            <a:ext cx="2011680" cy="320040"/>
          </a:xfrm>
          <a:prstGeom prst="rect">
            <a:avLst/>
          </a:prstGeom>
          <a:noFill/>
        </p:spPr>
        <p:txBody>
          <a:bodyPr wrap="square"/>
          <a:lstStyle/>
          <a:p>
            <a:pPr algn="l">
              <a:lnSpc>
                <a:spcPts val="1400"/>
              </a:lnSpc>
              <a:defRPr sz="1200" b="0">
                <a:solidFill>
                  <a:srgbClr val="2D3A4A"/>
                </a:solidFill>
                <a:latin typeface="Calibri"/>
              </a:defRPr>
            </a:pPr>
            <a:r>
              <a:t>Predictive</a:t>
            </a:r>
          </a:p>
        </p:txBody>
      </p:sp>
      <p:sp>
        <p:nvSpPr>
          <p:cNvPr id="17" name="TextBox 16"/>
          <p:cNvSpPr txBox="1"/>
          <p:nvPr/>
        </p:nvSpPr>
        <p:spPr>
          <a:xfrm>
            <a:off x="5212080" y="2350008"/>
            <a:ext cx="2011680" cy="320040"/>
          </a:xfrm>
          <a:prstGeom prst="rect">
            <a:avLst/>
          </a:prstGeom>
          <a:noFill/>
        </p:spPr>
        <p:txBody>
          <a:bodyPr wrap="square"/>
          <a:lstStyle/>
          <a:p>
            <a:pPr algn="l">
              <a:lnSpc>
                <a:spcPts val="1400"/>
              </a:lnSpc>
              <a:defRPr sz="1200" b="0">
                <a:solidFill>
                  <a:srgbClr val="2D3A4A"/>
                </a:solidFill>
                <a:latin typeface="Calibri"/>
              </a:defRPr>
            </a:pPr>
            <a:r>
              <a:t>Gradient Boosting</a:t>
            </a:r>
          </a:p>
        </p:txBody>
      </p:sp>
      <p:sp>
        <p:nvSpPr>
          <p:cNvPr id="18" name="TextBox 17"/>
          <p:cNvSpPr txBox="1"/>
          <p:nvPr/>
        </p:nvSpPr>
        <p:spPr>
          <a:xfrm>
            <a:off x="7315200" y="2350008"/>
            <a:ext cx="1828800" cy="320040"/>
          </a:xfrm>
          <a:prstGeom prst="rect">
            <a:avLst/>
          </a:prstGeom>
          <a:noFill/>
        </p:spPr>
        <p:txBody>
          <a:bodyPr wrap="square"/>
          <a:lstStyle/>
          <a:p>
            <a:pPr algn="l">
              <a:lnSpc>
                <a:spcPts val="1400"/>
              </a:lnSpc>
              <a:defRPr sz="1200" b="0">
                <a:solidFill>
                  <a:srgbClr val="2D3A4A"/>
                </a:solidFill>
                <a:latin typeface="Calibri"/>
              </a:defRPr>
            </a:pPr>
            <a:r>
              <a:t>F1: 0.98, AUC: 0.98</a:t>
            </a:r>
          </a:p>
        </p:txBody>
      </p:sp>
      <p:sp>
        <p:nvSpPr>
          <p:cNvPr id="19" name="TextBox 18"/>
          <p:cNvSpPr txBox="1"/>
          <p:nvPr/>
        </p:nvSpPr>
        <p:spPr>
          <a:xfrm>
            <a:off x="9235440" y="2350008"/>
            <a:ext cx="2377440" cy="320040"/>
          </a:xfrm>
          <a:prstGeom prst="rect">
            <a:avLst/>
          </a:prstGeom>
          <a:noFill/>
        </p:spPr>
        <p:txBody>
          <a:bodyPr wrap="square"/>
          <a:lstStyle/>
          <a:p>
            <a:pPr algn="l">
              <a:lnSpc>
                <a:spcPts val="1400"/>
              </a:lnSpc>
              <a:defRPr sz="1200" b="0">
                <a:solidFill>
                  <a:srgbClr val="2D3A4A"/>
                </a:solidFill>
                <a:latin typeface="Calibri"/>
              </a:defRPr>
            </a:pPr>
            <a:r>
              <a:t>Supporters list badges</a:t>
            </a:r>
          </a:p>
        </p:txBody>
      </p:sp>
      <p:sp>
        <p:nvSpPr>
          <p:cNvPr id="20" name="Rectangle 19"/>
          <p:cNvSpPr/>
          <p:nvPr/>
        </p:nvSpPr>
        <p:spPr>
          <a:xfrm>
            <a:off x="548640" y="2788920"/>
            <a:ext cx="11064240" cy="4572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2852928"/>
            <a:ext cx="365760" cy="320040"/>
          </a:xfrm>
          <a:prstGeom prst="rect">
            <a:avLst/>
          </a:prstGeom>
          <a:noFill/>
        </p:spPr>
        <p:txBody>
          <a:bodyPr wrap="square"/>
          <a:lstStyle/>
          <a:p>
            <a:pPr algn="l">
              <a:lnSpc>
                <a:spcPts val="1400"/>
              </a:lnSpc>
              <a:defRPr sz="1200" b="1">
                <a:solidFill>
                  <a:srgbClr val="2D3A4A"/>
                </a:solidFill>
                <a:latin typeface="Calibri"/>
              </a:defRPr>
            </a:pPr>
            <a:r>
              <a:t>2</a:t>
            </a:r>
          </a:p>
        </p:txBody>
      </p:sp>
      <p:sp>
        <p:nvSpPr>
          <p:cNvPr id="22" name="TextBox 21"/>
          <p:cNvSpPr txBox="1"/>
          <p:nvPr/>
        </p:nvSpPr>
        <p:spPr>
          <a:xfrm>
            <a:off x="1005840" y="2852928"/>
            <a:ext cx="2011680" cy="320040"/>
          </a:xfrm>
          <a:prstGeom prst="rect">
            <a:avLst/>
          </a:prstGeom>
          <a:noFill/>
        </p:spPr>
        <p:txBody>
          <a:bodyPr wrap="square"/>
          <a:lstStyle/>
          <a:p>
            <a:pPr algn="l">
              <a:lnSpc>
                <a:spcPts val="1400"/>
              </a:lnSpc>
              <a:defRPr sz="1200" b="0">
                <a:solidFill>
                  <a:srgbClr val="2D3A4A"/>
                </a:solidFill>
                <a:latin typeface="Calibri"/>
              </a:defRPr>
            </a:pPr>
            <a:r>
              <a:t>Social Referrals</a:t>
            </a:r>
          </a:p>
        </p:txBody>
      </p:sp>
      <p:sp>
        <p:nvSpPr>
          <p:cNvPr id="23" name="TextBox 22"/>
          <p:cNvSpPr txBox="1"/>
          <p:nvPr/>
        </p:nvSpPr>
        <p:spPr>
          <a:xfrm>
            <a:off x="3108960" y="2852928"/>
            <a:ext cx="2011680" cy="320040"/>
          </a:xfrm>
          <a:prstGeom prst="rect">
            <a:avLst/>
          </a:prstGeom>
          <a:noFill/>
        </p:spPr>
        <p:txBody>
          <a:bodyPr wrap="square"/>
          <a:lstStyle/>
          <a:p>
            <a:pPr algn="l">
              <a:lnSpc>
                <a:spcPts val="1400"/>
              </a:lnSpc>
              <a:defRPr sz="1200" b="0">
                <a:solidFill>
                  <a:srgbClr val="2D3A4A"/>
                </a:solidFill>
                <a:latin typeface="Calibri"/>
              </a:defRPr>
            </a:pPr>
            <a:r>
              <a:t>Explanatory + Predictive</a:t>
            </a:r>
          </a:p>
        </p:txBody>
      </p:sp>
      <p:sp>
        <p:nvSpPr>
          <p:cNvPr id="24" name="TextBox 23"/>
          <p:cNvSpPr txBox="1"/>
          <p:nvPr/>
        </p:nvSpPr>
        <p:spPr>
          <a:xfrm>
            <a:off x="5212080" y="2852928"/>
            <a:ext cx="2011680" cy="320040"/>
          </a:xfrm>
          <a:prstGeom prst="rect">
            <a:avLst/>
          </a:prstGeom>
          <a:noFill/>
        </p:spPr>
        <p:txBody>
          <a:bodyPr wrap="square"/>
          <a:lstStyle/>
          <a:p>
            <a:pPr algn="l">
              <a:lnSpc>
                <a:spcPts val="1400"/>
              </a:lnSpc>
              <a:defRPr sz="1200" b="0">
                <a:solidFill>
                  <a:srgbClr val="2D3A4A"/>
                </a:solidFill>
                <a:latin typeface="Calibri"/>
              </a:defRPr>
            </a:pPr>
            <a:r>
              <a:t>GBM / Ridge / LightGBM</a:t>
            </a:r>
          </a:p>
        </p:txBody>
      </p:sp>
      <p:sp>
        <p:nvSpPr>
          <p:cNvPr id="25" name="TextBox 24"/>
          <p:cNvSpPr txBox="1"/>
          <p:nvPr/>
        </p:nvSpPr>
        <p:spPr>
          <a:xfrm>
            <a:off x="7315200" y="2852928"/>
            <a:ext cx="1828800" cy="320040"/>
          </a:xfrm>
          <a:prstGeom prst="rect">
            <a:avLst/>
          </a:prstGeom>
          <a:noFill/>
        </p:spPr>
        <p:txBody>
          <a:bodyPr wrap="square"/>
          <a:lstStyle/>
          <a:p>
            <a:pPr algn="l">
              <a:lnSpc>
                <a:spcPts val="1400"/>
              </a:lnSpc>
              <a:defRPr sz="1200" b="0">
                <a:solidFill>
                  <a:srgbClr val="2D3A4A"/>
                </a:solidFill>
                <a:latin typeface="Calibri"/>
              </a:defRPr>
            </a:pPr>
            <a:r>
              <a:t>6 target models</a:t>
            </a:r>
          </a:p>
        </p:txBody>
      </p:sp>
      <p:sp>
        <p:nvSpPr>
          <p:cNvPr id="26" name="TextBox 25"/>
          <p:cNvSpPr txBox="1"/>
          <p:nvPr/>
        </p:nvSpPr>
        <p:spPr>
          <a:xfrm>
            <a:off x="9235440" y="2852928"/>
            <a:ext cx="2377440" cy="320040"/>
          </a:xfrm>
          <a:prstGeom prst="rect">
            <a:avLst/>
          </a:prstGeom>
          <a:noFill/>
        </p:spPr>
        <p:txBody>
          <a:bodyPr wrap="square"/>
          <a:lstStyle/>
          <a:p>
            <a:pPr algn="l">
              <a:lnSpc>
                <a:spcPts val="1400"/>
              </a:lnSpc>
              <a:defRPr sz="1200" b="0">
                <a:solidFill>
                  <a:srgbClr val="2D3A4A"/>
                </a:solidFill>
                <a:latin typeface="Calibri"/>
              </a:defRPr>
            </a:pPr>
            <a:r>
              <a:t>Social Editor live cards</a:t>
            </a:r>
          </a:p>
        </p:txBody>
      </p:sp>
      <p:sp>
        <p:nvSpPr>
          <p:cNvPr id="27" name="Rectangle 26"/>
          <p:cNvSpPr/>
          <p:nvPr/>
        </p:nvSpPr>
        <p:spPr>
          <a:xfrm>
            <a:off x="548640" y="3291840"/>
            <a:ext cx="11064240" cy="4572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3355848"/>
            <a:ext cx="365760" cy="320040"/>
          </a:xfrm>
          <a:prstGeom prst="rect">
            <a:avLst/>
          </a:prstGeom>
          <a:noFill/>
        </p:spPr>
        <p:txBody>
          <a:bodyPr wrap="square"/>
          <a:lstStyle/>
          <a:p>
            <a:pPr algn="l">
              <a:lnSpc>
                <a:spcPts val="1400"/>
              </a:lnSpc>
              <a:defRPr sz="1200" b="1">
                <a:solidFill>
                  <a:srgbClr val="2D3A4A"/>
                </a:solidFill>
                <a:latin typeface="Calibri"/>
              </a:defRPr>
            </a:pPr>
            <a:r>
              <a:t>3</a:t>
            </a:r>
          </a:p>
        </p:txBody>
      </p:sp>
      <p:sp>
        <p:nvSpPr>
          <p:cNvPr id="29" name="TextBox 28"/>
          <p:cNvSpPr txBox="1"/>
          <p:nvPr/>
        </p:nvSpPr>
        <p:spPr>
          <a:xfrm>
            <a:off x="1005840" y="3355848"/>
            <a:ext cx="2011680" cy="320040"/>
          </a:xfrm>
          <a:prstGeom prst="rect">
            <a:avLst/>
          </a:prstGeom>
          <a:noFill/>
        </p:spPr>
        <p:txBody>
          <a:bodyPr wrap="square"/>
          <a:lstStyle/>
          <a:p>
            <a:pPr algn="l">
              <a:lnSpc>
                <a:spcPts val="1400"/>
              </a:lnSpc>
              <a:defRPr sz="1200" b="0">
                <a:solidFill>
                  <a:srgbClr val="2D3A4A"/>
                </a:solidFill>
                <a:latin typeface="Calibri"/>
              </a:defRPr>
            </a:pPr>
            <a:r>
              <a:t>Best Posting Times</a:t>
            </a:r>
          </a:p>
        </p:txBody>
      </p:sp>
      <p:sp>
        <p:nvSpPr>
          <p:cNvPr id="30" name="TextBox 29"/>
          <p:cNvSpPr txBox="1"/>
          <p:nvPr/>
        </p:nvSpPr>
        <p:spPr>
          <a:xfrm>
            <a:off x="3108960" y="3355848"/>
            <a:ext cx="2011680" cy="320040"/>
          </a:xfrm>
          <a:prstGeom prst="rect">
            <a:avLst/>
          </a:prstGeom>
          <a:noFill/>
        </p:spPr>
        <p:txBody>
          <a:bodyPr wrap="square"/>
          <a:lstStyle/>
          <a:p>
            <a:pPr algn="l">
              <a:lnSpc>
                <a:spcPts val="1400"/>
              </a:lnSpc>
              <a:defRPr sz="1200" b="0">
                <a:solidFill>
                  <a:srgbClr val="2D3A4A"/>
                </a:solidFill>
                <a:latin typeface="Calibri"/>
              </a:defRPr>
            </a:pPr>
            <a:r>
              <a:t>Predictive</a:t>
            </a:r>
          </a:p>
        </p:txBody>
      </p:sp>
      <p:sp>
        <p:nvSpPr>
          <p:cNvPr id="31" name="TextBox 30"/>
          <p:cNvSpPr txBox="1"/>
          <p:nvPr/>
        </p:nvSpPr>
        <p:spPr>
          <a:xfrm>
            <a:off x="5212080" y="3355848"/>
            <a:ext cx="2011680" cy="320040"/>
          </a:xfrm>
          <a:prstGeom prst="rect">
            <a:avLst/>
          </a:prstGeom>
          <a:noFill/>
        </p:spPr>
        <p:txBody>
          <a:bodyPr wrap="square"/>
          <a:lstStyle/>
          <a:p>
            <a:pPr algn="l">
              <a:lnSpc>
                <a:spcPts val="1400"/>
              </a:lnSpc>
              <a:defRPr sz="1200" b="0">
                <a:solidFill>
                  <a:srgbClr val="2D3A4A"/>
                </a:solidFill>
                <a:latin typeface="Calibri"/>
              </a:defRPr>
            </a:pPr>
            <a:r>
              <a:t>Regression</a:t>
            </a:r>
          </a:p>
        </p:txBody>
      </p:sp>
      <p:sp>
        <p:nvSpPr>
          <p:cNvPr id="32" name="TextBox 31"/>
          <p:cNvSpPr txBox="1"/>
          <p:nvPr/>
        </p:nvSpPr>
        <p:spPr>
          <a:xfrm>
            <a:off x="7315200" y="3355848"/>
            <a:ext cx="1828800" cy="320040"/>
          </a:xfrm>
          <a:prstGeom prst="rect">
            <a:avLst/>
          </a:prstGeom>
          <a:noFill/>
        </p:spPr>
        <p:txBody>
          <a:bodyPr wrap="square"/>
          <a:lstStyle/>
          <a:p>
            <a:pPr algn="l">
              <a:lnSpc>
                <a:spcPts val="1400"/>
              </a:lnSpc>
              <a:defRPr sz="1200" b="0">
                <a:solidFill>
                  <a:srgbClr val="2D3A4A"/>
                </a:solidFill>
                <a:latin typeface="Calibri"/>
              </a:defRPr>
            </a:pPr>
            <a:r>
              <a:t>168 day/hr combos</a:t>
            </a:r>
          </a:p>
        </p:txBody>
      </p:sp>
      <p:sp>
        <p:nvSpPr>
          <p:cNvPr id="33" name="TextBox 32"/>
          <p:cNvSpPr txBox="1"/>
          <p:nvPr/>
        </p:nvSpPr>
        <p:spPr>
          <a:xfrm>
            <a:off x="9235440" y="3355848"/>
            <a:ext cx="2377440" cy="320040"/>
          </a:xfrm>
          <a:prstGeom prst="rect">
            <a:avLst/>
          </a:prstGeom>
          <a:noFill/>
        </p:spPr>
        <p:txBody>
          <a:bodyPr wrap="square"/>
          <a:lstStyle/>
          <a:p>
            <a:pPr algn="l">
              <a:lnSpc>
                <a:spcPts val="1400"/>
              </a:lnSpc>
              <a:defRPr sz="1200" b="0">
                <a:solidFill>
                  <a:srgbClr val="2D3A4A"/>
                </a:solidFill>
                <a:latin typeface="Calibri"/>
              </a:defRPr>
            </a:pPr>
            <a:r>
              <a:t>Social Editor scheduler</a:t>
            </a:r>
          </a:p>
        </p:txBody>
      </p:sp>
      <p:sp>
        <p:nvSpPr>
          <p:cNvPr id="34" name="Rectangle 33"/>
          <p:cNvSpPr/>
          <p:nvPr/>
        </p:nvSpPr>
        <p:spPr>
          <a:xfrm>
            <a:off x="548640" y="3794760"/>
            <a:ext cx="11064240" cy="4572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858768"/>
            <a:ext cx="365760" cy="320040"/>
          </a:xfrm>
          <a:prstGeom prst="rect">
            <a:avLst/>
          </a:prstGeom>
          <a:noFill/>
        </p:spPr>
        <p:txBody>
          <a:bodyPr wrap="square"/>
          <a:lstStyle/>
          <a:p>
            <a:pPr algn="l">
              <a:lnSpc>
                <a:spcPts val="1400"/>
              </a:lnSpc>
              <a:defRPr sz="1200" b="1">
                <a:solidFill>
                  <a:srgbClr val="2D3A4A"/>
                </a:solidFill>
                <a:latin typeface="Calibri"/>
              </a:defRPr>
            </a:pPr>
            <a:r>
              <a:t>4</a:t>
            </a:r>
          </a:p>
        </p:txBody>
      </p:sp>
      <p:sp>
        <p:nvSpPr>
          <p:cNvPr id="36" name="TextBox 35"/>
          <p:cNvSpPr txBox="1"/>
          <p:nvPr/>
        </p:nvSpPr>
        <p:spPr>
          <a:xfrm>
            <a:off x="1005840" y="3858768"/>
            <a:ext cx="2011680" cy="320040"/>
          </a:xfrm>
          <a:prstGeom prst="rect">
            <a:avLst/>
          </a:prstGeom>
          <a:noFill/>
        </p:spPr>
        <p:txBody>
          <a:bodyPr wrap="square"/>
          <a:lstStyle/>
          <a:p>
            <a:pPr algn="l">
              <a:lnSpc>
                <a:spcPts val="1400"/>
              </a:lnSpc>
              <a:defRPr sz="1200" b="0">
                <a:solidFill>
                  <a:srgbClr val="2D3A4A"/>
                </a:solidFill>
                <a:latin typeface="Calibri"/>
              </a:defRPr>
            </a:pPr>
            <a:r>
              <a:t>Reintegration Causal</a:t>
            </a:r>
          </a:p>
        </p:txBody>
      </p:sp>
      <p:sp>
        <p:nvSpPr>
          <p:cNvPr id="37" name="TextBox 36"/>
          <p:cNvSpPr txBox="1"/>
          <p:nvPr/>
        </p:nvSpPr>
        <p:spPr>
          <a:xfrm>
            <a:off x="3108960" y="3858768"/>
            <a:ext cx="2011680" cy="320040"/>
          </a:xfrm>
          <a:prstGeom prst="rect">
            <a:avLst/>
          </a:prstGeom>
          <a:noFill/>
        </p:spPr>
        <p:txBody>
          <a:bodyPr wrap="square"/>
          <a:lstStyle/>
          <a:p>
            <a:pPr algn="l">
              <a:lnSpc>
                <a:spcPts val="1400"/>
              </a:lnSpc>
              <a:defRPr sz="1200" b="0">
                <a:solidFill>
                  <a:srgbClr val="2D3A4A"/>
                </a:solidFill>
                <a:latin typeface="Calibri"/>
              </a:defRPr>
            </a:pPr>
            <a:r>
              <a:t>Explanatory</a:t>
            </a:r>
          </a:p>
        </p:txBody>
      </p:sp>
      <p:sp>
        <p:nvSpPr>
          <p:cNvPr id="38" name="TextBox 37"/>
          <p:cNvSpPr txBox="1"/>
          <p:nvPr/>
        </p:nvSpPr>
        <p:spPr>
          <a:xfrm>
            <a:off x="5212080" y="3858768"/>
            <a:ext cx="2011680" cy="320040"/>
          </a:xfrm>
          <a:prstGeom prst="rect">
            <a:avLst/>
          </a:prstGeom>
          <a:noFill/>
        </p:spPr>
        <p:txBody>
          <a:bodyPr wrap="square"/>
          <a:lstStyle/>
          <a:p>
            <a:pPr algn="l">
              <a:lnSpc>
                <a:spcPts val="1400"/>
              </a:lnSpc>
              <a:defRPr sz="1200" b="0">
                <a:solidFill>
                  <a:srgbClr val="2D3A4A"/>
                </a:solidFill>
                <a:latin typeface="Calibri"/>
              </a:defRPr>
            </a:pPr>
            <a:r>
              <a:t>Logistic (statsmodels)</a:t>
            </a:r>
          </a:p>
        </p:txBody>
      </p:sp>
      <p:sp>
        <p:nvSpPr>
          <p:cNvPr id="39" name="TextBox 38"/>
          <p:cNvSpPr txBox="1"/>
          <p:nvPr/>
        </p:nvSpPr>
        <p:spPr>
          <a:xfrm>
            <a:off x="7315200" y="3858768"/>
            <a:ext cx="1828800" cy="320040"/>
          </a:xfrm>
          <a:prstGeom prst="rect">
            <a:avLst/>
          </a:prstGeom>
          <a:noFill/>
        </p:spPr>
        <p:txBody>
          <a:bodyPr wrap="square"/>
          <a:lstStyle/>
          <a:p>
            <a:pPr algn="l">
              <a:lnSpc>
                <a:spcPts val="1400"/>
              </a:lnSpc>
              <a:defRPr sz="1200" b="0">
                <a:solidFill>
                  <a:srgbClr val="2D3A4A"/>
                </a:solidFill>
                <a:latin typeface="Calibri"/>
              </a:defRPr>
            </a:pPr>
            <a:r>
              <a:t>Odds ratios, p&lt;0.05</a:t>
            </a:r>
          </a:p>
        </p:txBody>
      </p:sp>
      <p:sp>
        <p:nvSpPr>
          <p:cNvPr id="40" name="TextBox 39"/>
          <p:cNvSpPr txBox="1"/>
          <p:nvPr/>
        </p:nvSpPr>
        <p:spPr>
          <a:xfrm>
            <a:off x="9235440" y="3858768"/>
            <a:ext cx="2377440" cy="320040"/>
          </a:xfrm>
          <a:prstGeom prst="rect">
            <a:avLst/>
          </a:prstGeom>
          <a:noFill/>
        </p:spPr>
        <p:txBody>
          <a:bodyPr wrap="square"/>
          <a:lstStyle/>
          <a:p>
            <a:pPr algn="l">
              <a:lnSpc>
                <a:spcPts val="1400"/>
              </a:lnSpc>
              <a:defRPr sz="1200" b="0">
                <a:solidFill>
                  <a:srgbClr val="2D3A4A"/>
                </a:solidFill>
                <a:latin typeface="Calibri"/>
              </a:defRPr>
            </a:pPr>
            <a:r>
              <a:t>Resident detail insights</a:t>
            </a:r>
          </a:p>
        </p:txBody>
      </p:sp>
      <p:sp>
        <p:nvSpPr>
          <p:cNvPr id="41" name="Rectangle 40"/>
          <p:cNvSpPr/>
          <p:nvPr/>
        </p:nvSpPr>
        <p:spPr>
          <a:xfrm>
            <a:off x="548640" y="4297680"/>
            <a:ext cx="11064240" cy="4572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4361688"/>
            <a:ext cx="365760" cy="320040"/>
          </a:xfrm>
          <a:prstGeom prst="rect">
            <a:avLst/>
          </a:prstGeom>
          <a:noFill/>
        </p:spPr>
        <p:txBody>
          <a:bodyPr wrap="square"/>
          <a:lstStyle/>
          <a:p>
            <a:pPr algn="l">
              <a:lnSpc>
                <a:spcPts val="1400"/>
              </a:lnSpc>
              <a:defRPr sz="1200" b="1">
                <a:solidFill>
                  <a:srgbClr val="2D3A4A"/>
                </a:solidFill>
                <a:latin typeface="Calibri"/>
              </a:defRPr>
            </a:pPr>
            <a:r>
              <a:t>5</a:t>
            </a:r>
          </a:p>
        </p:txBody>
      </p:sp>
      <p:sp>
        <p:nvSpPr>
          <p:cNvPr id="43" name="TextBox 42"/>
          <p:cNvSpPr txBox="1"/>
          <p:nvPr/>
        </p:nvSpPr>
        <p:spPr>
          <a:xfrm>
            <a:off x="1005840" y="4361688"/>
            <a:ext cx="2011680" cy="320040"/>
          </a:xfrm>
          <a:prstGeom prst="rect">
            <a:avLst/>
          </a:prstGeom>
          <a:noFill/>
        </p:spPr>
        <p:txBody>
          <a:bodyPr wrap="square"/>
          <a:lstStyle/>
          <a:p>
            <a:pPr algn="l">
              <a:lnSpc>
                <a:spcPts val="1400"/>
              </a:lnSpc>
              <a:defRPr sz="1200" b="0">
                <a:solidFill>
                  <a:srgbClr val="2D3A4A"/>
                </a:solidFill>
                <a:latin typeface="Calibri"/>
              </a:defRPr>
            </a:pPr>
            <a:r>
              <a:t>Risk Prediction</a:t>
            </a:r>
          </a:p>
        </p:txBody>
      </p:sp>
      <p:sp>
        <p:nvSpPr>
          <p:cNvPr id="44" name="TextBox 43"/>
          <p:cNvSpPr txBox="1"/>
          <p:nvPr/>
        </p:nvSpPr>
        <p:spPr>
          <a:xfrm>
            <a:off x="3108960" y="4361688"/>
            <a:ext cx="2011680" cy="320040"/>
          </a:xfrm>
          <a:prstGeom prst="rect">
            <a:avLst/>
          </a:prstGeom>
          <a:noFill/>
        </p:spPr>
        <p:txBody>
          <a:bodyPr wrap="square"/>
          <a:lstStyle/>
          <a:p>
            <a:pPr algn="l">
              <a:lnSpc>
                <a:spcPts val="1400"/>
              </a:lnSpc>
              <a:defRPr sz="1200" b="0">
                <a:solidFill>
                  <a:srgbClr val="2D3A4A"/>
                </a:solidFill>
                <a:latin typeface="Calibri"/>
              </a:defRPr>
            </a:pPr>
            <a:r>
              <a:t>Predictive</a:t>
            </a:r>
          </a:p>
        </p:txBody>
      </p:sp>
      <p:sp>
        <p:nvSpPr>
          <p:cNvPr id="45" name="TextBox 44"/>
          <p:cNvSpPr txBox="1"/>
          <p:nvPr/>
        </p:nvSpPr>
        <p:spPr>
          <a:xfrm>
            <a:off x="5212080" y="4361688"/>
            <a:ext cx="2011680" cy="320040"/>
          </a:xfrm>
          <a:prstGeom prst="rect">
            <a:avLst/>
          </a:prstGeom>
          <a:noFill/>
        </p:spPr>
        <p:txBody>
          <a:bodyPr wrap="square"/>
          <a:lstStyle/>
          <a:p>
            <a:pPr algn="l">
              <a:lnSpc>
                <a:spcPts val="1400"/>
              </a:lnSpc>
              <a:defRPr sz="1200" b="0">
                <a:solidFill>
                  <a:srgbClr val="2D3A4A"/>
                </a:solidFill>
                <a:latin typeface="Calibri"/>
              </a:defRPr>
            </a:pPr>
            <a:r>
              <a:t>Random Forest</a:t>
            </a:r>
          </a:p>
        </p:txBody>
      </p:sp>
      <p:sp>
        <p:nvSpPr>
          <p:cNvPr id="46" name="TextBox 45"/>
          <p:cNvSpPr txBox="1"/>
          <p:nvPr/>
        </p:nvSpPr>
        <p:spPr>
          <a:xfrm>
            <a:off x="7315200" y="4361688"/>
            <a:ext cx="1828800" cy="320040"/>
          </a:xfrm>
          <a:prstGeom prst="rect">
            <a:avLst/>
          </a:prstGeom>
          <a:noFill/>
        </p:spPr>
        <p:txBody>
          <a:bodyPr wrap="square"/>
          <a:lstStyle/>
          <a:p>
            <a:pPr algn="l">
              <a:lnSpc>
                <a:spcPts val="1400"/>
              </a:lnSpc>
              <a:defRPr sz="1200" b="0">
                <a:solidFill>
                  <a:srgbClr val="2D3A4A"/>
                </a:solidFill>
                <a:latin typeface="Calibri"/>
              </a:defRPr>
            </a:pPr>
            <a:r>
              <a:t>Accuracy: 65%</a:t>
            </a:r>
          </a:p>
        </p:txBody>
      </p:sp>
      <p:sp>
        <p:nvSpPr>
          <p:cNvPr id="47" name="TextBox 46"/>
          <p:cNvSpPr txBox="1"/>
          <p:nvPr/>
        </p:nvSpPr>
        <p:spPr>
          <a:xfrm>
            <a:off x="9235440" y="4361688"/>
            <a:ext cx="2377440" cy="320040"/>
          </a:xfrm>
          <a:prstGeom prst="rect">
            <a:avLst/>
          </a:prstGeom>
          <a:noFill/>
        </p:spPr>
        <p:txBody>
          <a:bodyPr wrap="square"/>
          <a:lstStyle/>
          <a:p>
            <a:pPr algn="l">
              <a:lnSpc>
                <a:spcPts val="1400"/>
              </a:lnSpc>
              <a:defRPr sz="1200" b="0">
                <a:solidFill>
                  <a:srgbClr val="2D3A4A"/>
                </a:solidFill>
                <a:latin typeface="Calibri"/>
              </a:defRPr>
            </a:pPr>
            <a:r>
              <a:t>Residents list + detail</a:t>
            </a:r>
          </a:p>
        </p:txBody>
      </p:sp>
      <p:sp>
        <p:nvSpPr>
          <p:cNvPr id="48" name="Rounded Rectangle 47"/>
          <p:cNvSpPr/>
          <p:nvPr/>
        </p:nvSpPr>
        <p:spPr>
          <a:xfrm>
            <a:off x="731520" y="4754880"/>
            <a:ext cx="10698480" cy="1188720"/>
          </a:xfrm>
          <a:prstGeom prst="round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5840" y="4937760"/>
            <a:ext cx="10241280" cy="914400"/>
          </a:xfrm>
          <a:prstGeom prst="rect">
            <a:avLst/>
          </a:prstGeom>
          <a:noFill/>
        </p:spPr>
        <p:txBody>
          <a:bodyPr wrap="square"/>
          <a:lstStyle/>
          <a:p>
            <a:pPr algn="l">
              <a:lnSpc>
                <a:spcPts val="1600"/>
              </a:lnSpc>
              <a:defRPr sz="1400" b="0">
                <a:solidFill>
                  <a:srgbClr val="555F6D"/>
                </a:solidFill>
                <a:latin typeface="Calibri"/>
              </a:defRPr>
            </a:pPr>
            <a:r>
              <a:t>All 5 pipelines run nightly at 2:00 AM via automated scheduler. Models serialized with joblib. Predictions served through .NET API as CSV lookups. Every pipeline follows the full textbook lifecycle: Problem Framing &gt; Data Prep &gt; Exploration &gt; Modeling &gt; Feature Selection &gt; Evaluation &gt; Deployment.</a:t>
            </a:r>
          </a:p>
        </p:txBody>
      </p:sp>
      <p:sp>
        <p:nvSpPr>
          <p:cNvPr id="50" name="TextBox 49"/>
          <p:cNvSpPr txBox="1"/>
          <p:nvPr/>
        </p:nvSpPr>
        <p:spPr>
          <a:xfrm>
            <a:off x="11155680" y="6446520"/>
            <a:ext cx="914400" cy="365760"/>
          </a:xfrm>
          <a:prstGeom prst="rect">
            <a:avLst/>
          </a:prstGeom>
          <a:noFill/>
        </p:spPr>
        <p:txBody>
          <a:bodyPr wrap="square"/>
          <a:lstStyle/>
          <a:p>
            <a:pPr algn="r">
              <a:lnSpc>
                <a:spcPts val="1200"/>
              </a:lnSpc>
              <a:defRPr sz="1000" b="0">
                <a:solidFill>
                  <a:srgbClr val="888888"/>
                </a:solidFill>
                <a:latin typeface="Calibri"/>
              </a:defRPr>
            </a:pPr>
            <a: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457200"/>
          </a:xfrm>
          <a:prstGeom prst="rect">
            <a:avLst/>
          </a:prstGeom>
          <a:noFill/>
        </p:spPr>
        <p:txBody>
          <a:bodyPr wrap="square"/>
          <a:lstStyle/>
          <a:p>
            <a:pPr algn="l">
              <a:lnSpc>
                <a:spcPts val="1600"/>
              </a:lnSpc>
              <a:defRPr sz="1400" b="1">
                <a:solidFill>
                  <a:srgbClr val="2D3A4A"/>
                </a:solidFill>
                <a:latin typeface="Calibri"/>
              </a:defRPr>
            </a:pPr>
            <a:r>
              <a:t>ARCHITECTURE</a:t>
            </a:r>
          </a:p>
        </p:txBody>
      </p:sp>
      <p:sp>
        <p:nvSpPr>
          <p:cNvPr id="4" name="TextBox 3"/>
          <p:cNvSpPr txBox="1"/>
          <p:nvPr/>
        </p:nvSpPr>
        <p:spPr>
          <a:xfrm>
            <a:off x="731520" y="822960"/>
            <a:ext cx="10058400" cy="731520"/>
          </a:xfrm>
          <a:prstGeom prst="rect">
            <a:avLst/>
          </a:prstGeom>
          <a:noFill/>
        </p:spPr>
        <p:txBody>
          <a:bodyPr wrap="square"/>
          <a:lstStyle/>
          <a:p>
            <a:pPr algn="l">
              <a:lnSpc>
                <a:spcPts val="4500"/>
              </a:lnSpc>
              <a:defRPr sz="3800" b="1">
                <a:solidFill>
                  <a:srgbClr val="2D3A4A"/>
                </a:solidFill>
                <a:latin typeface="Calibri Light"/>
              </a:defRPr>
            </a:pPr>
            <a:r>
              <a:t>How It's Built</a:t>
            </a:r>
          </a:p>
        </p:txBody>
      </p:sp>
      <p:sp>
        <p:nvSpPr>
          <p:cNvPr id="5" name="Rectangle 4"/>
          <p:cNvSpPr/>
          <p:nvPr/>
        </p:nvSpPr>
        <p:spPr>
          <a:xfrm>
            <a:off x="731520" y="1508760"/>
            <a:ext cx="1828800" cy="38100"/>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28800"/>
            <a:ext cx="4572000" cy="457200"/>
          </a:xfrm>
          <a:prstGeom prst="rect">
            <a:avLst/>
          </a:prstGeom>
          <a:noFill/>
        </p:spPr>
        <p:txBody>
          <a:bodyPr wrap="square"/>
          <a:lstStyle/>
          <a:p>
            <a:pPr algn="l">
              <a:lnSpc>
                <a:spcPts val="2100"/>
              </a:lnSpc>
              <a:defRPr sz="1800" b="1">
                <a:solidFill>
                  <a:srgbClr val="6AA8CB"/>
                </a:solidFill>
                <a:latin typeface="Calibri"/>
              </a:defRPr>
            </a:pPr>
            <a:r>
              <a:t>Frontend</a:t>
            </a:r>
          </a:p>
        </p:txBody>
      </p:sp>
      <p:sp>
        <p:nvSpPr>
          <p:cNvPr id="7" name="TextBox 6"/>
          <p:cNvSpPr txBox="1"/>
          <p:nvPr/>
        </p:nvSpPr>
        <p:spPr>
          <a:xfrm>
            <a:off x="731520" y="2286000"/>
            <a:ext cx="5029200" cy="3200400"/>
          </a:xfrm>
          <a:prstGeom prst="rect">
            <a:avLst/>
          </a:prstGeom>
          <a:noFill/>
        </p:spPr>
        <p:txBody>
          <a:bodyPr wrap="square">
            <a:spAutoFit/>
          </a:bodyPr>
          <a:lstStyle/>
          <a:p>
            <a:pPr>
              <a:lnSpc>
                <a:spcPts val="2100"/>
              </a:lnSpc>
              <a:defRPr sz="1400">
                <a:solidFill>
                  <a:srgbClr val="555F6D"/>
                </a:solidFill>
                <a:latin typeface="Calibri"/>
              </a:defRPr>
              <a:buChar char="•"/>
              <a:buClr>
                <a:srgbClr val="6AA8CB"/>
              </a:buClr>
            </a:pPr>
            <a:r>
              <a:t>React 19 + TypeScript + Vite</a:t>
            </a:r>
          </a:p>
          <a:p>
            <a:pPr>
              <a:lnSpc>
                <a:spcPts val="2100"/>
              </a:lnSpc>
              <a:defRPr sz="1400">
                <a:solidFill>
                  <a:srgbClr val="555F6D"/>
                </a:solidFill>
                <a:latin typeface="Calibri"/>
              </a:defRPr>
              <a:buChar char="•"/>
              <a:buClr>
                <a:srgbClr val="6AA8CB"/>
              </a:buClr>
            </a:pPr>
            <a:r>
              <a:t>Tailwind CSS v4</a:t>
            </a:r>
          </a:p>
          <a:p>
            <a:pPr>
              <a:lnSpc>
                <a:spcPts val="2100"/>
              </a:lnSpc>
              <a:defRPr sz="1400">
                <a:solidFill>
                  <a:srgbClr val="555F6D"/>
                </a:solidFill>
                <a:latin typeface="Calibri"/>
              </a:defRPr>
              <a:buChar char="•"/>
              <a:buClr>
                <a:srgbClr val="6AA8CB"/>
              </a:buClr>
            </a:pPr>
            <a:r>
              <a:t>Zustand (client state) + React Query (server state)</a:t>
            </a:r>
          </a:p>
          <a:p>
            <a:pPr>
              <a:lnSpc>
                <a:spcPts val="2100"/>
              </a:lnSpc>
              <a:defRPr sz="1400">
                <a:solidFill>
                  <a:srgbClr val="555F6D"/>
                </a:solidFill>
                <a:latin typeface="Calibri"/>
              </a:defRPr>
              <a:buChar char="•"/>
              <a:buClr>
                <a:srgbClr val="6AA8CB"/>
              </a:buClr>
            </a:pPr>
            <a:r>
              <a:t>Recharts for visualizations</a:t>
            </a:r>
          </a:p>
          <a:p>
            <a:pPr>
              <a:lnSpc>
                <a:spcPts val="2100"/>
              </a:lnSpc>
              <a:defRPr sz="1400">
                <a:solidFill>
                  <a:srgbClr val="555F6D"/>
                </a:solidFill>
                <a:latin typeface="Calibri"/>
              </a:defRPr>
              <a:buChar char="•"/>
              <a:buClr>
                <a:srgbClr val="6AA8CB"/>
              </a:buClr>
            </a:pPr>
            <a:r>
              <a:t>react-hook-form + Zod for validation</a:t>
            </a:r>
          </a:p>
          <a:p>
            <a:pPr>
              <a:lnSpc>
                <a:spcPts val="2100"/>
              </a:lnSpc>
              <a:defRPr sz="1400">
                <a:solidFill>
                  <a:srgbClr val="555F6D"/>
                </a:solidFill>
                <a:latin typeface="Calibri"/>
              </a:defRPr>
              <a:buChar char="•"/>
              <a:buClr>
                <a:srgbClr val="6AA8CB"/>
              </a:buClr>
            </a:pPr>
            <a:r>
              <a:t>Deployed on Vercel</a:t>
            </a:r>
          </a:p>
        </p:txBody>
      </p:sp>
      <p:sp>
        <p:nvSpPr>
          <p:cNvPr id="8" name="TextBox 7"/>
          <p:cNvSpPr txBox="1"/>
          <p:nvPr/>
        </p:nvSpPr>
        <p:spPr>
          <a:xfrm>
            <a:off x="6400800" y="1828800"/>
            <a:ext cx="4572000" cy="457200"/>
          </a:xfrm>
          <a:prstGeom prst="rect">
            <a:avLst/>
          </a:prstGeom>
          <a:noFill/>
        </p:spPr>
        <p:txBody>
          <a:bodyPr wrap="square"/>
          <a:lstStyle/>
          <a:p>
            <a:pPr algn="l">
              <a:lnSpc>
                <a:spcPts val="2100"/>
              </a:lnSpc>
              <a:defRPr sz="1800" b="1">
                <a:solidFill>
                  <a:srgbClr val="5E8C5E"/>
                </a:solidFill>
                <a:latin typeface="Calibri"/>
              </a:defRPr>
            </a:pPr>
            <a:r>
              <a:t>Backend &amp; Data</a:t>
            </a:r>
          </a:p>
        </p:txBody>
      </p:sp>
      <p:sp>
        <p:nvSpPr>
          <p:cNvPr id="9" name="TextBox 8"/>
          <p:cNvSpPr txBox="1"/>
          <p:nvPr/>
        </p:nvSpPr>
        <p:spPr>
          <a:xfrm>
            <a:off x="6400800" y="2286000"/>
            <a:ext cx="5029200" cy="3200400"/>
          </a:xfrm>
          <a:prstGeom prst="rect">
            <a:avLst/>
          </a:prstGeom>
          <a:noFill/>
        </p:spPr>
        <p:txBody>
          <a:bodyPr wrap="square">
            <a:spAutoFit/>
          </a:bodyPr>
          <a:lstStyle/>
          <a:p>
            <a:pPr>
              <a:lnSpc>
                <a:spcPts val="2100"/>
              </a:lnSpc>
              <a:defRPr sz="1400">
                <a:solidFill>
                  <a:srgbClr val="555F6D"/>
                </a:solidFill>
                <a:latin typeface="Calibri"/>
              </a:defRPr>
              <a:buChar char="•"/>
              <a:buClr>
                <a:srgbClr val="5E8C5E"/>
              </a:buClr>
            </a:pPr>
            <a:r>
              <a:t>.NET 10 / C# Web API + EF Core 9</a:t>
            </a:r>
          </a:p>
          <a:p>
            <a:pPr>
              <a:lnSpc>
                <a:spcPts val="2100"/>
              </a:lnSpc>
              <a:defRPr sz="1400">
                <a:solidFill>
                  <a:srgbClr val="555F6D"/>
                </a:solidFill>
                <a:latin typeface="Calibri"/>
              </a:defRPr>
              <a:buChar char="•"/>
              <a:buClr>
                <a:srgbClr val="5E8C5E"/>
              </a:buClr>
            </a:pPr>
            <a:r>
              <a:t>PostgreSQL on Supabase</a:t>
            </a:r>
          </a:p>
          <a:p>
            <a:pPr>
              <a:lnSpc>
                <a:spcPts val="2100"/>
              </a:lnSpc>
              <a:defRPr sz="1400">
                <a:solidFill>
                  <a:srgbClr val="555F6D"/>
                </a:solidFill>
                <a:latin typeface="Calibri"/>
              </a:defRPr>
              <a:buChar char="•"/>
              <a:buClr>
                <a:srgbClr val="5E8C5E"/>
              </a:buClr>
            </a:pPr>
            <a:r>
              <a:t>ASP.NET Identity + JWT authentication</a:t>
            </a:r>
          </a:p>
          <a:p>
            <a:pPr>
              <a:lnSpc>
                <a:spcPts val="2100"/>
              </a:lnSpc>
              <a:defRPr sz="1400">
                <a:solidFill>
                  <a:srgbClr val="555F6D"/>
                </a:solidFill>
                <a:latin typeface="Calibri"/>
              </a:defRPr>
              <a:buChar char="•"/>
              <a:buClr>
                <a:srgbClr val="5E8C5E"/>
              </a:buClr>
            </a:pPr>
            <a:r>
              <a:t>Python + scikit-learn + statsmodels for ML</a:t>
            </a:r>
          </a:p>
          <a:p>
            <a:pPr>
              <a:lnSpc>
                <a:spcPts val="2100"/>
              </a:lnSpc>
              <a:defRPr sz="1400">
                <a:solidFill>
                  <a:srgbClr val="555F6D"/>
                </a:solidFill>
                <a:latin typeface="Calibri"/>
              </a:defRPr>
              <a:buChar char="•"/>
              <a:buClr>
                <a:srgbClr val="5E8C5E"/>
              </a:buClr>
            </a:pPr>
            <a:r>
              <a:t>joblib model serialization + nightly refresh</a:t>
            </a:r>
          </a:p>
          <a:p>
            <a:pPr>
              <a:lnSpc>
                <a:spcPts val="2100"/>
              </a:lnSpc>
              <a:defRPr sz="1400">
                <a:solidFill>
                  <a:srgbClr val="555F6D"/>
                </a:solidFill>
                <a:latin typeface="Calibri"/>
              </a:defRPr>
              <a:buChar char="•"/>
              <a:buClr>
                <a:srgbClr val="5E8C5E"/>
              </a:buClr>
            </a:pPr>
            <a:r>
              <a:t>Cloud deployment (backend API)</a:t>
            </a:r>
          </a:p>
        </p:txBody>
      </p:sp>
      <p:sp>
        <p:nvSpPr>
          <p:cNvPr id="10" name="TextBox 9"/>
          <p:cNvSpPr txBox="1"/>
          <p:nvPr/>
        </p:nvSpPr>
        <p:spPr>
          <a:xfrm>
            <a:off x="11155680" y="6446520"/>
            <a:ext cx="914400" cy="365760"/>
          </a:xfrm>
          <a:prstGeom prst="rect">
            <a:avLst/>
          </a:prstGeom>
          <a:noFill/>
        </p:spPr>
        <p:txBody>
          <a:bodyPr wrap="square"/>
          <a:lstStyle/>
          <a:p>
            <a:pPr algn="r">
              <a:lnSpc>
                <a:spcPts val="1200"/>
              </a:lnSpc>
              <a:defRPr sz="1000" b="0">
                <a:solidFill>
                  <a:srgbClr val="888888"/>
                </a:solidFill>
                <a:latin typeface="Calibri"/>
              </a:defRPr>
            </a:pPr>
            <a: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457200"/>
          </a:xfrm>
          <a:prstGeom prst="rect">
            <a:avLst/>
          </a:prstGeom>
          <a:noFill/>
        </p:spPr>
        <p:txBody>
          <a:bodyPr wrap="square"/>
          <a:lstStyle/>
          <a:p>
            <a:pPr algn="l">
              <a:lnSpc>
                <a:spcPts val="1600"/>
              </a:lnSpc>
              <a:defRPr sz="1400" b="1">
                <a:solidFill>
                  <a:srgbClr val="2D3A4A"/>
                </a:solidFill>
                <a:latin typeface="Calibri"/>
              </a:defRPr>
            </a:pPr>
            <a:r>
              <a:t>SECURITY &amp; PRIVACY</a:t>
            </a:r>
          </a:p>
        </p:txBody>
      </p:sp>
      <p:sp>
        <p:nvSpPr>
          <p:cNvPr id="4" name="TextBox 3"/>
          <p:cNvSpPr txBox="1"/>
          <p:nvPr/>
        </p:nvSpPr>
        <p:spPr>
          <a:xfrm>
            <a:off x="731520" y="822960"/>
            <a:ext cx="10058400" cy="731520"/>
          </a:xfrm>
          <a:prstGeom prst="rect">
            <a:avLst/>
          </a:prstGeom>
          <a:noFill/>
        </p:spPr>
        <p:txBody>
          <a:bodyPr wrap="square"/>
          <a:lstStyle/>
          <a:p>
            <a:pPr algn="l">
              <a:lnSpc>
                <a:spcPts val="4500"/>
              </a:lnSpc>
              <a:defRPr sz="3800" b="1">
                <a:solidFill>
                  <a:srgbClr val="2D3A4A"/>
                </a:solidFill>
                <a:latin typeface="Calibri Light"/>
              </a:defRPr>
            </a:pPr>
            <a:r>
              <a:t>Protecting the Most Sensitive Data</a:t>
            </a:r>
          </a:p>
        </p:txBody>
      </p:sp>
      <p:sp>
        <p:nvSpPr>
          <p:cNvPr id="5" name="Rectangle 4"/>
          <p:cNvSpPr/>
          <p:nvPr/>
        </p:nvSpPr>
        <p:spPr>
          <a:xfrm>
            <a:off x="731520" y="1508760"/>
            <a:ext cx="1828800" cy="38100"/>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28800"/>
            <a:ext cx="10058400" cy="640080"/>
          </a:xfrm>
          <a:prstGeom prst="rect">
            <a:avLst/>
          </a:prstGeom>
          <a:noFill/>
        </p:spPr>
        <p:txBody>
          <a:bodyPr wrap="square"/>
          <a:lstStyle/>
          <a:p>
            <a:pPr algn="l">
              <a:lnSpc>
                <a:spcPts val="1900"/>
              </a:lnSpc>
              <a:defRPr sz="1600" b="0">
                <a:solidFill>
                  <a:srgbClr val="555F6D"/>
                </a:solidFill>
                <a:latin typeface="Calibri"/>
              </a:defRPr>
            </a:pPr>
            <a:r>
              <a:t>This system handles data about minors who are abuse survivors.</a:t>
            </a:r>
            <a:br/>
            <a:r>
              <a:t>Privacy and data protection aren't optional -- they're foundational.</a:t>
            </a:r>
          </a:p>
        </p:txBody>
      </p:sp>
      <p:sp>
        <p:nvSpPr>
          <p:cNvPr id="7" name="Rounded Rectangle 6"/>
          <p:cNvSpPr/>
          <p:nvPr/>
        </p:nvSpPr>
        <p:spPr>
          <a:xfrm>
            <a:off x="731520" y="2651760"/>
            <a:ext cx="3291840" cy="3657600"/>
          </a:xfrm>
          <a:prstGeom prst="round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2651760"/>
            <a:ext cx="3291840" cy="54864"/>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926080"/>
            <a:ext cx="2743200" cy="365760"/>
          </a:xfrm>
          <a:prstGeom prst="rect">
            <a:avLst/>
          </a:prstGeom>
          <a:noFill/>
        </p:spPr>
        <p:txBody>
          <a:bodyPr wrap="square"/>
          <a:lstStyle/>
          <a:p>
            <a:pPr algn="l">
              <a:lnSpc>
                <a:spcPts val="1900"/>
              </a:lnSpc>
              <a:defRPr sz="1600" b="1">
                <a:solidFill>
                  <a:srgbClr val="2D3A4A"/>
                </a:solidFill>
                <a:latin typeface="Calibri"/>
              </a:defRPr>
            </a:pPr>
            <a:r>
              <a:t>Authentication &amp; Access</a:t>
            </a:r>
          </a:p>
        </p:txBody>
      </p:sp>
      <p:sp>
        <p:nvSpPr>
          <p:cNvPr id="10" name="TextBox 9"/>
          <p:cNvSpPr txBox="1"/>
          <p:nvPr/>
        </p:nvSpPr>
        <p:spPr>
          <a:xfrm>
            <a:off x="1005840" y="3383280"/>
            <a:ext cx="2743200" cy="2743200"/>
          </a:xfrm>
          <a:prstGeom prst="rect">
            <a:avLst/>
          </a:prstGeom>
          <a:noFill/>
        </p:spPr>
        <p:txBody>
          <a:bodyPr wrap="square">
            <a:spAutoFit/>
          </a:bodyPr>
          <a:lstStyle/>
          <a:p>
            <a:pPr>
              <a:lnSpc>
                <a:spcPts val="1800"/>
              </a:lnSpc>
              <a:defRPr sz="1200">
                <a:solidFill>
                  <a:srgbClr val="555F6D"/>
                </a:solidFill>
                <a:latin typeface="Calibri"/>
              </a:defRPr>
              <a:buChar char="•"/>
              <a:buClr>
                <a:srgbClr val="2D3A4A"/>
              </a:buClr>
            </a:pPr>
            <a:r>
              <a:t>ASP.NET Identity + JWT token auth</a:t>
            </a:r>
          </a:p>
          <a:p>
            <a:pPr>
              <a:lnSpc>
                <a:spcPts val="1800"/>
              </a:lnSpc>
              <a:defRPr sz="1200">
                <a:solidFill>
                  <a:srgbClr val="555F6D"/>
                </a:solidFill>
                <a:latin typeface="Calibri"/>
              </a:defRPr>
              <a:buChar char="•"/>
              <a:buClr>
                <a:srgbClr val="2D3A4A"/>
              </a:buClr>
            </a:pPr>
            <a:r>
              <a:t>Google OAuth third-party login</a:t>
            </a:r>
          </a:p>
          <a:p>
            <a:pPr>
              <a:lnSpc>
                <a:spcPts val="1800"/>
              </a:lnSpc>
              <a:defRPr sz="1200">
                <a:solidFill>
                  <a:srgbClr val="555F6D"/>
                </a:solidFill>
                <a:latin typeface="Calibri"/>
              </a:defRPr>
              <a:buChar char="•"/>
              <a:buClr>
                <a:srgbClr val="2D3A4A"/>
              </a:buClr>
            </a:pPr>
            <a:r>
              <a:t>Multi-Factor Authentication (TOTP app)</a:t>
            </a:r>
          </a:p>
          <a:p>
            <a:pPr>
              <a:lnSpc>
                <a:spcPts val="1800"/>
              </a:lnSpc>
              <a:defRPr sz="1200">
                <a:solidFill>
                  <a:srgbClr val="555F6D"/>
                </a:solidFill>
                <a:latin typeface="Calibri"/>
              </a:defRPr>
              <a:buChar char="•"/>
              <a:buClr>
                <a:srgbClr val="2D3A4A"/>
              </a:buClr>
            </a:pPr>
            <a:r>
              <a:t>Custom password policy (class spec)</a:t>
            </a:r>
          </a:p>
          <a:p>
            <a:pPr>
              <a:lnSpc>
                <a:spcPts val="1800"/>
              </a:lnSpc>
              <a:defRPr sz="1200">
                <a:solidFill>
                  <a:srgbClr val="555F6D"/>
                </a:solidFill>
                <a:latin typeface="Calibri"/>
              </a:defRPr>
              <a:buChar char="•"/>
              <a:buClr>
                <a:srgbClr val="2D3A4A"/>
              </a:buClr>
            </a:pPr>
            <a:r>
              <a:t>Role-Based Access Control (Admin / Donor / Public)</a:t>
            </a:r>
          </a:p>
          <a:p>
            <a:pPr>
              <a:lnSpc>
                <a:spcPts val="1800"/>
              </a:lnSpc>
              <a:defRPr sz="1200">
                <a:solidFill>
                  <a:srgbClr val="555F6D"/>
                </a:solidFill>
                <a:latin typeface="Calibri"/>
              </a:defRPr>
              <a:buChar char="•"/>
              <a:buClr>
                <a:srgbClr val="2D3A4A"/>
              </a:buClr>
            </a:pPr>
            <a:r>
              <a:t>All CUD endpoints require Admin role</a:t>
            </a:r>
          </a:p>
          <a:p>
            <a:pPr>
              <a:lnSpc>
                <a:spcPts val="1800"/>
              </a:lnSpc>
              <a:defRPr sz="1200">
                <a:solidFill>
                  <a:srgbClr val="555F6D"/>
                </a:solidFill>
                <a:latin typeface="Calibri"/>
              </a:defRPr>
              <a:buChar char="•"/>
              <a:buClr>
                <a:srgbClr val="2D3A4A"/>
              </a:buClr>
            </a:pPr>
            <a:r>
              <a:t>Delete confirmation on every destructive action</a:t>
            </a:r>
          </a:p>
        </p:txBody>
      </p:sp>
      <p:sp>
        <p:nvSpPr>
          <p:cNvPr id="11" name="Rounded Rectangle 10"/>
          <p:cNvSpPr/>
          <p:nvPr/>
        </p:nvSpPr>
        <p:spPr>
          <a:xfrm>
            <a:off x="4389120" y="2651760"/>
            <a:ext cx="3291840" cy="3657600"/>
          </a:xfrm>
          <a:prstGeom prst="round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0" y="2651760"/>
            <a:ext cx="3291840" cy="54864"/>
          </a:xfrm>
          <a:prstGeom prst="rect">
            <a:avLst/>
          </a:prstGeom>
          <a:solidFill>
            <a:srgbClr val="5E8C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63440" y="2926080"/>
            <a:ext cx="2743200" cy="365760"/>
          </a:xfrm>
          <a:prstGeom prst="rect">
            <a:avLst/>
          </a:prstGeom>
          <a:noFill/>
        </p:spPr>
        <p:txBody>
          <a:bodyPr wrap="square"/>
          <a:lstStyle/>
          <a:p>
            <a:pPr algn="l">
              <a:lnSpc>
                <a:spcPts val="1900"/>
              </a:lnSpc>
              <a:defRPr sz="1600" b="1">
                <a:solidFill>
                  <a:srgbClr val="5E8C5E"/>
                </a:solidFill>
                <a:latin typeface="Calibri"/>
              </a:defRPr>
            </a:pPr>
            <a:r>
              <a:t>Privacy &amp; Compliance</a:t>
            </a:r>
          </a:p>
        </p:txBody>
      </p:sp>
      <p:sp>
        <p:nvSpPr>
          <p:cNvPr id="14" name="TextBox 13"/>
          <p:cNvSpPr txBox="1"/>
          <p:nvPr/>
        </p:nvSpPr>
        <p:spPr>
          <a:xfrm>
            <a:off x="4663440" y="3383280"/>
            <a:ext cx="2743200" cy="2743200"/>
          </a:xfrm>
          <a:prstGeom prst="rect">
            <a:avLst/>
          </a:prstGeom>
          <a:noFill/>
        </p:spPr>
        <p:txBody>
          <a:bodyPr wrap="square">
            <a:spAutoFit/>
          </a:bodyPr>
          <a:lstStyle/>
          <a:p>
            <a:pPr>
              <a:lnSpc>
                <a:spcPts val="1800"/>
              </a:lnSpc>
              <a:defRPr sz="1200">
                <a:solidFill>
                  <a:srgbClr val="555F6D"/>
                </a:solidFill>
                <a:latin typeface="Calibri"/>
              </a:defRPr>
              <a:buChar char="•"/>
              <a:buClr>
                <a:srgbClr val="5E8C5E"/>
              </a:buClr>
            </a:pPr>
            <a:r>
              <a:t>GDPR-compliant privacy policy (customized)</a:t>
            </a:r>
          </a:p>
          <a:p>
            <a:pPr>
              <a:lnSpc>
                <a:spcPts val="1800"/>
              </a:lnSpc>
              <a:defRPr sz="1200">
                <a:solidFill>
                  <a:srgbClr val="555F6D"/>
                </a:solidFill>
                <a:latin typeface="Calibri"/>
              </a:defRPr>
              <a:buChar char="•"/>
              <a:buClr>
                <a:srgbClr val="5E8C5E"/>
              </a:buClr>
            </a:pPr>
            <a:r>
              <a:t>Functional GDPR cookie consent banner</a:t>
            </a:r>
          </a:p>
          <a:p>
            <a:pPr>
              <a:lnSpc>
                <a:spcPts val="1800"/>
              </a:lnSpc>
              <a:defRPr sz="1200">
                <a:solidFill>
                  <a:srgbClr val="555F6D"/>
                </a:solidFill>
                <a:latin typeface="Calibri"/>
              </a:defRPr>
              <a:buChar char="•"/>
              <a:buClr>
                <a:srgbClr val="5E8C5E"/>
              </a:buClr>
            </a:pPr>
            <a:r>
              <a:t>Browser-accessible cookie for user preferences</a:t>
            </a:r>
          </a:p>
          <a:p>
            <a:pPr>
              <a:lnSpc>
                <a:spcPts val="1800"/>
              </a:lnSpc>
              <a:defRPr sz="1200">
                <a:solidFill>
                  <a:srgbClr val="555F6D"/>
                </a:solidFill>
                <a:latin typeface="Calibri"/>
              </a:defRPr>
              <a:buChar char="•"/>
              <a:buClr>
                <a:srgbClr val="5E8C5E"/>
              </a:buClr>
            </a:pPr>
            <a:r>
              <a:t>Language and currency preferences saved</a:t>
            </a:r>
          </a:p>
          <a:p>
            <a:pPr>
              <a:lnSpc>
                <a:spcPts val="1800"/>
              </a:lnSpc>
              <a:defRPr sz="1200">
                <a:solidFill>
                  <a:srgbClr val="555F6D"/>
                </a:solidFill>
                <a:latin typeface="Calibri"/>
              </a:defRPr>
              <a:buChar char="•"/>
              <a:buClr>
                <a:srgbClr val="5E8C5E"/>
              </a:buClr>
            </a:pPr>
            <a:r>
              <a:t>Dark/light mode via cookie (nd_theme)</a:t>
            </a:r>
          </a:p>
          <a:p>
            <a:pPr>
              <a:lnSpc>
                <a:spcPts val="1800"/>
              </a:lnSpc>
              <a:defRPr sz="1200">
                <a:solidFill>
                  <a:srgbClr val="555F6D"/>
                </a:solidFill>
                <a:latin typeface="Calibri"/>
              </a:defRPr>
              <a:buChar char="•"/>
              <a:buClr>
                <a:srgbClr val="5E8C5E"/>
              </a:buClr>
            </a:pPr>
            <a:r>
              <a:t>Data sanitization on all inputs</a:t>
            </a:r>
          </a:p>
          <a:p>
            <a:pPr>
              <a:lnSpc>
                <a:spcPts val="1800"/>
              </a:lnSpc>
              <a:defRPr sz="1200">
                <a:solidFill>
                  <a:srgbClr val="555F6D"/>
                </a:solidFill>
                <a:latin typeface="Calibri"/>
              </a:defRPr>
              <a:buChar char="•"/>
              <a:buClr>
                <a:srgbClr val="5E8C5E"/>
              </a:buClr>
            </a:pPr>
            <a:r>
              <a:t>Credentials stored in env vars, not in repo</a:t>
            </a:r>
          </a:p>
        </p:txBody>
      </p:sp>
      <p:sp>
        <p:nvSpPr>
          <p:cNvPr id="15" name="Rounded Rectangle 14"/>
          <p:cNvSpPr/>
          <p:nvPr/>
        </p:nvSpPr>
        <p:spPr>
          <a:xfrm>
            <a:off x="8046720" y="2651760"/>
            <a:ext cx="3291840" cy="3657600"/>
          </a:xfrm>
          <a:prstGeom prst="round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46720" y="2651760"/>
            <a:ext cx="3291840" cy="54864"/>
          </a:xfrm>
          <a:prstGeom prst="rect">
            <a:avLst/>
          </a:prstGeom>
          <a:solidFill>
            <a:srgbClr val="6AA8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2926080"/>
            <a:ext cx="2743200" cy="365760"/>
          </a:xfrm>
          <a:prstGeom prst="rect">
            <a:avLst/>
          </a:prstGeom>
          <a:noFill/>
        </p:spPr>
        <p:txBody>
          <a:bodyPr wrap="square"/>
          <a:lstStyle/>
          <a:p>
            <a:pPr algn="l">
              <a:lnSpc>
                <a:spcPts val="1900"/>
              </a:lnSpc>
              <a:defRPr sz="1600" b="1">
                <a:solidFill>
                  <a:srgbClr val="6AA8CB"/>
                </a:solidFill>
                <a:latin typeface="Calibri"/>
              </a:defRPr>
            </a:pPr>
            <a:r>
              <a:t>Infrastructure</a:t>
            </a:r>
          </a:p>
        </p:txBody>
      </p:sp>
      <p:sp>
        <p:nvSpPr>
          <p:cNvPr id="18" name="TextBox 17"/>
          <p:cNvSpPr txBox="1"/>
          <p:nvPr/>
        </p:nvSpPr>
        <p:spPr>
          <a:xfrm>
            <a:off x="8321040" y="3383280"/>
            <a:ext cx="2743200" cy="2743200"/>
          </a:xfrm>
          <a:prstGeom prst="rect">
            <a:avLst/>
          </a:prstGeom>
          <a:noFill/>
        </p:spPr>
        <p:txBody>
          <a:bodyPr wrap="square">
            <a:spAutoFit/>
          </a:bodyPr>
          <a:lstStyle/>
          <a:p>
            <a:pPr>
              <a:lnSpc>
                <a:spcPts val="1800"/>
              </a:lnSpc>
              <a:defRPr sz="1200">
                <a:solidFill>
                  <a:srgbClr val="555F6D"/>
                </a:solidFill>
                <a:latin typeface="Calibri"/>
              </a:defRPr>
              <a:buChar char="•"/>
              <a:buClr>
                <a:srgbClr val="6AA8CB"/>
              </a:buClr>
            </a:pPr>
            <a:r>
              <a:t>HTTPS/TLS encryption on all connections</a:t>
            </a:r>
          </a:p>
          <a:p>
            <a:pPr>
              <a:lnSpc>
                <a:spcPts val="1800"/>
              </a:lnSpc>
              <a:defRPr sz="1200">
                <a:solidFill>
                  <a:srgbClr val="555F6D"/>
                </a:solidFill>
                <a:latin typeface="Calibri"/>
              </a:defRPr>
              <a:buChar char="•"/>
              <a:buClr>
                <a:srgbClr val="6AA8CB"/>
              </a:buClr>
            </a:pPr>
            <a:r>
              <a:t>HTTP to HTTPS redirect enforced</a:t>
            </a:r>
          </a:p>
          <a:p>
            <a:pPr>
              <a:lnSpc>
                <a:spcPts val="1800"/>
              </a:lnSpc>
              <a:defRPr sz="1200">
                <a:solidFill>
                  <a:srgbClr val="555F6D"/>
                </a:solidFill>
                <a:latin typeface="Calibri"/>
              </a:defRPr>
              <a:buChar char="•"/>
              <a:buClr>
                <a:srgbClr val="6AA8CB"/>
              </a:buClr>
            </a:pPr>
            <a:r>
              <a:t>HSTS (HTTP Strict Transport Security)</a:t>
            </a:r>
          </a:p>
          <a:p>
            <a:pPr>
              <a:lnSpc>
                <a:spcPts val="1800"/>
              </a:lnSpc>
              <a:defRPr sz="1200">
                <a:solidFill>
                  <a:srgbClr val="555F6D"/>
                </a:solidFill>
                <a:latin typeface="Calibri"/>
              </a:defRPr>
              <a:buChar char="•"/>
              <a:buClr>
                <a:srgbClr val="6AA8CB"/>
              </a:buClr>
            </a:pPr>
            <a:r>
              <a:t>Content-Security-Policy header via middleware</a:t>
            </a:r>
          </a:p>
          <a:p>
            <a:pPr>
              <a:lnSpc>
                <a:spcPts val="1800"/>
              </a:lnSpc>
              <a:defRPr sz="1200">
                <a:solidFill>
                  <a:srgbClr val="555F6D"/>
                </a:solidFill>
                <a:latin typeface="Calibri"/>
              </a:defRPr>
              <a:buChar char="•"/>
              <a:buClr>
                <a:srgbClr val="6AA8CB"/>
              </a:buClr>
            </a:pPr>
            <a:r>
              <a:t>Real DBMS (PostgreSQL) for identity store</a:t>
            </a:r>
          </a:p>
          <a:p>
            <a:pPr>
              <a:lnSpc>
                <a:spcPts val="1800"/>
              </a:lnSpc>
              <a:defRPr sz="1200">
                <a:solidFill>
                  <a:srgbClr val="555F6D"/>
                </a:solidFill>
                <a:latin typeface="Calibri"/>
              </a:defRPr>
              <a:buChar char="•"/>
              <a:buClr>
                <a:srgbClr val="6AA8CB"/>
              </a:buClr>
            </a:pPr>
            <a:r>
              <a:t>Deployed publicly on cloud infrastructure</a:t>
            </a:r>
          </a:p>
          <a:p>
            <a:pPr>
              <a:lnSpc>
                <a:spcPts val="1800"/>
              </a:lnSpc>
              <a:defRPr sz="1200">
                <a:solidFill>
                  <a:srgbClr val="555F6D"/>
                </a:solidFill>
                <a:latin typeface="Calibri"/>
              </a:defRPr>
              <a:buChar char="•"/>
              <a:buClr>
                <a:srgbClr val="6AA8CB"/>
              </a:buClr>
            </a:pPr>
            <a:r>
              <a:t>Sensitive endpoints require authentication</a:t>
            </a:r>
          </a:p>
        </p:txBody>
      </p:sp>
      <p:sp>
        <p:nvSpPr>
          <p:cNvPr id="19" name="TextBox 18"/>
          <p:cNvSpPr txBox="1"/>
          <p:nvPr/>
        </p:nvSpPr>
        <p:spPr>
          <a:xfrm>
            <a:off x="11155680" y="6446520"/>
            <a:ext cx="914400" cy="365760"/>
          </a:xfrm>
          <a:prstGeom prst="rect">
            <a:avLst/>
          </a:prstGeom>
          <a:noFill/>
        </p:spPr>
        <p:txBody>
          <a:bodyPr wrap="square"/>
          <a:lstStyle/>
          <a:p>
            <a:pPr algn="r">
              <a:lnSpc>
                <a:spcPts val="1200"/>
              </a:lnSpc>
              <a:defRPr sz="1000" b="0">
                <a:solidFill>
                  <a:srgbClr val="888888"/>
                </a:solidFill>
                <a:latin typeface="Calibri"/>
              </a:defRPr>
            </a:pPr>
            <a: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457200"/>
          </a:xfrm>
          <a:prstGeom prst="rect">
            <a:avLst/>
          </a:prstGeom>
          <a:noFill/>
        </p:spPr>
        <p:txBody>
          <a:bodyPr wrap="square"/>
          <a:lstStyle/>
          <a:p>
            <a:pPr algn="l">
              <a:lnSpc>
                <a:spcPts val="1600"/>
              </a:lnSpc>
              <a:defRPr sz="1400" b="1">
                <a:solidFill>
                  <a:srgbClr val="2D3A4A"/>
                </a:solidFill>
                <a:latin typeface="Calibri"/>
              </a:defRPr>
            </a:pPr>
            <a:r>
              <a:t>THE CASE FOR INVESTMENT</a:t>
            </a:r>
          </a:p>
        </p:txBody>
      </p:sp>
      <p:sp>
        <p:nvSpPr>
          <p:cNvPr id="4" name="TextBox 3"/>
          <p:cNvSpPr txBox="1"/>
          <p:nvPr/>
        </p:nvSpPr>
        <p:spPr>
          <a:xfrm>
            <a:off x="731520" y="822960"/>
            <a:ext cx="10058400" cy="731520"/>
          </a:xfrm>
          <a:prstGeom prst="rect">
            <a:avLst/>
          </a:prstGeom>
          <a:noFill/>
        </p:spPr>
        <p:txBody>
          <a:bodyPr wrap="square"/>
          <a:lstStyle/>
          <a:p>
            <a:pPr algn="l">
              <a:lnSpc>
                <a:spcPts val="4500"/>
              </a:lnSpc>
              <a:defRPr sz="3800" b="1">
                <a:solidFill>
                  <a:srgbClr val="2D3A4A"/>
                </a:solidFill>
                <a:latin typeface="Calibri Light"/>
              </a:defRPr>
            </a:pPr>
            <a:r>
              <a:t>Why New Dawn Deserves Continued Investment</a:t>
            </a:r>
          </a:p>
        </p:txBody>
      </p:sp>
      <p:sp>
        <p:nvSpPr>
          <p:cNvPr id="5" name="Rectangle 4"/>
          <p:cNvSpPr/>
          <p:nvPr/>
        </p:nvSpPr>
        <p:spPr>
          <a:xfrm>
            <a:off x="731520" y="1508760"/>
            <a:ext cx="1828800" cy="38100"/>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103120"/>
            <a:ext cx="1371600" cy="640080"/>
          </a:xfrm>
          <a:prstGeom prst="rect">
            <a:avLst/>
          </a:prstGeom>
          <a:noFill/>
        </p:spPr>
        <p:txBody>
          <a:bodyPr wrap="square"/>
          <a:lstStyle/>
          <a:p>
            <a:pPr algn="ctr">
              <a:lnSpc>
                <a:spcPts val="4300"/>
              </a:lnSpc>
              <a:defRPr sz="3600" b="1">
                <a:solidFill>
                  <a:srgbClr val="2D3A4A"/>
                </a:solidFill>
                <a:latin typeface="Calibri"/>
              </a:defRPr>
            </a:pPr>
            <a:r>
              <a:t>5</a:t>
            </a:r>
          </a:p>
        </p:txBody>
      </p:sp>
      <p:sp>
        <p:nvSpPr>
          <p:cNvPr id="7" name="TextBox 6"/>
          <p:cNvSpPr txBox="1"/>
          <p:nvPr/>
        </p:nvSpPr>
        <p:spPr>
          <a:xfrm>
            <a:off x="731520" y="2743200"/>
            <a:ext cx="1371600" cy="731520"/>
          </a:xfrm>
          <a:prstGeom prst="rect">
            <a:avLst/>
          </a:prstGeom>
          <a:noFill/>
        </p:spPr>
        <p:txBody>
          <a:bodyPr wrap="square"/>
          <a:lstStyle/>
          <a:p>
            <a:pPr algn="ctr">
              <a:lnSpc>
                <a:spcPts val="1400"/>
              </a:lnSpc>
              <a:defRPr sz="1200" b="0">
                <a:solidFill>
                  <a:srgbClr val="888888"/>
                </a:solidFill>
                <a:latin typeface="Calibri"/>
              </a:defRPr>
            </a:pPr>
            <a:r>
              <a:t>Production ML</a:t>
            </a:r>
            <a:br/>
            <a:r>
              <a:t>Pipelines</a:t>
            </a:r>
          </a:p>
        </p:txBody>
      </p:sp>
      <p:sp>
        <p:nvSpPr>
          <p:cNvPr id="8" name="TextBox 7"/>
          <p:cNvSpPr txBox="1"/>
          <p:nvPr/>
        </p:nvSpPr>
        <p:spPr>
          <a:xfrm>
            <a:off x="2286000" y="2103120"/>
            <a:ext cx="1371600" cy="640080"/>
          </a:xfrm>
          <a:prstGeom prst="rect">
            <a:avLst/>
          </a:prstGeom>
          <a:noFill/>
        </p:spPr>
        <p:txBody>
          <a:bodyPr wrap="square"/>
          <a:lstStyle/>
          <a:p>
            <a:pPr algn="ctr">
              <a:lnSpc>
                <a:spcPts val="4300"/>
              </a:lnSpc>
              <a:defRPr sz="3600" b="1">
                <a:solidFill>
                  <a:srgbClr val="2D3A4A"/>
                </a:solidFill>
                <a:latin typeface="Calibri"/>
              </a:defRPr>
            </a:pPr>
            <a:r>
              <a:t>17</a:t>
            </a:r>
          </a:p>
        </p:txBody>
      </p:sp>
      <p:sp>
        <p:nvSpPr>
          <p:cNvPr id="9" name="TextBox 8"/>
          <p:cNvSpPr txBox="1"/>
          <p:nvPr/>
        </p:nvSpPr>
        <p:spPr>
          <a:xfrm>
            <a:off x="2286000" y="2743200"/>
            <a:ext cx="1371600" cy="731520"/>
          </a:xfrm>
          <a:prstGeom prst="rect">
            <a:avLst/>
          </a:prstGeom>
          <a:noFill/>
        </p:spPr>
        <p:txBody>
          <a:bodyPr wrap="square"/>
          <a:lstStyle/>
          <a:p>
            <a:pPr algn="ctr">
              <a:lnSpc>
                <a:spcPts val="1400"/>
              </a:lnSpc>
              <a:defRPr sz="1200" b="0">
                <a:solidFill>
                  <a:srgbClr val="888888"/>
                </a:solidFill>
                <a:latin typeface="Calibri"/>
              </a:defRPr>
            </a:pPr>
            <a:r>
              <a:t>Database Tables</a:t>
            </a:r>
            <a:br/>
            <a:r>
              <a:t>Seeded</a:t>
            </a:r>
          </a:p>
        </p:txBody>
      </p:sp>
      <p:sp>
        <p:nvSpPr>
          <p:cNvPr id="10" name="TextBox 9"/>
          <p:cNvSpPr txBox="1"/>
          <p:nvPr/>
        </p:nvSpPr>
        <p:spPr>
          <a:xfrm>
            <a:off x="3840480" y="2103120"/>
            <a:ext cx="1371600" cy="640080"/>
          </a:xfrm>
          <a:prstGeom prst="rect">
            <a:avLst/>
          </a:prstGeom>
          <a:noFill/>
        </p:spPr>
        <p:txBody>
          <a:bodyPr wrap="square"/>
          <a:lstStyle/>
          <a:p>
            <a:pPr algn="ctr">
              <a:lnSpc>
                <a:spcPts val="4300"/>
              </a:lnSpc>
              <a:defRPr sz="3600" b="1">
                <a:solidFill>
                  <a:srgbClr val="2D3A4A"/>
                </a:solidFill>
                <a:latin typeface="Calibri"/>
              </a:defRPr>
            </a:pPr>
            <a:r>
              <a:t>60+</a:t>
            </a:r>
          </a:p>
        </p:txBody>
      </p:sp>
      <p:sp>
        <p:nvSpPr>
          <p:cNvPr id="11" name="TextBox 10"/>
          <p:cNvSpPr txBox="1"/>
          <p:nvPr/>
        </p:nvSpPr>
        <p:spPr>
          <a:xfrm>
            <a:off x="3840480" y="2743200"/>
            <a:ext cx="1371600" cy="731520"/>
          </a:xfrm>
          <a:prstGeom prst="rect">
            <a:avLst/>
          </a:prstGeom>
          <a:noFill/>
        </p:spPr>
        <p:txBody>
          <a:bodyPr wrap="square"/>
          <a:lstStyle/>
          <a:p>
            <a:pPr algn="ctr">
              <a:lnSpc>
                <a:spcPts val="1400"/>
              </a:lnSpc>
              <a:defRPr sz="1200" b="0">
                <a:solidFill>
                  <a:srgbClr val="888888"/>
                </a:solidFill>
                <a:latin typeface="Calibri"/>
              </a:defRPr>
            </a:pPr>
            <a:r>
              <a:t>Residents</a:t>
            </a:r>
            <a:br/>
            <a:r>
              <a:t>Managed</a:t>
            </a:r>
          </a:p>
        </p:txBody>
      </p:sp>
      <p:sp>
        <p:nvSpPr>
          <p:cNvPr id="12" name="TextBox 11"/>
          <p:cNvSpPr txBox="1"/>
          <p:nvPr/>
        </p:nvSpPr>
        <p:spPr>
          <a:xfrm>
            <a:off x="5394960" y="2103120"/>
            <a:ext cx="1371600" cy="640080"/>
          </a:xfrm>
          <a:prstGeom prst="rect">
            <a:avLst/>
          </a:prstGeom>
          <a:noFill/>
        </p:spPr>
        <p:txBody>
          <a:bodyPr wrap="square"/>
          <a:lstStyle/>
          <a:p>
            <a:pPr algn="ctr">
              <a:lnSpc>
                <a:spcPts val="4300"/>
              </a:lnSpc>
              <a:defRPr sz="3600" b="1">
                <a:solidFill>
                  <a:srgbClr val="2D3A4A"/>
                </a:solidFill>
                <a:latin typeface="Calibri"/>
              </a:defRPr>
            </a:pPr>
            <a:r>
              <a:t>6</a:t>
            </a:r>
          </a:p>
        </p:txBody>
      </p:sp>
      <p:sp>
        <p:nvSpPr>
          <p:cNvPr id="13" name="TextBox 12"/>
          <p:cNvSpPr txBox="1"/>
          <p:nvPr/>
        </p:nvSpPr>
        <p:spPr>
          <a:xfrm>
            <a:off x="5394960" y="2743200"/>
            <a:ext cx="1371600" cy="731520"/>
          </a:xfrm>
          <a:prstGeom prst="rect">
            <a:avLst/>
          </a:prstGeom>
          <a:noFill/>
        </p:spPr>
        <p:txBody>
          <a:bodyPr wrap="square"/>
          <a:lstStyle/>
          <a:p>
            <a:pPr algn="ctr">
              <a:lnSpc>
                <a:spcPts val="1400"/>
              </a:lnSpc>
              <a:defRPr sz="1200" b="0">
                <a:solidFill>
                  <a:srgbClr val="888888"/>
                </a:solidFill>
                <a:latin typeface="Calibri"/>
              </a:defRPr>
            </a:pPr>
            <a:r>
              <a:t>Social Platforms</a:t>
            </a:r>
            <a:br/>
            <a:r>
              <a:t>Supported</a:t>
            </a:r>
          </a:p>
        </p:txBody>
      </p:sp>
      <p:sp>
        <p:nvSpPr>
          <p:cNvPr id="14" name="TextBox 13"/>
          <p:cNvSpPr txBox="1"/>
          <p:nvPr/>
        </p:nvSpPr>
        <p:spPr>
          <a:xfrm>
            <a:off x="6583680" y="1920240"/>
            <a:ext cx="4572000" cy="457200"/>
          </a:xfrm>
          <a:prstGeom prst="rect">
            <a:avLst/>
          </a:prstGeom>
          <a:noFill/>
        </p:spPr>
        <p:txBody>
          <a:bodyPr wrap="square"/>
          <a:lstStyle/>
          <a:p>
            <a:pPr algn="l">
              <a:lnSpc>
                <a:spcPts val="2100"/>
              </a:lnSpc>
              <a:defRPr sz="1800" b="1">
                <a:solidFill>
                  <a:srgbClr val="2D3A4A"/>
                </a:solidFill>
                <a:latin typeface="Calibri"/>
              </a:defRPr>
            </a:pPr>
            <a:r>
              <a:t>Value Delivered</a:t>
            </a:r>
          </a:p>
        </p:txBody>
      </p:sp>
      <p:sp>
        <p:nvSpPr>
          <p:cNvPr id="15" name="TextBox 14"/>
          <p:cNvSpPr txBox="1"/>
          <p:nvPr/>
        </p:nvSpPr>
        <p:spPr>
          <a:xfrm>
            <a:off x="6583680" y="2377440"/>
            <a:ext cx="5029200" cy="3200400"/>
          </a:xfrm>
          <a:prstGeom prst="rect">
            <a:avLst/>
          </a:prstGeom>
          <a:noFill/>
        </p:spPr>
        <p:txBody>
          <a:bodyPr wrap="square">
            <a:spAutoFit/>
          </a:bodyPr>
          <a:lstStyle/>
          <a:p>
            <a:pPr>
              <a:lnSpc>
                <a:spcPts val="1900"/>
              </a:lnSpc>
              <a:defRPr sz="1300">
                <a:solidFill>
                  <a:srgbClr val="555F6D"/>
                </a:solidFill>
                <a:latin typeface="Calibri"/>
              </a:defRPr>
              <a:buChar char="•"/>
              <a:buClr>
                <a:srgbClr val="2D3A4A"/>
              </a:buClr>
            </a:pPr>
            <a:r>
              <a:t>Replaces manual risk tracking with ML-powered early warning</a:t>
            </a:r>
          </a:p>
          <a:p>
            <a:pPr>
              <a:lnSpc>
                <a:spcPts val="1900"/>
              </a:lnSpc>
              <a:defRPr sz="1300">
                <a:solidFill>
                  <a:srgbClr val="555F6D"/>
                </a:solidFill>
                <a:latin typeface="Calibri"/>
              </a:defRPr>
              <a:buChar char="•"/>
              <a:buClr>
                <a:srgbClr val="2D3A4A"/>
              </a:buClr>
            </a:pPr>
            <a:r>
              <a:t>Eliminates guesswork from social media with real-time predictions</a:t>
            </a:r>
          </a:p>
          <a:p>
            <a:pPr>
              <a:lnSpc>
                <a:spcPts val="1900"/>
              </a:lnSpc>
              <a:defRPr sz="1300">
                <a:solidFill>
                  <a:srgbClr val="555F6D"/>
                </a:solidFill>
                <a:latin typeface="Calibri"/>
              </a:defRPr>
              <a:buChar char="•"/>
              <a:buClr>
                <a:srgbClr val="2D3A4A"/>
              </a:buClr>
            </a:pPr>
            <a:r>
              <a:t>Predicts donor lapse before it happens for proactive retention</a:t>
            </a:r>
          </a:p>
          <a:p>
            <a:pPr>
              <a:lnSpc>
                <a:spcPts val="1900"/>
              </a:lnSpc>
              <a:defRPr sz="1300">
                <a:solidFill>
                  <a:srgbClr val="555F6D"/>
                </a:solidFill>
                <a:latin typeface="Calibri"/>
              </a:defRPr>
              <a:buChar char="•"/>
              <a:buClr>
                <a:srgbClr val="2D3A4A"/>
              </a:buClr>
            </a:pPr>
            <a:r>
              <a:t>Full case lifecycle management in one place for limited staff</a:t>
            </a:r>
          </a:p>
          <a:p>
            <a:pPr>
              <a:lnSpc>
                <a:spcPts val="1900"/>
              </a:lnSpc>
              <a:defRPr sz="1300">
                <a:solidFill>
                  <a:srgbClr val="555F6D"/>
                </a:solidFill>
                <a:latin typeface="Calibri"/>
              </a:defRPr>
              <a:buChar char="•"/>
              <a:buClr>
                <a:srgbClr val="2D3A4A"/>
              </a:buClr>
            </a:pPr>
            <a:r>
              <a:t>Language and currency preferences for international donors</a:t>
            </a:r>
          </a:p>
          <a:p>
            <a:pPr>
              <a:lnSpc>
                <a:spcPts val="1900"/>
              </a:lnSpc>
              <a:defRPr sz="1300">
                <a:solidFill>
                  <a:srgbClr val="555F6D"/>
                </a:solidFill>
                <a:latin typeface="Calibri"/>
              </a:defRPr>
              <a:buChar char="•"/>
              <a:buClr>
                <a:srgbClr val="2D3A4A"/>
              </a:buClr>
            </a:pPr>
            <a:r>
              <a:t>All pipelines refresh nightly -- the system gets smarter over time</a:t>
            </a:r>
          </a:p>
          <a:p>
            <a:pPr>
              <a:lnSpc>
                <a:spcPts val="1900"/>
              </a:lnSpc>
              <a:defRPr sz="1300">
                <a:solidFill>
                  <a:srgbClr val="555F6D"/>
                </a:solidFill>
                <a:latin typeface="Calibri"/>
              </a:defRPr>
              <a:buChar char="•"/>
              <a:buClr>
                <a:srgbClr val="2D3A4A"/>
              </a:buClr>
            </a:pPr>
            <a:r>
              <a:t>Enterprise-grade security for the most sensitive data</a:t>
            </a:r>
          </a:p>
        </p:txBody>
      </p:sp>
      <p:sp>
        <p:nvSpPr>
          <p:cNvPr id="16" name="TextBox 15"/>
          <p:cNvSpPr txBox="1"/>
          <p:nvPr/>
        </p:nvSpPr>
        <p:spPr>
          <a:xfrm>
            <a:off x="731520" y="5303520"/>
            <a:ext cx="10515600" cy="731520"/>
          </a:xfrm>
          <a:prstGeom prst="rect">
            <a:avLst/>
          </a:prstGeom>
          <a:noFill/>
        </p:spPr>
        <p:txBody>
          <a:bodyPr wrap="square"/>
          <a:lstStyle/>
          <a:p>
            <a:pPr algn="ctr">
              <a:lnSpc>
                <a:spcPts val="2100"/>
              </a:lnSpc>
              <a:defRPr sz="1800" b="0">
                <a:solidFill>
                  <a:srgbClr val="6AA8CB"/>
                </a:solidFill>
                <a:latin typeface="Calibri Light"/>
              </a:defRPr>
            </a:pPr>
            <a:r>
              <a:t>"New Dawn doesn't just manage data -- it transforms data into decisions</a:t>
            </a:r>
            <a:br/>
            <a:r>
              <a:t>that protect girls and grow the mission."</a:t>
            </a:r>
          </a:p>
        </p:txBody>
      </p:sp>
      <p:sp>
        <p:nvSpPr>
          <p:cNvPr id="17" name="TextBox 16"/>
          <p:cNvSpPr txBox="1"/>
          <p:nvPr/>
        </p:nvSpPr>
        <p:spPr>
          <a:xfrm>
            <a:off x="11155680" y="6446520"/>
            <a:ext cx="914400" cy="365760"/>
          </a:xfrm>
          <a:prstGeom prst="rect">
            <a:avLst/>
          </a:prstGeom>
          <a:noFill/>
        </p:spPr>
        <p:txBody>
          <a:bodyPr wrap="square"/>
          <a:lstStyle/>
          <a:p>
            <a:pPr algn="r">
              <a:lnSpc>
                <a:spcPts val="1200"/>
              </a:lnSpc>
              <a:defRPr sz="1000" b="0">
                <a:solidFill>
                  <a:srgbClr val="888888"/>
                </a:solidFill>
                <a:latin typeface="Calibri"/>
              </a:defRPr>
            </a:pPr>
            <a: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144000" cy="1097280"/>
          </a:xfrm>
          <a:prstGeom prst="rect">
            <a:avLst/>
          </a:prstGeom>
          <a:noFill/>
        </p:spPr>
        <p:txBody>
          <a:bodyPr wrap="square"/>
          <a:lstStyle/>
          <a:p>
            <a:pPr algn="ctr">
              <a:lnSpc>
                <a:spcPts val="6700"/>
              </a:lnSpc>
              <a:defRPr sz="5600" b="1">
                <a:solidFill>
                  <a:srgbClr val="2D3A4A"/>
                </a:solidFill>
                <a:latin typeface="Calibri Light"/>
              </a:defRPr>
            </a:pPr>
            <a:r>
              <a:t>NEW DAWN</a:t>
            </a:r>
          </a:p>
        </p:txBody>
      </p:sp>
      <p:sp>
        <p:nvSpPr>
          <p:cNvPr id="4" name="Rectangle 3"/>
          <p:cNvSpPr/>
          <p:nvPr/>
        </p:nvSpPr>
        <p:spPr>
          <a:xfrm>
            <a:off x="5029200" y="2834640"/>
            <a:ext cx="2103120" cy="38100"/>
          </a:xfrm>
          <a:prstGeom prst="rect">
            <a:avLst/>
          </a:prstGeom>
          <a:solidFill>
            <a:srgbClr val="E6A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3108960"/>
            <a:ext cx="9144000" cy="731520"/>
          </a:xfrm>
          <a:prstGeom prst="rect">
            <a:avLst/>
          </a:prstGeom>
          <a:noFill/>
        </p:spPr>
        <p:txBody>
          <a:bodyPr wrap="square"/>
          <a:lstStyle/>
          <a:p>
            <a:pPr algn="ctr">
              <a:lnSpc>
                <a:spcPts val="3300"/>
              </a:lnSpc>
              <a:defRPr sz="2800" b="0">
                <a:solidFill>
                  <a:srgbClr val="6AA8CB"/>
                </a:solidFill>
                <a:latin typeface="Calibri Light"/>
              </a:defRPr>
            </a:pPr>
            <a:r>
              <a:t>A Path to Healing and Hope</a:t>
            </a:r>
          </a:p>
        </p:txBody>
      </p:sp>
      <p:sp>
        <p:nvSpPr>
          <p:cNvPr id="6" name="TextBox 5"/>
          <p:cNvSpPr txBox="1"/>
          <p:nvPr/>
        </p:nvSpPr>
        <p:spPr>
          <a:xfrm>
            <a:off x="1371600" y="4206240"/>
            <a:ext cx="9144000" cy="731520"/>
          </a:xfrm>
          <a:prstGeom prst="rect">
            <a:avLst/>
          </a:prstGeom>
          <a:noFill/>
        </p:spPr>
        <p:txBody>
          <a:bodyPr wrap="square"/>
          <a:lstStyle/>
          <a:p>
            <a:pPr algn="ctr">
              <a:lnSpc>
                <a:spcPts val="2800"/>
              </a:lnSpc>
              <a:defRPr sz="2400" b="1">
                <a:solidFill>
                  <a:srgbClr val="2D3A4A"/>
                </a:solidFill>
                <a:latin typeface="Calibri"/>
              </a:defRPr>
            </a:pPr>
            <a:r>
              <a:t>Thank You  |  Questions?</a:t>
            </a:r>
          </a:p>
        </p:txBody>
      </p:sp>
      <p:sp>
        <p:nvSpPr>
          <p:cNvPr id="7" name="TextBox 6"/>
          <p:cNvSpPr txBox="1"/>
          <p:nvPr/>
        </p:nvSpPr>
        <p:spPr>
          <a:xfrm>
            <a:off x="1371600" y="5029200"/>
            <a:ext cx="9144000" cy="457200"/>
          </a:xfrm>
          <a:prstGeom prst="rect">
            <a:avLst/>
          </a:prstGeom>
          <a:noFill/>
        </p:spPr>
        <p:txBody>
          <a:bodyPr wrap="square"/>
          <a:lstStyle/>
          <a:p>
            <a:pPr algn="ctr">
              <a:lnSpc>
                <a:spcPts val="2100"/>
              </a:lnSpc>
              <a:defRPr sz="1800" b="0">
                <a:solidFill>
                  <a:srgbClr val="888888"/>
                </a:solidFill>
                <a:latin typeface="Calibri"/>
              </a:defRPr>
            </a:pPr>
            <a:r>
              <a:t>new-dawn-virid.vercel.app</a:t>
            </a:r>
          </a:p>
        </p:txBody>
      </p:sp>
      <p:sp>
        <p:nvSpPr>
          <p:cNvPr id="8" name="TextBox 7"/>
          <p:cNvSpPr txBox="1"/>
          <p:nvPr/>
        </p:nvSpPr>
        <p:spPr>
          <a:xfrm>
            <a:off x="1371600" y="5577840"/>
            <a:ext cx="9144000" cy="731520"/>
          </a:xfrm>
          <a:prstGeom prst="rect">
            <a:avLst/>
          </a:prstGeom>
          <a:noFill/>
        </p:spPr>
        <p:txBody>
          <a:bodyPr wrap="square"/>
          <a:lstStyle/>
          <a:p>
            <a:pPr algn="ctr">
              <a:lnSpc>
                <a:spcPts val="1600"/>
              </a:lnSpc>
              <a:defRPr sz="1400" b="0">
                <a:solidFill>
                  <a:srgbClr val="888888"/>
                </a:solidFill>
                <a:latin typeface="Calibri"/>
              </a:defRPr>
            </a:pPr>
            <a:r>
              <a:t>Section 3  |  Group 9</a:t>
            </a:r>
            <a:br/>
            <a:r>
              <a:t>Zack Hada   |   Lincoln Lyons   |   [Team Members]</a:t>
            </a:r>
          </a:p>
        </p:txBody>
      </p:sp>
      <p:sp>
        <p:nvSpPr>
          <p:cNvPr id="9" name="TextBox 8"/>
          <p:cNvSpPr txBox="1"/>
          <p:nvPr/>
        </p:nvSpPr>
        <p:spPr>
          <a:xfrm>
            <a:off x="11155680" y="6446520"/>
            <a:ext cx="914400" cy="365760"/>
          </a:xfrm>
          <a:prstGeom prst="rect">
            <a:avLst/>
          </a:prstGeom>
          <a:noFill/>
        </p:spPr>
        <p:txBody>
          <a:bodyPr wrap="square"/>
          <a:lstStyle/>
          <a:p>
            <a:pPr algn="r">
              <a:lnSpc>
                <a:spcPts val="1200"/>
              </a:lnSpc>
              <a:defRPr sz="1000" b="0">
                <a:solidFill>
                  <a:srgbClr val="888888"/>
                </a:solidFill>
                <a:latin typeface="Calibri"/>
              </a:defRPr>
            </a:pPr>
            <a: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