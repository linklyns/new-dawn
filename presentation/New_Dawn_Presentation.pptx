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2633"/>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645920"/>
            <a:ext cx="9144000" cy="1097280"/>
          </a:xfrm>
          <a:prstGeom prst="rect">
            <a:avLst/>
          </a:prstGeom>
          <a:noFill/>
        </p:spPr>
        <p:txBody>
          <a:bodyPr wrap="square"/>
          <a:lstStyle/>
          <a:p>
            <a:pPr algn="ctr">
              <a:lnSpc>
                <a:spcPts val="7600"/>
              </a:lnSpc>
              <a:defRPr sz="6400" b="1">
                <a:solidFill>
                  <a:srgbClr val="FFFFFF"/>
                </a:solidFill>
                <a:latin typeface="Calibri Light"/>
              </a:defRPr>
            </a:pPr>
            <a:r>
              <a:t>NEW DAWN</a:t>
            </a:r>
          </a:p>
        </p:txBody>
      </p:sp>
      <p:sp>
        <p:nvSpPr>
          <p:cNvPr id="4" name="Rectangle 3"/>
          <p:cNvSpPr/>
          <p:nvPr/>
        </p:nvSpPr>
        <p:spPr>
          <a:xfrm>
            <a:off x="5029200" y="2834640"/>
            <a:ext cx="2103120" cy="38100"/>
          </a:xfrm>
          <a:prstGeom prst="rect">
            <a:avLst/>
          </a:prstGeom>
          <a:solidFill>
            <a:srgbClr val="FF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0" y="3108960"/>
            <a:ext cx="9144000" cy="731520"/>
          </a:xfrm>
          <a:prstGeom prst="rect">
            <a:avLst/>
          </a:prstGeom>
          <a:noFill/>
        </p:spPr>
        <p:txBody>
          <a:bodyPr wrap="square"/>
          <a:lstStyle/>
          <a:p>
            <a:pPr algn="ctr">
              <a:lnSpc>
                <a:spcPts val="3300"/>
              </a:lnSpc>
              <a:defRPr sz="2800" b="0">
                <a:solidFill>
                  <a:srgbClr val="A2C9E1"/>
                </a:solidFill>
                <a:latin typeface="Calibri Light"/>
              </a:defRPr>
            </a:pPr>
            <a:r>
              <a:t>A Path to Healing and Hope</a:t>
            </a:r>
          </a:p>
        </p:txBody>
      </p:sp>
      <p:sp>
        <p:nvSpPr>
          <p:cNvPr id="6" name="TextBox 5"/>
          <p:cNvSpPr txBox="1"/>
          <p:nvPr/>
        </p:nvSpPr>
        <p:spPr>
          <a:xfrm>
            <a:off x="1371600" y="4937760"/>
            <a:ext cx="9144000" cy="457200"/>
          </a:xfrm>
          <a:prstGeom prst="rect">
            <a:avLst/>
          </a:prstGeom>
          <a:noFill/>
        </p:spPr>
        <p:txBody>
          <a:bodyPr wrap="square"/>
          <a:lstStyle/>
          <a:p>
            <a:pPr algn="ctr">
              <a:lnSpc>
                <a:spcPts val="1900"/>
              </a:lnSpc>
              <a:defRPr sz="1600" b="1">
                <a:solidFill>
                  <a:srgbClr val="FFCC66"/>
                </a:solidFill>
                <a:latin typeface="Calibri"/>
              </a:defRPr>
            </a:pPr>
            <a:r>
              <a:t>Section 3  |  Group 9</a:t>
            </a:r>
          </a:p>
        </p:txBody>
      </p:sp>
      <p:sp>
        <p:nvSpPr>
          <p:cNvPr id="7" name="TextBox 6"/>
          <p:cNvSpPr txBox="1"/>
          <p:nvPr/>
        </p:nvSpPr>
        <p:spPr>
          <a:xfrm>
            <a:off x="1371600" y="5349240"/>
            <a:ext cx="9144000" cy="457200"/>
          </a:xfrm>
          <a:prstGeom prst="rect">
            <a:avLst/>
          </a:prstGeom>
          <a:noFill/>
        </p:spPr>
        <p:txBody>
          <a:bodyPr wrap="square"/>
          <a:lstStyle/>
          <a:p>
            <a:pPr algn="ctr">
              <a:lnSpc>
                <a:spcPts val="1600"/>
              </a:lnSpc>
              <a:defRPr sz="1400" b="0">
                <a:solidFill>
                  <a:srgbClr val="999999"/>
                </a:solidFill>
                <a:latin typeface="Calibri"/>
              </a:defRPr>
            </a:pPr>
            <a:r>
              <a:t>Zack Hada   |   Lincoln Lyons   |   [Team Members]</a:t>
            </a:r>
          </a:p>
        </p:txBody>
      </p:sp>
      <p:sp>
        <p:nvSpPr>
          <p:cNvPr id="8" name="TextBox 7"/>
          <p:cNvSpPr txBox="1"/>
          <p:nvPr/>
        </p:nvSpPr>
        <p:spPr>
          <a:xfrm>
            <a:off x="11155680" y="6446520"/>
            <a:ext cx="914400" cy="365760"/>
          </a:xfrm>
          <a:prstGeom prst="rect">
            <a:avLst/>
          </a:prstGeom>
          <a:noFill/>
        </p:spPr>
        <p:txBody>
          <a:bodyPr wrap="square"/>
          <a:lstStyle/>
          <a:p>
            <a:pPr algn="r">
              <a:lnSpc>
                <a:spcPts val="1200"/>
              </a:lnSpc>
              <a:defRPr sz="1000" b="0">
                <a:solidFill>
                  <a:srgbClr val="999999"/>
                </a:solidFill>
                <a:latin typeface="Calibri"/>
              </a:defRPr>
            </a:pPr>
            <a:r>
              <a:t>1 / 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A2633"/>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097280"/>
            <a:ext cx="9418320" cy="1097280"/>
          </a:xfrm>
          <a:prstGeom prst="rect">
            <a:avLst/>
          </a:prstGeom>
          <a:noFill/>
        </p:spPr>
        <p:txBody>
          <a:bodyPr wrap="square"/>
          <a:lstStyle/>
          <a:p>
            <a:pPr algn="ctr">
              <a:lnSpc>
                <a:spcPts val="4200"/>
              </a:lnSpc>
              <a:defRPr sz="2800" b="0">
                <a:solidFill>
                  <a:srgbClr val="DDDDDD"/>
                </a:solidFill>
                <a:latin typeface="Calibri Light"/>
              </a:defRPr>
            </a:pPr>
            <a:r>
              <a:t>In the Philippines, thousands of girls are survivors of</a:t>
            </a:r>
            <a:br/>
            <a:r>
              <a:t>sexual abuse and trafficking.</a:t>
            </a:r>
          </a:p>
        </p:txBody>
      </p:sp>
      <p:sp>
        <p:nvSpPr>
          <p:cNvPr id="4" name="TextBox 3"/>
          <p:cNvSpPr txBox="1"/>
          <p:nvPr/>
        </p:nvSpPr>
        <p:spPr>
          <a:xfrm>
            <a:off x="1371600" y="2377440"/>
            <a:ext cx="9418320" cy="640080"/>
          </a:xfrm>
          <a:prstGeom prst="rect">
            <a:avLst/>
          </a:prstGeom>
          <a:noFill/>
        </p:spPr>
        <p:txBody>
          <a:bodyPr wrap="square"/>
          <a:lstStyle/>
          <a:p>
            <a:pPr algn="ctr">
              <a:lnSpc>
                <a:spcPts val="2600"/>
              </a:lnSpc>
              <a:defRPr sz="2200" b="0">
                <a:solidFill>
                  <a:srgbClr val="999999"/>
                </a:solidFill>
                <a:latin typeface="Calibri Light"/>
              </a:defRPr>
            </a:pPr>
            <a:r>
              <a:t>Many are minors. Many have nowhere safe to go.</a:t>
            </a:r>
          </a:p>
        </p:txBody>
      </p:sp>
      <p:sp>
        <p:nvSpPr>
          <p:cNvPr id="5" name="Rectangle 4"/>
          <p:cNvSpPr/>
          <p:nvPr/>
        </p:nvSpPr>
        <p:spPr>
          <a:xfrm>
            <a:off x="5303520" y="3291840"/>
            <a:ext cx="1554480" cy="25400"/>
          </a:xfrm>
          <a:prstGeom prst="rect">
            <a:avLst/>
          </a:prstGeom>
          <a:solidFill>
            <a:srgbClr val="FF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3657600"/>
            <a:ext cx="9418320" cy="1371600"/>
          </a:xfrm>
          <a:prstGeom prst="rect">
            <a:avLst/>
          </a:prstGeom>
          <a:noFill/>
        </p:spPr>
        <p:txBody>
          <a:bodyPr wrap="square"/>
          <a:lstStyle/>
          <a:p>
            <a:pPr algn="ctr">
              <a:lnSpc>
                <a:spcPts val="3000"/>
              </a:lnSpc>
              <a:defRPr sz="2000" b="0">
                <a:solidFill>
                  <a:srgbClr val="BBBBBB"/>
                </a:solidFill>
                <a:latin typeface="Calibri Light"/>
              </a:defRPr>
            </a:pPr>
            <a:r>
              <a:t>Organizations like Lighthouse Sanctuary operate safe homes</a:t>
            </a:r>
            <a:br/>
            <a:r>
              <a:t>where these girls can begin to heal -- through shelter, counseling,</a:t>
            </a:r>
            <a:br/>
            <a:r>
              <a:t>education, and eventually, reintegration into safe communities.</a:t>
            </a:r>
          </a:p>
        </p:txBody>
      </p:sp>
      <p:sp>
        <p:nvSpPr>
          <p:cNvPr id="7" name="TextBox 6"/>
          <p:cNvSpPr txBox="1"/>
          <p:nvPr/>
        </p:nvSpPr>
        <p:spPr>
          <a:xfrm>
            <a:off x="1371600" y="5120640"/>
            <a:ext cx="9418320" cy="914400"/>
          </a:xfrm>
          <a:prstGeom prst="rect">
            <a:avLst/>
          </a:prstGeom>
          <a:noFill/>
        </p:spPr>
        <p:txBody>
          <a:bodyPr wrap="square"/>
          <a:lstStyle/>
          <a:p>
            <a:pPr algn="ctr">
              <a:lnSpc>
                <a:spcPts val="3000"/>
              </a:lnSpc>
              <a:defRPr sz="2000" b="0">
                <a:solidFill>
                  <a:srgbClr val="A2C9E1"/>
                </a:solidFill>
                <a:latin typeface="Calibri Light"/>
              </a:defRPr>
            </a:pPr>
            <a:r>
              <a:t>Our client is building a new organization to extend this work</a:t>
            </a:r>
            <a:br/>
            <a:r>
              <a:t>into regions where these services don't yet exist.</a:t>
            </a:r>
          </a:p>
        </p:txBody>
      </p:sp>
      <p:sp>
        <p:nvSpPr>
          <p:cNvPr id="8" name="TextBox 7"/>
          <p:cNvSpPr txBox="1"/>
          <p:nvPr/>
        </p:nvSpPr>
        <p:spPr>
          <a:xfrm>
            <a:off x="1371600" y="5943600"/>
            <a:ext cx="9418320" cy="548640"/>
          </a:xfrm>
          <a:prstGeom prst="rect">
            <a:avLst/>
          </a:prstGeom>
          <a:noFill/>
        </p:spPr>
        <p:txBody>
          <a:bodyPr wrap="square"/>
          <a:lstStyle/>
          <a:p>
            <a:pPr algn="ctr">
              <a:lnSpc>
                <a:spcPts val="2100"/>
              </a:lnSpc>
              <a:defRPr sz="1800" b="0">
                <a:solidFill>
                  <a:srgbClr val="FFCC66"/>
                </a:solidFill>
                <a:latin typeface="Calibri Light"/>
              </a:defRPr>
            </a:pPr>
            <a:r>
              <a:t>They asked us to build the technology to help them do it.</a:t>
            </a:r>
          </a:p>
        </p:txBody>
      </p:sp>
      <p:sp>
        <p:nvSpPr>
          <p:cNvPr id="9" name="TextBox 8"/>
          <p:cNvSpPr txBox="1"/>
          <p:nvPr/>
        </p:nvSpPr>
        <p:spPr>
          <a:xfrm>
            <a:off x="11155680" y="6446520"/>
            <a:ext cx="914400" cy="365760"/>
          </a:xfrm>
          <a:prstGeom prst="rect">
            <a:avLst/>
          </a:prstGeom>
          <a:noFill/>
        </p:spPr>
        <p:txBody>
          <a:bodyPr wrap="square"/>
          <a:lstStyle/>
          <a:p>
            <a:pPr algn="r">
              <a:lnSpc>
                <a:spcPts val="1200"/>
              </a:lnSpc>
              <a:defRPr sz="1000" b="0">
                <a:solidFill>
                  <a:srgbClr val="999999"/>
                </a:solidFill>
                <a:latin typeface="Calibri"/>
              </a:defRPr>
            </a:pPr>
            <a:r>
              <a:t>2 / 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A2633"/>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457200"/>
          </a:xfrm>
          <a:prstGeom prst="rect">
            <a:avLst/>
          </a:prstGeom>
          <a:noFill/>
        </p:spPr>
        <p:txBody>
          <a:bodyPr wrap="square"/>
          <a:lstStyle/>
          <a:p>
            <a:pPr algn="l">
              <a:lnSpc>
                <a:spcPts val="1600"/>
              </a:lnSpc>
              <a:defRPr sz="1400" b="1">
                <a:solidFill>
                  <a:srgbClr val="FFCC66"/>
                </a:solidFill>
                <a:latin typeface="Calibri"/>
              </a:defRPr>
            </a:pPr>
            <a:r>
              <a:t>WHAT THEY TOLD US</a:t>
            </a:r>
          </a:p>
        </p:txBody>
      </p:sp>
      <p:sp>
        <p:nvSpPr>
          <p:cNvPr id="4" name="TextBox 3"/>
          <p:cNvSpPr txBox="1"/>
          <p:nvPr/>
        </p:nvSpPr>
        <p:spPr>
          <a:xfrm>
            <a:off x="731520" y="822960"/>
            <a:ext cx="10058400" cy="731520"/>
          </a:xfrm>
          <a:prstGeom prst="rect">
            <a:avLst/>
          </a:prstGeom>
          <a:noFill/>
        </p:spPr>
        <p:txBody>
          <a:bodyPr wrap="square"/>
          <a:lstStyle/>
          <a:p>
            <a:pPr algn="l">
              <a:lnSpc>
                <a:spcPts val="4500"/>
              </a:lnSpc>
              <a:defRPr sz="3800" b="1">
                <a:solidFill>
                  <a:srgbClr val="FFFFFF"/>
                </a:solidFill>
                <a:latin typeface="Calibri Light"/>
              </a:defRPr>
            </a:pPr>
            <a:r>
              <a:t>Three Things That Keep Them Up at Night</a:t>
            </a:r>
          </a:p>
        </p:txBody>
      </p:sp>
      <p:sp>
        <p:nvSpPr>
          <p:cNvPr id="5" name="Rectangle 4"/>
          <p:cNvSpPr/>
          <p:nvPr/>
        </p:nvSpPr>
        <p:spPr>
          <a:xfrm>
            <a:off x="731520" y="1508760"/>
            <a:ext cx="1828800" cy="38100"/>
          </a:xfrm>
          <a:prstGeom prst="rect">
            <a:avLst/>
          </a:prstGeom>
          <a:solidFill>
            <a:srgbClr val="FF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2011680"/>
            <a:ext cx="3291840" cy="4114800"/>
          </a:xfrm>
          <a:prstGeom prst="round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2011680"/>
            <a:ext cx="3291840" cy="54864"/>
          </a:xfrm>
          <a:prstGeom prst="rect">
            <a:avLst/>
          </a:prstGeom>
          <a:solidFill>
            <a:srgbClr val="91B1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377440"/>
            <a:ext cx="2743200" cy="914400"/>
          </a:xfrm>
          <a:prstGeom prst="rect">
            <a:avLst/>
          </a:prstGeom>
          <a:noFill/>
        </p:spPr>
        <p:txBody>
          <a:bodyPr wrap="square"/>
          <a:lstStyle/>
          <a:p>
            <a:pPr algn="l">
              <a:lnSpc>
                <a:spcPts val="2000"/>
              </a:lnSpc>
              <a:defRPr sz="1700" b="1">
                <a:solidFill>
                  <a:srgbClr val="91B191"/>
                </a:solidFill>
                <a:latin typeface="Calibri Light"/>
              </a:defRPr>
            </a:pPr>
            <a:r>
              <a:t>"We worry about girls</a:t>
            </a:r>
            <a:br/>
            <a:r>
              <a:t>falling through the cracks."</a:t>
            </a:r>
          </a:p>
        </p:txBody>
      </p:sp>
      <p:sp>
        <p:nvSpPr>
          <p:cNvPr id="9" name="TextBox 8"/>
          <p:cNvSpPr txBox="1"/>
          <p:nvPr/>
        </p:nvSpPr>
        <p:spPr>
          <a:xfrm>
            <a:off x="1005840" y="3474720"/>
            <a:ext cx="2743200" cy="2377440"/>
          </a:xfrm>
          <a:prstGeom prst="rect">
            <a:avLst/>
          </a:prstGeom>
          <a:noFill/>
        </p:spPr>
        <p:txBody>
          <a:bodyPr wrap="square"/>
          <a:lstStyle/>
          <a:p>
            <a:pPr algn="l">
              <a:lnSpc>
                <a:spcPts val="1600"/>
              </a:lnSpc>
              <a:defRPr sz="1400" b="0">
                <a:solidFill>
                  <a:srgbClr val="BBBBBB"/>
                </a:solidFill>
                <a:latin typeface="Calibri"/>
              </a:defRPr>
            </a:pPr>
            <a:r>
              <a:t>With limited staff across multiple safehouses, they can't always see which girls are progressing and which are struggling. They have no way to predict when someone is ready for reintegration -- or at risk of regression.</a:t>
            </a:r>
          </a:p>
        </p:txBody>
      </p:sp>
      <p:sp>
        <p:nvSpPr>
          <p:cNvPr id="10" name="Rounded Rectangle 9"/>
          <p:cNvSpPr/>
          <p:nvPr/>
        </p:nvSpPr>
        <p:spPr>
          <a:xfrm>
            <a:off x="4389120" y="2011680"/>
            <a:ext cx="3291840" cy="4114800"/>
          </a:xfrm>
          <a:prstGeom prst="round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89120" y="2011680"/>
            <a:ext cx="3291840" cy="54864"/>
          </a:xfrm>
          <a:prstGeom prst="rect">
            <a:avLst/>
          </a:prstGeom>
          <a:solidFill>
            <a:srgbClr val="A2C9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63440" y="2377440"/>
            <a:ext cx="2743200" cy="914400"/>
          </a:xfrm>
          <a:prstGeom prst="rect">
            <a:avLst/>
          </a:prstGeom>
          <a:noFill/>
        </p:spPr>
        <p:txBody>
          <a:bodyPr wrap="square"/>
          <a:lstStyle/>
          <a:p>
            <a:pPr algn="l">
              <a:lnSpc>
                <a:spcPts val="2000"/>
              </a:lnSpc>
              <a:defRPr sz="1700" b="1">
                <a:solidFill>
                  <a:srgbClr val="A2C9E1"/>
                </a:solidFill>
                <a:latin typeface="Calibri Light"/>
              </a:defRPr>
            </a:pPr>
            <a:r>
              <a:t>"We don't know what</a:t>
            </a:r>
            <a:br/>
            <a:r>
              <a:t>to post or when."</a:t>
            </a:r>
          </a:p>
        </p:txBody>
      </p:sp>
      <p:sp>
        <p:nvSpPr>
          <p:cNvPr id="13" name="TextBox 12"/>
          <p:cNvSpPr txBox="1"/>
          <p:nvPr/>
        </p:nvSpPr>
        <p:spPr>
          <a:xfrm>
            <a:off x="4663440" y="3474720"/>
            <a:ext cx="2743200" cy="2377440"/>
          </a:xfrm>
          <a:prstGeom prst="rect">
            <a:avLst/>
          </a:prstGeom>
          <a:noFill/>
        </p:spPr>
        <p:txBody>
          <a:bodyPr wrap="square"/>
          <a:lstStyle/>
          <a:p>
            <a:pPr algn="l">
              <a:lnSpc>
                <a:spcPts val="1600"/>
              </a:lnSpc>
              <a:defRPr sz="1400" b="0">
                <a:solidFill>
                  <a:srgbClr val="BBBBBB"/>
                </a:solidFill>
                <a:latin typeface="Calibri"/>
              </a:defRPr>
            </a:pPr>
            <a:r>
              <a:t>Social media is their primary channel for reaching donors, but the founders freely admit they aren't experienced with it. They post sporadically and can't tell what actually drives donations versus just generating likes.</a:t>
            </a:r>
          </a:p>
        </p:txBody>
      </p:sp>
      <p:sp>
        <p:nvSpPr>
          <p:cNvPr id="14" name="Rounded Rectangle 13"/>
          <p:cNvSpPr/>
          <p:nvPr/>
        </p:nvSpPr>
        <p:spPr>
          <a:xfrm>
            <a:off x="8046720" y="2011680"/>
            <a:ext cx="3291840" cy="4114800"/>
          </a:xfrm>
          <a:prstGeom prst="round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46720" y="2011680"/>
            <a:ext cx="3291840" cy="54864"/>
          </a:xfrm>
          <a:prstGeom prst="rect">
            <a:avLst/>
          </a:prstGeom>
          <a:solidFill>
            <a:srgbClr val="FF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21040" y="2377440"/>
            <a:ext cx="2743200" cy="914400"/>
          </a:xfrm>
          <a:prstGeom prst="rect">
            <a:avLst/>
          </a:prstGeom>
          <a:noFill/>
        </p:spPr>
        <p:txBody>
          <a:bodyPr wrap="square"/>
          <a:lstStyle/>
          <a:p>
            <a:pPr algn="l">
              <a:lnSpc>
                <a:spcPts val="2000"/>
              </a:lnSpc>
              <a:defRPr sz="1700" b="1">
                <a:solidFill>
                  <a:srgbClr val="FFCC66"/>
                </a:solidFill>
                <a:latin typeface="Calibri Light"/>
              </a:defRPr>
            </a:pPr>
            <a:r>
              <a:t>"We lose donors and</a:t>
            </a:r>
            <a:br/>
            <a:r>
              <a:t>don't understand why."</a:t>
            </a:r>
          </a:p>
        </p:txBody>
      </p:sp>
      <p:sp>
        <p:nvSpPr>
          <p:cNvPr id="17" name="TextBox 16"/>
          <p:cNvSpPr txBox="1"/>
          <p:nvPr/>
        </p:nvSpPr>
        <p:spPr>
          <a:xfrm>
            <a:off x="8321040" y="3474720"/>
            <a:ext cx="2743200" cy="2377440"/>
          </a:xfrm>
          <a:prstGeom prst="rect">
            <a:avLst/>
          </a:prstGeom>
          <a:noFill/>
        </p:spPr>
        <p:txBody>
          <a:bodyPr wrap="square"/>
          <a:lstStyle/>
          <a:p>
            <a:pPr algn="l">
              <a:lnSpc>
                <a:spcPts val="1600"/>
              </a:lnSpc>
              <a:defRPr sz="1400" b="0">
                <a:solidFill>
                  <a:srgbClr val="BBBBBB"/>
                </a:solidFill>
                <a:latin typeface="Calibri"/>
              </a:defRPr>
            </a:pPr>
            <a:r>
              <a:t>The organization depends entirely on donations. They run fundraising campaigns but aren't sure which ones move the needle. They want to know which donors might give more, which are at risk of lapsing, and how to personalize outreach without a marketing team.</a:t>
            </a:r>
          </a:p>
        </p:txBody>
      </p:sp>
      <p:sp>
        <p:nvSpPr>
          <p:cNvPr id="18" name="TextBox 17"/>
          <p:cNvSpPr txBox="1"/>
          <p:nvPr/>
        </p:nvSpPr>
        <p:spPr>
          <a:xfrm>
            <a:off x="11155680" y="6446520"/>
            <a:ext cx="914400" cy="365760"/>
          </a:xfrm>
          <a:prstGeom prst="rect">
            <a:avLst/>
          </a:prstGeom>
          <a:noFill/>
        </p:spPr>
        <p:txBody>
          <a:bodyPr wrap="square"/>
          <a:lstStyle/>
          <a:p>
            <a:pPr algn="r">
              <a:lnSpc>
                <a:spcPts val="1200"/>
              </a:lnSpc>
              <a:defRPr sz="1000" b="0">
                <a:solidFill>
                  <a:srgbClr val="999999"/>
                </a:solidFill>
                <a:latin typeface="Calibri"/>
              </a:defRPr>
            </a:pPr>
            <a:r>
              <a:t>3 / 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A2633"/>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457200"/>
          </a:xfrm>
          <a:prstGeom prst="rect">
            <a:avLst/>
          </a:prstGeom>
          <a:noFill/>
        </p:spPr>
        <p:txBody>
          <a:bodyPr wrap="square"/>
          <a:lstStyle/>
          <a:p>
            <a:pPr algn="l">
              <a:lnSpc>
                <a:spcPts val="1600"/>
              </a:lnSpc>
              <a:defRPr sz="1400" b="1">
                <a:solidFill>
                  <a:srgbClr val="FFCC66"/>
                </a:solidFill>
                <a:latin typeface="Calibri"/>
              </a:defRPr>
            </a:pPr>
            <a:r>
              <a:t>OUR ANSWER</a:t>
            </a:r>
          </a:p>
        </p:txBody>
      </p:sp>
      <p:sp>
        <p:nvSpPr>
          <p:cNvPr id="4" name="TextBox 3"/>
          <p:cNvSpPr txBox="1"/>
          <p:nvPr/>
        </p:nvSpPr>
        <p:spPr>
          <a:xfrm>
            <a:off x="731520" y="822960"/>
            <a:ext cx="10058400" cy="731520"/>
          </a:xfrm>
          <a:prstGeom prst="rect">
            <a:avLst/>
          </a:prstGeom>
          <a:noFill/>
        </p:spPr>
        <p:txBody>
          <a:bodyPr wrap="square"/>
          <a:lstStyle/>
          <a:p>
            <a:pPr algn="l">
              <a:lnSpc>
                <a:spcPts val="4500"/>
              </a:lnSpc>
              <a:defRPr sz="3800" b="1">
                <a:solidFill>
                  <a:srgbClr val="FFFFFF"/>
                </a:solidFill>
                <a:latin typeface="Calibri Light"/>
              </a:defRPr>
            </a:pPr>
            <a:r>
              <a:t>One Platform, Three Solutions</a:t>
            </a:r>
          </a:p>
        </p:txBody>
      </p:sp>
      <p:sp>
        <p:nvSpPr>
          <p:cNvPr id="5" name="Rectangle 4"/>
          <p:cNvSpPr/>
          <p:nvPr/>
        </p:nvSpPr>
        <p:spPr>
          <a:xfrm>
            <a:off x="731520" y="1508760"/>
            <a:ext cx="1828800" cy="38100"/>
          </a:xfrm>
          <a:prstGeom prst="rect">
            <a:avLst/>
          </a:prstGeom>
          <a:solidFill>
            <a:srgbClr val="FF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828800"/>
            <a:ext cx="10058400" cy="731520"/>
          </a:xfrm>
          <a:prstGeom prst="rect">
            <a:avLst/>
          </a:prstGeom>
          <a:noFill/>
        </p:spPr>
        <p:txBody>
          <a:bodyPr wrap="square"/>
          <a:lstStyle/>
          <a:p>
            <a:pPr algn="l">
              <a:lnSpc>
                <a:spcPts val="2100"/>
              </a:lnSpc>
              <a:defRPr sz="1800" b="0">
                <a:solidFill>
                  <a:srgbClr val="CCCCCC"/>
                </a:solidFill>
                <a:latin typeface="Calibri"/>
              </a:defRPr>
            </a:pPr>
            <a:r>
              <a:t>We built New Dawn -- a full-stack web application that combines case management,</a:t>
            </a:r>
            <a:br/>
            <a:r>
              <a:t>donor intelligence, and AI-powered social media tools into one system.</a:t>
            </a:r>
          </a:p>
        </p:txBody>
      </p:sp>
      <p:sp>
        <p:nvSpPr>
          <p:cNvPr id="7" name="Rounded Rectangle 6"/>
          <p:cNvSpPr/>
          <p:nvPr/>
        </p:nvSpPr>
        <p:spPr>
          <a:xfrm>
            <a:off x="731520" y="2926080"/>
            <a:ext cx="3291840" cy="2743200"/>
          </a:xfrm>
          <a:prstGeom prst="round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2926080"/>
            <a:ext cx="3291840" cy="54864"/>
          </a:xfrm>
          <a:prstGeom prst="rect">
            <a:avLst/>
          </a:prstGeom>
          <a:solidFill>
            <a:srgbClr val="91B1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200400"/>
            <a:ext cx="2743200" cy="457200"/>
          </a:xfrm>
          <a:prstGeom prst="rect">
            <a:avLst/>
          </a:prstGeom>
          <a:noFill/>
        </p:spPr>
        <p:txBody>
          <a:bodyPr wrap="square"/>
          <a:lstStyle/>
          <a:p>
            <a:pPr algn="l">
              <a:lnSpc>
                <a:spcPts val="2400"/>
              </a:lnSpc>
              <a:defRPr sz="2000" b="1">
                <a:solidFill>
                  <a:srgbClr val="91B191"/>
                </a:solidFill>
                <a:latin typeface="Calibri"/>
              </a:defRPr>
            </a:pPr>
            <a:r>
              <a:t>Caseload Intelligence</a:t>
            </a:r>
          </a:p>
        </p:txBody>
      </p:sp>
      <p:sp>
        <p:nvSpPr>
          <p:cNvPr id="10" name="TextBox 9"/>
          <p:cNvSpPr txBox="1"/>
          <p:nvPr/>
        </p:nvSpPr>
        <p:spPr>
          <a:xfrm>
            <a:off x="1005840" y="3749040"/>
            <a:ext cx="2743200" cy="1371600"/>
          </a:xfrm>
          <a:prstGeom prst="rect">
            <a:avLst/>
          </a:prstGeom>
          <a:noFill/>
        </p:spPr>
        <p:txBody>
          <a:bodyPr wrap="square"/>
          <a:lstStyle/>
          <a:p>
            <a:pPr algn="l">
              <a:lnSpc>
                <a:spcPts val="1600"/>
              </a:lnSpc>
              <a:defRPr sz="1400" b="0">
                <a:solidFill>
                  <a:srgbClr val="BBBBBB"/>
                </a:solidFill>
                <a:latin typeface="Calibri"/>
              </a:defRPr>
            </a:pPr>
            <a:r>
              <a:t>ML-powered risk prediction and causal reintegration analysis so no girl goes unnoticed.</a:t>
            </a:r>
          </a:p>
        </p:txBody>
      </p:sp>
      <p:sp>
        <p:nvSpPr>
          <p:cNvPr id="11" name="TextBox 10"/>
          <p:cNvSpPr txBox="1"/>
          <p:nvPr/>
        </p:nvSpPr>
        <p:spPr>
          <a:xfrm>
            <a:off x="1005840" y="5029200"/>
            <a:ext cx="2743200" cy="457200"/>
          </a:xfrm>
          <a:prstGeom prst="rect">
            <a:avLst/>
          </a:prstGeom>
          <a:noFill/>
        </p:spPr>
        <p:txBody>
          <a:bodyPr wrap="square"/>
          <a:lstStyle/>
          <a:p>
            <a:pPr algn="l">
              <a:lnSpc>
                <a:spcPts val="1300"/>
              </a:lnSpc>
              <a:defRPr sz="1100" b="0">
                <a:solidFill>
                  <a:srgbClr val="999999"/>
                </a:solidFill>
                <a:latin typeface="Calibri"/>
              </a:defRPr>
            </a:pPr>
            <a:r>
              <a:t>Risk Prediction + Reintegration Causal</a:t>
            </a:r>
          </a:p>
        </p:txBody>
      </p:sp>
      <p:sp>
        <p:nvSpPr>
          <p:cNvPr id="12" name="Rounded Rectangle 11"/>
          <p:cNvSpPr/>
          <p:nvPr/>
        </p:nvSpPr>
        <p:spPr>
          <a:xfrm>
            <a:off x="4389120" y="2926080"/>
            <a:ext cx="3291840" cy="2743200"/>
          </a:xfrm>
          <a:prstGeom prst="round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89120" y="2926080"/>
            <a:ext cx="3291840" cy="54864"/>
          </a:xfrm>
          <a:prstGeom prst="rect">
            <a:avLst/>
          </a:prstGeom>
          <a:solidFill>
            <a:srgbClr val="A2C9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63440" y="3200400"/>
            <a:ext cx="2743200" cy="457200"/>
          </a:xfrm>
          <a:prstGeom prst="rect">
            <a:avLst/>
          </a:prstGeom>
          <a:noFill/>
        </p:spPr>
        <p:txBody>
          <a:bodyPr wrap="square"/>
          <a:lstStyle/>
          <a:p>
            <a:pPr algn="l">
              <a:lnSpc>
                <a:spcPts val="2400"/>
              </a:lnSpc>
              <a:defRPr sz="2000" b="1">
                <a:solidFill>
                  <a:srgbClr val="A2C9E1"/>
                </a:solidFill>
                <a:latin typeface="Calibri"/>
              </a:defRPr>
            </a:pPr>
            <a:r>
              <a:t>AI Social Editor</a:t>
            </a:r>
          </a:p>
        </p:txBody>
      </p:sp>
      <p:sp>
        <p:nvSpPr>
          <p:cNvPr id="15" name="TextBox 14"/>
          <p:cNvSpPr txBox="1"/>
          <p:nvPr/>
        </p:nvSpPr>
        <p:spPr>
          <a:xfrm>
            <a:off x="4663440" y="3749040"/>
            <a:ext cx="2743200" cy="1371600"/>
          </a:xfrm>
          <a:prstGeom prst="rect">
            <a:avLst/>
          </a:prstGeom>
          <a:noFill/>
        </p:spPr>
        <p:txBody>
          <a:bodyPr wrap="square"/>
          <a:lstStyle/>
          <a:p>
            <a:pPr algn="l">
              <a:lnSpc>
                <a:spcPts val="1600"/>
              </a:lnSpc>
              <a:defRPr sz="1400" b="0">
                <a:solidFill>
                  <a:srgbClr val="BBBBBB"/>
                </a:solidFill>
                <a:latin typeface="Calibri"/>
              </a:defRPr>
            </a:pPr>
            <a:r>
              <a:t>Real-time ML predictions show expected donations and engagement as staff craft posts. Optimal posting times maximize impact.</a:t>
            </a:r>
          </a:p>
        </p:txBody>
      </p:sp>
      <p:sp>
        <p:nvSpPr>
          <p:cNvPr id="16" name="TextBox 15"/>
          <p:cNvSpPr txBox="1"/>
          <p:nvPr/>
        </p:nvSpPr>
        <p:spPr>
          <a:xfrm>
            <a:off x="4663440" y="5029200"/>
            <a:ext cx="2743200" cy="457200"/>
          </a:xfrm>
          <a:prstGeom prst="rect">
            <a:avLst/>
          </a:prstGeom>
          <a:noFill/>
        </p:spPr>
        <p:txBody>
          <a:bodyPr wrap="square"/>
          <a:lstStyle/>
          <a:p>
            <a:pPr algn="l">
              <a:lnSpc>
                <a:spcPts val="1300"/>
              </a:lnSpc>
              <a:defRPr sz="1100" b="0">
                <a:solidFill>
                  <a:srgbClr val="999999"/>
                </a:solidFill>
                <a:latin typeface="Calibri"/>
              </a:defRPr>
            </a:pPr>
            <a:r>
              <a:t>Social Referrals + Best Posting Times</a:t>
            </a:r>
          </a:p>
        </p:txBody>
      </p:sp>
      <p:sp>
        <p:nvSpPr>
          <p:cNvPr id="17" name="Rounded Rectangle 16"/>
          <p:cNvSpPr/>
          <p:nvPr/>
        </p:nvSpPr>
        <p:spPr>
          <a:xfrm>
            <a:off x="8046720" y="2926080"/>
            <a:ext cx="3291840" cy="2743200"/>
          </a:xfrm>
          <a:prstGeom prst="round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46720" y="2926080"/>
            <a:ext cx="3291840" cy="54864"/>
          </a:xfrm>
          <a:prstGeom prst="rect">
            <a:avLst/>
          </a:prstGeom>
          <a:solidFill>
            <a:srgbClr val="FF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21040" y="3200400"/>
            <a:ext cx="2743200" cy="457200"/>
          </a:xfrm>
          <a:prstGeom prst="rect">
            <a:avLst/>
          </a:prstGeom>
          <a:noFill/>
        </p:spPr>
        <p:txBody>
          <a:bodyPr wrap="square"/>
          <a:lstStyle/>
          <a:p>
            <a:pPr algn="l">
              <a:lnSpc>
                <a:spcPts val="2400"/>
              </a:lnSpc>
              <a:defRPr sz="2000" b="1">
                <a:solidFill>
                  <a:srgbClr val="FFCC66"/>
                </a:solidFill>
                <a:latin typeface="Calibri"/>
              </a:defRPr>
            </a:pPr>
            <a:r>
              <a:t>Donor Intelligence</a:t>
            </a:r>
          </a:p>
        </p:txBody>
      </p:sp>
      <p:sp>
        <p:nvSpPr>
          <p:cNvPr id="20" name="TextBox 19"/>
          <p:cNvSpPr txBox="1"/>
          <p:nvPr/>
        </p:nvSpPr>
        <p:spPr>
          <a:xfrm>
            <a:off x="8321040" y="3749040"/>
            <a:ext cx="2743200" cy="1371600"/>
          </a:xfrm>
          <a:prstGeom prst="rect">
            <a:avLst/>
          </a:prstGeom>
          <a:noFill/>
        </p:spPr>
        <p:txBody>
          <a:bodyPr wrap="square"/>
          <a:lstStyle/>
          <a:p>
            <a:pPr algn="l">
              <a:lnSpc>
                <a:spcPts val="1600"/>
              </a:lnSpc>
              <a:defRPr sz="1400" b="0">
                <a:solidFill>
                  <a:srgbClr val="BBBBBB"/>
                </a:solidFill>
                <a:latin typeface="Calibri"/>
              </a:defRPr>
            </a:pPr>
            <a:r>
              <a:t>ML predicts which donors are likely to give again with explainable reasons, so staff can prioritize outreach.</a:t>
            </a:r>
          </a:p>
        </p:txBody>
      </p:sp>
      <p:sp>
        <p:nvSpPr>
          <p:cNvPr id="21" name="TextBox 20"/>
          <p:cNvSpPr txBox="1"/>
          <p:nvPr/>
        </p:nvSpPr>
        <p:spPr>
          <a:xfrm>
            <a:off x="8321040" y="5029200"/>
            <a:ext cx="2743200" cy="457200"/>
          </a:xfrm>
          <a:prstGeom prst="rect">
            <a:avLst/>
          </a:prstGeom>
          <a:noFill/>
        </p:spPr>
        <p:txBody>
          <a:bodyPr wrap="square"/>
          <a:lstStyle/>
          <a:p>
            <a:pPr algn="l">
              <a:lnSpc>
                <a:spcPts val="1300"/>
              </a:lnSpc>
              <a:defRPr sz="1100" b="0">
                <a:solidFill>
                  <a:srgbClr val="999999"/>
                </a:solidFill>
                <a:latin typeface="Calibri"/>
              </a:defRPr>
            </a:pPr>
            <a:r>
              <a:t>Donor Likelihood Prediction</a:t>
            </a:r>
          </a:p>
        </p:txBody>
      </p:sp>
      <p:sp>
        <p:nvSpPr>
          <p:cNvPr id="22" name="TextBox 21"/>
          <p:cNvSpPr txBox="1"/>
          <p:nvPr/>
        </p:nvSpPr>
        <p:spPr>
          <a:xfrm>
            <a:off x="1371600" y="6035040"/>
            <a:ext cx="9144000" cy="457200"/>
          </a:xfrm>
          <a:prstGeom prst="rect">
            <a:avLst/>
          </a:prstGeom>
          <a:noFill/>
        </p:spPr>
        <p:txBody>
          <a:bodyPr wrap="square"/>
          <a:lstStyle/>
          <a:p>
            <a:pPr algn="ctr">
              <a:lnSpc>
                <a:spcPts val="2400"/>
              </a:lnSpc>
              <a:defRPr sz="2000" b="1">
                <a:solidFill>
                  <a:srgbClr val="FFCC66"/>
                </a:solidFill>
                <a:latin typeface="Calibri Light"/>
              </a:defRPr>
            </a:pPr>
            <a:r>
              <a:t>Let us show you.</a:t>
            </a:r>
          </a:p>
        </p:txBody>
      </p:sp>
      <p:sp>
        <p:nvSpPr>
          <p:cNvPr id="23" name="TextBox 22"/>
          <p:cNvSpPr txBox="1"/>
          <p:nvPr/>
        </p:nvSpPr>
        <p:spPr>
          <a:xfrm>
            <a:off x="11155680" y="6446520"/>
            <a:ext cx="914400" cy="365760"/>
          </a:xfrm>
          <a:prstGeom prst="rect">
            <a:avLst/>
          </a:prstGeom>
          <a:noFill/>
        </p:spPr>
        <p:txBody>
          <a:bodyPr wrap="square"/>
          <a:lstStyle/>
          <a:p>
            <a:pPr algn="r">
              <a:lnSpc>
                <a:spcPts val="1200"/>
              </a:lnSpc>
              <a:defRPr sz="1000" b="0">
                <a:solidFill>
                  <a:srgbClr val="999999"/>
                </a:solidFill>
                <a:latin typeface="Calibri"/>
              </a:defRPr>
            </a:pPr>
            <a:r>
              <a:t>4 / 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A2633"/>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74320"/>
            <a:ext cx="2743200" cy="457200"/>
          </a:xfrm>
          <a:prstGeom prst="rect">
            <a:avLst/>
          </a:prstGeom>
          <a:noFill/>
        </p:spPr>
        <p:txBody>
          <a:bodyPr wrap="square"/>
          <a:lstStyle/>
          <a:p>
            <a:pPr algn="l">
              <a:lnSpc>
                <a:spcPts val="1600"/>
              </a:lnSpc>
              <a:defRPr sz="1400" b="1">
                <a:solidFill>
                  <a:srgbClr val="FFCC66"/>
                </a:solidFill>
                <a:latin typeface="Calibri"/>
              </a:defRPr>
            </a:pPr>
            <a:r>
              <a:t>LIVE DEMO</a:t>
            </a:r>
          </a:p>
        </p:txBody>
      </p:sp>
      <p:sp>
        <p:nvSpPr>
          <p:cNvPr id="4" name="TextBox 3"/>
          <p:cNvSpPr txBox="1"/>
          <p:nvPr/>
        </p:nvSpPr>
        <p:spPr>
          <a:xfrm>
            <a:off x="7772400" y="274320"/>
            <a:ext cx="4114800" cy="457200"/>
          </a:xfrm>
          <a:prstGeom prst="rect">
            <a:avLst/>
          </a:prstGeom>
          <a:noFill/>
        </p:spPr>
        <p:txBody>
          <a:bodyPr wrap="square"/>
          <a:lstStyle/>
          <a:p>
            <a:pPr algn="r">
              <a:lnSpc>
                <a:spcPts val="1600"/>
              </a:lnSpc>
              <a:defRPr sz="1400" b="0">
                <a:solidFill>
                  <a:srgbClr val="A2C9E1"/>
                </a:solidFill>
                <a:latin typeface="Calibri"/>
              </a:defRPr>
            </a:pPr>
            <a:r>
              <a:t>new-dawn-virid.vercel.app</a:t>
            </a:r>
          </a:p>
        </p:txBody>
      </p:sp>
      <p:sp>
        <p:nvSpPr>
          <p:cNvPr id="5" name="Rounded Rectangle 4"/>
          <p:cNvSpPr/>
          <p:nvPr/>
        </p:nvSpPr>
        <p:spPr>
          <a:xfrm>
            <a:off x="457200" y="822960"/>
            <a:ext cx="3520440" cy="5760720"/>
          </a:xfrm>
          <a:prstGeom prst="round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005840"/>
            <a:ext cx="3017520" cy="320040"/>
          </a:xfrm>
          <a:prstGeom prst="rect">
            <a:avLst/>
          </a:prstGeom>
          <a:noFill/>
        </p:spPr>
        <p:txBody>
          <a:bodyPr wrap="square"/>
          <a:lstStyle/>
          <a:p>
            <a:pPr algn="l">
              <a:lnSpc>
                <a:spcPts val="1400"/>
              </a:lnSpc>
              <a:defRPr sz="1200" b="1">
                <a:solidFill>
                  <a:srgbClr val="FFCC66"/>
                </a:solidFill>
                <a:latin typeface="Calibri"/>
              </a:defRPr>
            </a:pPr>
            <a:r>
              <a:t>PUBLIC EXPERIENCE</a:t>
            </a:r>
          </a:p>
        </p:txBody>
      </p:sp>
      <p:sp>
        <p:nvSpPr>
          <p:cNvPr id="7" name="TextBox 6"/>
          <p:cNvSpPr txBox="1"/>
          <p:nvPr/>
        </p:nvSpPr>
        <p:spPr>
          <a:xfrm>
            <a:off x="685800" y="1371600"/>
            <a:ext cx="3108960" cy="2377440"/>
          </a:xfrm>
          <a:prstGeom prst="rect">
            <a:avLst/>
          </a:prstGeom>
          <a:noFill/>
        </p:spPr>
        <p:txBody>
          <a:bodyPr wrap="square">
            <a:spAutoFit/>
          </a:bodyPr>
          <a:lstStyle/>
          <a:p>
            <a:pPr>
              <a:lnSpc>
                <a:spcPts val="1900"/>
              </a:lnSpc>
            </a:pPr>
            <a:r>
              <a:rPr sz="1200" b="1">
                <a:solidFill>
                  <a:srgbClr val="FFCC66"/>
                </a:solidFill>
                <a:latin typeface="Calibri"/>
              </a:rPr>
              <a:t>1. </a:t>
            </a:r>
            <a:r>
              <a:rPr sz="1200" b="0">
                <a:solidFill>
                  <a:srgbClr val="DDDDDD"/>
                </a:solidFill>
                <a:latin typeface="Calibri"/>
              </a:rPr>
              <a:t>Landing page -- mission, three pillars (Caring, Healing, Teaching), live stats</a:t>
            </a:r>
          </a:p>
          <a:p>
            <a:pPr>
              <a:lnSpc>
                <a:spcPts val="1900"/>
              </a:lnSpc>
            </a:pPr>
            <a:r>
              <a:rPr sz="1200" b="1">
                <a:solidFill>
                  <a:srgbClr val="FFCC66"/>
                </a:solidFill>
                <a:latin typeface="Calibri"/>
              </a:rPr>
              <a:t>2. </a:t>
            </a:r>
            <a:r>
              <a:rPr sz="1200" b="0">
                <a:solidFill>
                  <a:srgbClr val="DDDDDD"/>
                </a:solidFill>
                <a:latin typeface="Calibri"/>
              </a:rPr>
              <a:t>Impact Dashboard -- charts: residents served, program outcomes, donation impact</a:t>
            </a:r>
          </a:p>
          <a:p>
            <a:pPr>
              <a:lnSpc>
                <a:spcPts val="1900"/>
              </a:lnSpc>
            </a:pPr>
            <a:r>
              <a:rPr sz="1200" b="1">
                <a:solidFill>
                  <a:srgbClr val="FFCC66"/>
                </a:solidFill>
                <a:latin typeface="Calibri"/>
              </a:rPr>
              <a:t>3. </a:t>
            </a:r>
            <a:r>
              <a:rPr sz="1200" b="0">
                <a:solidFill>
                  <a:srgbClr val="DDDDDD"/>
                </a:solidFill>
                <a:latin typeface="Calibri"/>
              </a:rPr>
              <a:t>Donate page -- four tiers with impact messaging</a:t>
            </a:r>
          </a:p>
          <a:p>
            <a:pPr>
              <a:lnSpc>
                <a:spcPts val="1900"/>
              </a:lnSpc>
            </a:pPr>
            <a:r>
              <a:rPr sz="1200" b="1">
                <a:solidFill>
                  <a:srgbClr val="FFCC66"/>
                </a:solidFill>
                <a:latin typeface="Calibri"/>
              </a:rPr>
              <a:t>4. </a:t>
            </a:r>
            <a:r>
              <a:rPr sz="1200" b="0">
                <a:solidFill>
                  <a:srgbClr val="DDDDDD"/>
                </a:solidFill>
                <a:latin typeface="Calibri"/>
              </a:rPr>
              <a:t>Dark/light mode toggle (stored in browser cookie)</a:t>
            </a:r>
          </a:p>
          <a:p>
            <a:pPr>
              <a:lnSpc>
                <a:spcPts val="1900"/>
              </a:lnSpc>
            </a:pPr>
            <a:r>
              <a:rPr sz="1200" b="1">
                <a:solidFill>
                  <a:srgbClr val="FFCC66"/>
                </a:solidFill>
                <a:latin typeface="Calibri"/>
              </a:rPr>
              <a:t>5. </a:t>
            </a:r>
            <a:r>
              <a:rPr sz="1200" b="0">
                <a:solidFill>
                  <a:srgbClr val="DDDDDD"/>
                </a:solidFill>
                <a:latin typeface="Calibri"/>
              </a:rPr>
              <a:t>Privacy policy + GDPR cookie consent banner</a:t>
            </a:r>
          </a:p>
        </p:txBody>
      </p:sp>
      <p:sp>
        <p:nvSpPr>
          <p:cNvPr id="8" name="Rectangle 7"/>
          <p:cNvSpPr/>
          <p:nvPr/>
        </p:nvSpPr>
        <p:spPr>
          <a:xfrm>
            <a:off x="685800" y="3749040"/>
            <a:ext cx="3017520" cy="12700"/>
          </a:xfrm>
          <a:prstGeom prst="rect">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3931920"/>
            <a:ext cx="3017520" cy="320040"/>
          </a:xfrm>
          <a:prstGeom prst="rect">
            <a:avLst/>
          </a:prstGeom>
          <a:noFill/>
        </p:spPr>
        <p:txBody>
          <a:bodyPr wrap="square"/>
          <a:lstStyle/>
          <a:p>
            <a:pPr algn="l">
              <a:lnSpc>
                <a:spcPts val="1400"/>
              </a:lnSpc>
              <a:defRPr sz="1200" b="1">
                <a:solidFill>
                  <a:srgbClr val="FFCC66"/>
                </a:solidFill>
                <a:latin typeface="Calibri"/>
              </a:defRPr>
            </a:pPr>
            <a:r>
              <a:t>AUTH &amp; ADMIN</a:t>
            </a:r>
          </a:p>
        </p:txBody>
      </p:sp>
      <p:sp>
        <p:nvSpPr>
          <p:cNvPr id="10" name="TextBox 9"/>
          <p:cNvSpPr txBox="1"/>
          <p:nvPr/>
        </p:nvSpPr>
        <p:spPr>
          <a:xfrm>
            <a:off x="685800" y="4297680"/>
            <a:ext cx="3108960" cy="2103120"/>
          </a:xfrm>
          <a:prstGeom prst="rect">
            <a:avLst/>
          </a:prstGeom>
          <a:noFill/>
        </p:spPr>
        <p:txBody>
          <a:bodyPr wrap="square">
            <a:spAutoFit/>
          </a:bodyPr>
          <a:lstStyle/>
          <a:p>
            <a:pPr>
              <a:lnSpc>
                <a:spcPts val="1900"/>
              </a:lnSpc>
            </a:pPr>
            <a:r>
              <a:rPr sz="1200" b="1">
                <a:solidFill>
                  <a:srgbClr val="FFCC66"/>
                </a:solidFill>
                <a:latin typeface="Calibri"/>
              </a:rPr>
              <a:t>1. </a:t>
            </a:r>
            <a:r>
              <a:rPr sz="1200" b="0">
                <a:solidFill>
                  <a:srgbClr val="DDDDDD"/>
                </a:solidFill>
                <a:latin typeface="Calibri"/>
              </a:rPr>
              <a:t>Login with Google OAuth; show MFA setup in profile</a:t>
            </a:r>
          </a:p>
          <a:p>
            <a:pPr>
              <a:lnSpc>
                <a:spcPts val="1900"/>
              </a:lnSpc>
            </a:pPr>
            <a:r>
              <a:rPr sz="1200" b="1">
                <a:solidFill>
                  <a:srgbClr val="FFCC66"/>
                </a:solidFill>
                <a:latin typeface="Calibri"/>
              </a:rPr>
              <a:t>2. </a:t>
            </a:r>
            <a:r>
              <a:rPr sz="1200" b="0">
                <a:solidFill>
                  <a:srgbClr val="DDDDDD"/>
                </a:solidFill>
                <a:latin typeface="Calibri"/>
              </a:rPr>
              <a:t>Admin Dashboard -- active residents, donations, interventions overview</a:t>
            </a:r>
          </a:p>
          <a:p>
            <a:pPr>
              <a:lnSpc>
                <a:spcPts val="1900"/>
              </a:lnSpc>
            </a:pPr>
            <a:r>
              <a:rPr sz="1200" b="1">
                <a:solidFill>
                  <a:srgbClr val="FFCC66"/>
                </a:solidFill>
                <a:latin typeface="Calibri"/>
              </a:rPr>
              <a:t>3. </a:t>
            </a:r>
            <a:r>
              <a:rPr sz="1200" b="0">
                <a:solidFill>
                  <a:srgbClr val="DDDDDD"/>
                </a:solidFill>
                <a:latin typeface="Calibri"/>
              </a:rPr>
              <a:t>Role-based access: Admin sees all, Donor sees own data only</a:t>
            </a:r>
          </a:p>
          <a:p>
            <a:pPr>
              <a:lnSpc>
                <a:spcPts val="1900"/>
              </a:lnSpc>
            </a:pPr>
            <a:r>
              <a:rPr sz="1200" b="1">
                <a:solidFill>
                  <a:srgbClr val="FFCC66"/>
                </a:solidFill>
                <a:latin typeface="Calibri"/>
              </a:rPr>
              <a:t>4. </a:t>
            </a:r>
            <a:r>
              <a:rPr sz="1200" b="0">
                <a:solidFill>
                  <a:srgbClr val="DDDDDD"/>
                </a:solidFill>
                <a:latin typeface="Calibri"/>
              </a:rPr>
              <a:t>Delete confirmation modals, pagination on every list</a:t>
            </a:r>
          </a:p>
        </p:txBody>
      </p:sp>
      <p:sp>
        <p:nvSpPr>
          <p:cNvPr id="11" name="Rounded Rectangle 10"/>
          <p:cNvSpPr/>
          <p:nvPr/>
        </p:nvSpPr>
        <p:spPr>
          <a:xfrm>
            <a:off x="4206240" y="822960"/>
            <a:ext cx="3520440" cy="5760720"/>
          </a:xfrm>
          <a:prstGeom prst="round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34840" y="1005840"/>
            <a:ext cx="3017520" cy="320040"/>
          </a:xfrm>
          <a:prstGeom prst="rect">
            <a:avLst/>
          </a:prstGeom>
          <a:noFill/>
        </p:spPr>
        <p:txBody>
          <a:bodyPr wrap="square"/>
          <a:lstStyle/>
          <a:p>
            <a:pPr algn="l">
              <a:lnSpc>
                <a:spcPts val="1400"/>
              </a:lnSpc>
              <a:defRPr sz="1200" b="1">
                <a:solidFill>
                  <a:srgbClr val="91B191"/>
                </a:solidFill>
                <a:latin typeface="Calibri"/>
              </a:defRPr>
            </a:pPr>
            <a:r>
              <a:t>CASELOAD INTELLIGENCE</a:t>
            </a:r>
          </a:p>
        </p:txBody>
      </p:sp>
      <p:sp>
        <p:nvSpPr>
          <p:cNvPr id="13" name="TextBox 12"/>
          <p:cNvSpPr txBox="1"/>
          <p:nvPr/>
        </p:nvSpPr>
        <p:spPr>
          <a:xfrm>
            <a:off x="4434840" y="1371600"/>
            <a:ext cx="3108960" cy="2377440"/>
          </a:xfrm>
          <a:prstGeom prst="rect">
            <a:avLst/>
          </a:prstGeom>
          <a:noFill/>
        </p:spPr>
        <p:txBody>
          <a:bodyPr wrap="square">
            <a:spAutoFit/>
          </a:bodyPr>
          <a:lstStyle/>
          <a:p>
            <a:pPr>
              <a:lnSpc>
                <a:spcPts val="1900"/>
              </a:lnSpc>
            </a:pPr>
            <a:r>
              <a:rPr sz="1200" b="1">
                <a:solidFill>
                  <a:srgbClr val="91B191"/>
                </a:solidFill>
                <a:latin typeface="Calibri"/>
              </a:rPr>
              <a:t>1. </a:t>
            </a:r>
            <a:r>
              <a:rPr sz="1200" b="0">
                <a:solidFill>
                  <a:srgbClr val="DDDDDD"/>
                </a:solidFill>
                <a:latin typeface="Calibri"/>
              </a:rPr>
              <a:t>Residents list -- filters by status, safehouse, risk. Show ML risk arrows</a:t>
            </a:r>
          </a:p>
          <a:p>
            <a:pPr>
              <a:lnSpc>
                <a:spcPts val="1900"/>
              </a:lnSpc>
            </a:pPr>
            <a:r>
              <a:rPr sz="1200" b="1">
                <a:solidFill>
                  <a:srgbClr val="91B191"/>
                </a:solidFill>
                <a:latin typeface="Calibri"/>
              </a:rPr>
              <a:t>2. </a:t>
            </a:r>
            <a:r>
              <a:rPr sz="1200" b="0">
                <a:solidFill>
                  <a:srgbClr val="DDDDDD"/>
                </a:solidFill>
                <a:latin typeface="Calibri"/>
              </a:rPr>
              <a:t>Click a resident -- full profile, demographics, case info, disability data</a:t>
            </a:r>
          </a:p>
          <a:p>
            <a:pPr>
              <a:lnSpc>
                <a:spcPts val="1900"/>
              </a:lnSpc>
            </a:pPr>
            <a:r>
              <a:rPr sz="1200" b="1">
                <a:solidFill>
                  <a:srgbClr val="91B191"/>
                </a:solidFill>
                <a:latin typeface="Calibri"/>
              </a:rPr>
              <a:t>3. </a:t>
            </a:r>
            <a:r>
              <a:rPr sz="1200" b="0">
                <a:solidFill>
                  <a:srgbClr val="DDDDDD"/>
                </a:solidFill>
                <a:latin typeface="Calibri"/>
              </a:rPr>
              <a:t>ML Risk Assessment card -- predicted risk + confidence + top SHAP factors</a:t>
            </a:r>
          </a:p>
          <a:p>
            <a:pPr>
              <a:lnSpc>
                <a:spcPts val="1900"/>
              </a:lnSpc>
            </a:pPr>
            <a:r>
              <a:rPr sz="1200" b="1">
                <a:solidFill>
                  <a:srgbClr val="91B191"/>
                </a:solidFill>
                <a:latin typeface="Calibri"/>
              </a:rPr>
              <a:t>4. </a:t>
            </a:r>
            <a:r>
              <a:rPr sz="1200" b="0">
                <a:solidFill>
                  <a:srgbClr val="DDDDDD"/>
                </a:solidFill>
                <a:latin typeface="Calibri"/>
              </a:rPr>
              <a:t>Reintegration Insights -- causal factors from logistic regression</a:t>
            </a:r>
          </a:p>
          <a:p>
            <a:pPr>
              <a:lnSpc>
                <a:spcPts val="1900"/>
              </a:lnSpc>
            </a:pPr>
            <a:r>
              <a:rPr sz="1200" b="1">
                <a:solidFill>
                  <a:srgbClr val="91B191"/>
                </a:solidFill>
                <a:latin typeface="Calibri"/>
              </a:rPr>
              <a:t>5. </a:t>
            </a:r>
            <a:r>
              <a:rPr sz="1200" b="0">
                <a:solidFill>
                  <a:srgbClr val="DDDDDD"/>
                </a:solidFill>
                <a:latin typeface="Calibri"/>
              </a:rPr>
              <a:t>Process recordings, education, health, interventions, incidents (show 1-2)</a:t>
            </a:r>
          </a:p>
        </p:txBody>
      </p:sp>
      <p:sp>
        <p:nvSpPr>
          <p:cNvPr id="14" name="Rectangle 13"/>
          <p:cNvSpPr/>
          <p:nvPr/>
        </p:nvSpPr>
        <p:spPr>
          <a:xfrm>
            <a:off x="4434840" y="3749040"/>
            <a:ext cx="3017520" cy="12700"/>
          </a:xfrm>
          <a:prstGeom prst="rect">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34840" y="3931920"/>
            <a:ext cx="3017520" cy="320040"/>
          </a:xfrm>
          <a:prstGeom prst="rect">
            <a:avLst/>
          </a:prstGeom>
          <a:noFill/>
        </p:spPr>
        <p:txBody>
          <a:bodyPr wrap="square"/>
          <a:lstStyle/>
          <a:p>
            <a:pPr algn="l">
              <a:lnSpc>
                <a:spcPts val="1400"/>
              </a:lnSpc>
              <a:defRPr sz="1200" b="1">
                <a:solidFill>
                  <a:srgbClr val="FFCC66"/>
                </a:solidFill>
                <a:latin typeface="Calibri"/>
              </a:defRPr>
            </a:pPr>
            <a:r>
              <a:t>DONOR INTELLIGENCE</a:t>
            </a:r>
          </a:p>
        </p:txBody>
      </p:sp>
      <p:sp>
        <p:nvSpPr>
          <p:cNvPr id="16" name="TextBox 15"/>
          <p:cNvSpPr txBox="1"/>
          <p:nvPr/>
        </p:nvSpPr>
        <p:spPr>
          <a:xfrm>
            <a:off x="4434840" y="4297680"/>
            <a:ext cx="3108960" cy="2103120"/>
          </a:xfrm>
          <a:prstGeom prst="rect">
            <a:avLst/>
          </a:prstGeom>
          <a:noFill/>
        </p:spPr>
        <p:txBody>
          <a:bodyPr wrap="square">
            <a:spAutoFit/>
          </a:bodyPr>
          <a:lstStyle/>
          <a:p>
            <a:pPr>
              <a:lnSpc>
                <a:spcPts val="1900"/>
              </a:lnSpc>
            </a:pPr>
            <a:r>
              <a:rPr sz="1200" b="1">
                <a:solidFill>
                  <a:srgbClr val="FFCC66"/>
                </a:solidFill>
                <a:latin typeface="Calibri"/>
              </a:rPr>
              <a:t>1. </a:t>
            </a:r>
            <a:r>
              <a:rPr sz="1200" b="0">
                <a:solidFill>
                  <a:srgbClr val="DDDDDD"/>
                </a:solidFill>
                <a:latin typeface="Calibri"/>
              </a:rPr>
              <a:t>Supporters list with ML likelihood badges (High/Med/Low)</a:t>
            </a:r>
          </a:p>
          <a:p>
            <a:pPr>
              <a:lnSpc>
                <a:spcPts val="1900"/>
              </a:lnSpc>
            </a:pPr>
            <a:r>
              <a:rPr sz="1200" b="1">
                <a:solidFill>
                  <a:srgbClr val="FFCC66"/>
                </a:solidFill>
                <a:latin typeface="Calibri"/>
              </a:rPr>
              <a:t>2. </a:t>
            </a:r>
            <a:r>
              <a:rPr sz="1200" b="0">
                <a:solidFill>
                  <a:srgbClr val="DDDDDD"/>
                </a:solidFill>
                <a:latin typeface="Calibri"/>
              </a:rPr>
              <a:t>SHAP reasons in plain language explain each prediction</a:t>
            </a:r>
          </a:p>
          <a:p>
            <a:pPr>
              <a:lnSpc>
                <a:spcPts val="1900"/>
              </a:lnSpc>
            </a:pPr>
            <a:r>
              <a:rPr sz="1200" b="1">
                <a:solidFill>
                  <a:srgbClr val="FFCC66"/>
                </a:solidFill>
                <a:latin typeface="Calibri"/>
              </a:rPr>
              <a:t>3. </a:t>
            </a:r>
            <a:r>
              <a:rPr sz="1200" b="0">
                <a:solidFill>
                  <a:srgbClr val="DDDDDD"/>
                </a:solidFill>
                <a:latin typeface="Calibri"/>
              </a:rPr>
              <a:t>Sort by likelihood to prioritize at-risk donor outreach</a:t>
            </a:r>
          </a:p>
          <a:p>
            <a:pPr>
              <a:lnSpc>
                <a:spcPts val="1900"/>
              </a:lnSpc>
            </a:pPr>
            <a:r>
              <a:rPr sz="1200" b="1">
                <a:solidFill>
                  <a:srgbClr val="FFCC66"/>
                </a:solidFill>
                <a:latin typeface="Calibri"/>
              </a:rPr>
              <a:t>4. </a:t>
            </a:r>
            <a:r>
              <a:rPr sz="1200" b="0">
                <a:solidFill>
                  <a:srgbClr val="DDDDDD"/>
                </a:solidFill>
                <a:latin typeface="Calibri"/>
              </a:rPr>
              <a:t>Donor detail -- history, lifetime value, frequency, avg gift</a:t>
            </a:r>
          </a:p>
          <a:p>
            <a:pPr>
              <a:lnSpc>
                <a:spcPts val="1900"/>
              </a:lnSpc>
            </a:pPr>
            <a:r>
              <a:rPr sz="1200" b="1">
                <a:solidFill>
                  <a:srgbClr val="FFCC66"/>
                </a:solidFill>
                <a:latin typeface="Calibri"/>
              </a:rPr>
              <a:t>5. </a:t>
            </a:r>
            <a:r>
              <a:rPr sz="1200" b="0">
                <a:solidFill>
                  <a:srgbClr val="DDDDDD"/>
                </a:solidFill>
                <a:latin typeface="Calibri"/>
              </a:rPr>
              <a:t>Allocations -- where each dollar goes by safehouse/program</a:t>
            </a:r>
          </a:p>
        </p:txBody>
      </p:sp>
      <p:sp>
        <p:nvSpPr>
          <p:cNvPr id="17" name="Rounded Rectangle 16"/>
          <p:cNvSpPr/>
          <p:nvPr/>
        </p:nvSpPr>
        <p:spPr>
          <a:xfrm>
            <a:off x="7955280" y="822960"/>
            <a:ext cx="3520440" cy="5760720"/>
          </a:xfrm>
          <a:prstGeom prst="round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149840" y="960120"/>
            <a:ext cx="1097280" cy="274320"/>
          </a:xfrm>
          <a:prstGeom prst="rect">
            <a:avLst/>
          </a:prstGeom>
          <a:solidFill>
            <a:srgbClr val="FF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195560" y="978408"/>
            <a:ext cx="1005840" cy="228600"/>
          </a:xfrm>
          <a:prstGeom prst="rect">
            <a:avLst/>
          </a:prstGeom>
          <a:noFill/>
        </p:spPr>
        <p:txBody>
          <a:bodyPr wrap="square"/>
          <a:lstStyle/>
          <a:p>
            <a:pPr algn="l">
              <a:lnSpc>
                <a:spcPts val="1200"/>
              </a:lnSpc>
              <a:defRPr sz="1000" b="1">
                <a:solidFill>
                  <a:srgbClr val="1A2633"/>
                </a:solidFill>
                <a:latin typeface="Calibri"/>
              </a:defRPr>
            </a:pPr>
            <a:r>
              <a:t>HIGHLIGHT</a:t>
            </a:r>
          </a:p>
        </p:txBody>
      </p:sp>
      <p:sp>
        <p:nvSpPr>
          <p:cNvPr id="20" name="TextBox 19"/>
          <p:cNvSpPr txBox="1"/>
          <p:nvPr/>
        </p:nvSpPr>
        <p:spPr>
          <a:xfrm>
            <a:off x="8183880" y="1005840"/>
            <a:ext cx="2011680" cy="320040"/>
          </a:xfrm>
          <a:prstGeom prst="rect">
            <a:avLst/>
          </a:prstGeom>
          <a:noFill/>
        </p:spPr>
        <p:txBody>
          <a:bodyPr wrap="square"/>
          <a:lstStyle/>
          <a:p>
            <a:pPr algn="l">
              <a:lnSpc>
                <a:spcPts val="1400"/>
              </a:lnSpc>
              <a:defRPr sz="1200" b="1">
                <a:solidFill>
                  <a:srgbClr val="A2C9E1"/>
                </a:solidFill>
                <a:latin typeface="Calibri"/>
              </a:defRPr>
            </a:pPr>
            <a:r>
              <a:t>AI SOCIAL EDITOR</a:t>
            </a:r>
          </a:p>
        </p:txBody>
      </p:sp>
      <p:sp>
        <p:nvSpPr>
          <p:cNvPr id="21" name="TextBox 20"/>
          <p:cNvSpPr txBox="1"/>
          <p:nvPr/>
        </p:nvSpPr>
        <p:spPr>
          <a:xfrm>
            <a:off x="8183880" y="1371600"/>
            <a:ext cx="3108960" cy="2377440"/>
          </a:xfrm>
          <a:prstGeom prst="rect">
            <a:avLst/>
          </a:prstGeom>
          <a:noFill/>
        </p:spPr>
        <p:txBody>
          <a:bodyPr wrap="square">
            <a:spAutoFit/>
          </a:bodyPr>
          <a:lstStyle/>
          <a:p>
            <a:pPr>
              <a:lnSpc>
                <a:spcPts val="1900"/>
              </a:lnSpc>
            </a:pPr>
            <a:r>
              <a:rPr sz="1200" b="1">
                <a:solidFill>
                  <a:srgbClr val="A2C9E1"/>
                </a:solidFill>
                <a:latin typeface="Calibri"/>
              </a:rPr>
              <a:t>1. </a:t>
            </a:r>
            <a:r>
              <a:rPr sz="1200" b="0">
                <a:solidFill>
                  <a:srgbClr val="DDDDDD"/>
                </a:solidFill>
                <a:latin typeface="Calibri"/>
              </a:rPr>
              <a:t>Build a post: pick platform, type, media, topic, sentiment, CTA</a:t>
            </a:r>
          </a:p>
          <a:p>
            <a:pPr>
              <a:lnSpc>
                <a:spcPts val="1900"/>
              </a:lnSpc>
            </a:pPr>
            <a:r>
              <a:rPr sz="1200" b="1">
                <a:solidFill>
                  <a:srgbClr val="A2C9E1"/>
                </a:solidFill>
                <a:latin typeface="Calibri"/>
              </a:rPr>
              <a:t>2. </a:t>
            </a:r>
            <a:r>
              <a:rPr sz="1200" b="0">
                <a:solidFill>
                  <a:srgbClr val="DDDDDD"/>
                </a:solidFill>
                <a:latin typeface="Calibri"/>
              </a:rPr>
              <a:t>Watch 6 prediction cards update live (referrals, value, engagement...)</a:t>
            </a:r>
          </a:p>
          <a:p>
            <a:pPr>
              <a:lnSpc>
                <a:spcPts val="1900"/>
              </a:lnSpc>
            </a:pPr>
            <a:r>
              <a:rPr sz="1200" b="1">
                <a:solidFill>
                  <a:srgbClr val="A2C9E1"/>
                </a:solidFill>
                <a:latin typeface="Calibri"/>
              </a:rPr>
              <a:t>3. </a:t>
            </a:r>
            <a:r>
              <a:rPr sz="1200" b="0">
                <a:solidFill>
                  <a:srgbClr val="DDDDDD"/>
                </a:solidFill>
                <a:latin typeface="Calibri"/>
              </a:rPr>
              <a:t>Change platform or CTA -- narrate how predictions shift</a:t>
            </a:r>
          </a:p>
          <a:p>
            <a:pPr>
              <a:lnSpc>
                <a:spcPts val="1900"/>
              </a:lnSpc>
            </a:pPr>
            <a:r>
              <a:rPr sz="1200" b="1">
                <a:solidFill>
                  <a:srgbClr val="A2C9E1"/>
                </a:solidFill>
                <a:latin typeface="Calibri"/>
              </a:rPr>
              <a:t>4. </a:t>
            </a:r>
            <a:r>
              <a:rPr sz="1200" b="0">
                <a:solidFill>
                  <a:srgbClr val="DDDDDD"/>
                </a:solidFill>
                <a:latin typeface="Calibri"/>
              </a:rPr>
              <a:t>Show Best Posting Times -- top 15 optimal day/hour slots</a:t>
            </a:r>
          </a:p>
          <a:p>
            <a:pPr>
              <a:lnSpc>
                <a:spcPts val="1900"/>
              </a:lnSpc>
            </a:pPr>
            <a:r>
              <a:rPr sz="1200" b="1">
                <a:solidFill>
                  <a:srgbClr val="A2C9E1"/>
                </a:solidFill>
                <a:latin typeface="Calibri"/>
              </a:rPr>
              <a:t>5. </a:t>
            </a:r>
            <a:r>
              <a:rPr sz="1200" b="0">
                <a:solidFill>
                  <a:srgbClr val="DDDDDD"/>
                </a:solidFill>
                <a:latin typeface="Calibri"/>
              </a:rPr>
              <a:t>Click an optimal slot to auto-schedule the post</a:t>
            </a:r>
          </a:p>
        </p:txBody>
      </p:sp>
      <p:sp>
        <p:nvSpPr>
          <p:cNvPr id="22" name="Rectangle 21"/>
          <p:cNvSpPr/>
          <p:nvPr/>
        </p:nvSpPr>
        <p:spPr>
          <a:xfrm>
            <a:off x="8183880" y="3749040"/>
            <a:ext cx="3017520" cy="12700"/>
          </a:xfrm>
          <a:prstGeom prst="rect">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83880" y="3931920"/>
            <a:ext cx="3017520" cy="320040"/>
          </a:xfrm>
          <a:prstGeom prst="rect">
            <a:avLst/>
          </a:prstGeom>
          <a:noFill/>
        </p:spPr>
        <p:txBody>
          <a:bodyPr wrap="square"/>
          <a:lstStyle/>
          <a:p>
            <a:pPr algn="l">
              <a:lnSpc>
                <a:spcPts val="1400"/>
              </a:lnSpc>
              <a:defRPr sz="1200" b="1">
                <a:solidFill>
                  <a:srgbClr val="FFCC66"/>
                </a:solidFill>
                <a:latin typeface="Calibri"/>
              </a:defRPr>
            </a:pPr>
            <a:r>
              <a:t>REPORTS &amp; ANALYTICS</a:t>
            </a:r>
          </a:p>
        </p:txBody>
      </p:sp>
      <p:sp>
        <p:nvSpPr>
          <p:cNvPr id="24" name="TextBox 23"/>
          <p:cNvSpPr txBox="1"/>
          <p:nvPr/>
        </p:nvSpPr>
        <p:spPr>
          <a:xfrm>
            <a:off x="8183880" y="4297680"/>
            <a:ext cx="3108960" cy="2103120"/>
          </a:xfrm>
          <a:prstGeom prst="rect">
            <a:avLst/>
          </a:prstGeom>
          <a:noFill/>
        </p:spPr>
        <p:txBody>
          <a:bodyPr wrap="square">
            <a:spAutoFit/>
          </a:bodyPr>
          <a:lstStyle/>
          <a:p>
            <a:pPr>
              <a:lnSpc>
                <a:spcPts val="1900"/>
              </a:lnSpc>
            </a:pPr>
            <a:r>
              <a:rPr sz="1200" b="1">
                <a:solidFill>
                  <a:srgbClr val="FFCC66"/>
                </a:solidFill>
                <a:latin typeface="Calibri"/>
              </a:rPr>
              <a:t>1. </a:t>
            </a:r>
            <a:r>
              <a:rPr sz="1200" b="0">
                <a:solidFill>
                  <a:srgbClr val="DDDDDD"/>
                </a:solidFill>
                <a:latin typeface="Calibri"/>
              </a:rPr>
              <a:t>Donation trends (monthly totals + counts over time)</a:t>
            </a:r>
          </a:p>
          <a:p>
            <a:pPr>
              <a:lnSpc>
                <a:spcPts val="1900"/>
              </a:lnSpc>
            </a:pPr>
            <a:r>
              <a:rPr sz="1200" b="1">
                <a:solidFill>
                  <a:srgbClr val="FFCC66"/>
                </a:solidFill>
                <a:latin typeface="Calibri"/>
              </a:rPr>
              <a:t>2. </a:t>
            </a:r>
            <a:r>
              <a:rPr sz="1200" b="0">
                <a:solidFill>
                  <a:srgbClr val="DDDDDD"/>
                </a:solidFill>
                <a:latin typeface="Calibri"/>
              </a:rPr>
              <a:t>Education progress &amp; health trends by safehouse</a:t>
            </a:r>
          </a:p>
          <a:p>
            <a:pPr>
              <a:lnSpc>
                <a:spcPts val="1900"/>
              </a:lnSpc>
            </a:pPr>
            <a:r>
              <a:rPr sz="1200" b="1">
                <a:solidFill>
                  <a:srgbClr val="FFCC66"/>
                </a:solidFill>
                <a:latin typeface="Calibri"/>
              </a:rPr>
              <a:t>3. </a:t>
            </a:r>
            <a:r>
              <a:rPr sz="1200" b="0">
                <a:solidFill>
                  <a:srgbClr val="DDDDDD"/>
                </a:solidFill>
                <a:latin typeface="Calibri"/>
              </a:rPr>
              <a:t>Reintegration success rates per safehouse</a:t>
            </a:r>
          </a:p>
          <a:p>
            <a:pPr>
              <a:lnSpc>
                <a:spcPts val="1900"/>
              </a:lnSpc>
            </a:pPr>
            <a:r>
              <a:rPr sz="1200" b="1">
                <a:solidFill>
                  <a:srgbClr val="FFCC66"/>
                </a:solidFill>
                <a:latin typeface="Calibri"/>
              </a:rPr>
              <a:t>4. </a:t>
            </a:r>
            <a:r>
              <a:rPr sz="1200" b="0">
                <a:solidFill>
                  <a:srgbClr val="DDDDDD"/>
                </a:solidFill>
                <a:latin typeface="Calibri"/>
              </a:rPr>
              <a:t>Incident summary by type and severity</a:t>
            </a:r>
          </a:p>
          <a:p>
            <a:pPr>
              <a:lnSpc>
                <a:spcPts val="1900"/>
              </a:lnSpc>
            </a:pPr>
            <a:r>
              <a:rPr sz="1200" b="1">
                <a:solidFill>
                  <a:srgbClr val="FFCC66"/>
                </a:solidFill>
                <a:latin typeface="Calibri"/>
              </a:rPr>
              <a:t>5. </a:t>
            </a:r>
            <a:r>
              <a:rPr sz="1200" b="0">
                <a:solidFill>
                  <a:srgbClr val="DDDDDD"/>
                </a:solidFill>
                <a:latin typeface="Calibri"/>
              </a:rPr>
              <a:t>Social media post performance and platform comparison</a:t>
            </a:r>
          </a:p>
        </p:txBody>
      </p:sp>
      <p:sp>
        <p:nvSpPr>
          <p:cNvPr id="25" name="TextBox 24"/>
          <p:cNvSpPr txBox="1"/>
          <p:nvPr/>
        </p:nvSpPr>
        <p:spPr>
          <a:xfrm>
            <a:off x="11155680" y="6446520"/>
            <a:ext cx="914400" cy="365760"/>
          </a:xfrm>
          <a:prstGeom prst="rect">
            <a:avLst/>
          </a:prstGeom>
          <a:noFill/>
        </p:spPr>
        <p:txBody>
          <a:bodyPr wrap="square"/>
          <a:lstStyle/>
          <a:p>
            <a:pPr algn="r">
              <a:lnSpc>
                <a:spcPts val="1200"/>
              </a:lnSpc>
              <a:defRPr sz="1000" b="0">
                <a:solidFill>
                  <a:srgbClr val="999999"/>
                </a:solidFill>
                <a:latin typeface="Calibri"/>
              </a:defRPr>
            </a:pPr>
            <a:r>
              <a:t>5 / 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A2633"/>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457200"/>
          </a:xfrm>
          <a:prstGeom prst="rect">
            <a:avLst/>
          </a:prstGeom>
          <a:noFill/>
        </p:spPr>
        <p:txBody>
          <a:bodyPr wrap="square"/>
          <a:lstStyle/>
          <a:p>
            <a:pPr algn="l">
              <a:lnSpc>
                <a:spcPts val="1600"/>
              </a:lnSpc>
              <a:defRPr sz="1400" b="1">
                <a:solidFill>
                  <a:srgbClr val="FFCC66"/>
                </a:solidFill>
                <a:latin typeface="Calibri"/>
              </a:defRPr>
            </a:pPr>
            <a:r>
              <a:t>UNDER THE HOOD</a:t>
            </a:r>
          </a:p>
        </p:txBody>
      </p:sp>
      <p:sp>
        <p:nvSpPr>
          <p:cNvPr id="4" name="TextBox 3"/>
          <p:cNvSpPr txBox="1"/>
          <p:nvPr/>
        </p:nvSpPr>
        <p:spPr>
          <a:xfrm>
            <a:off x="731520" y="822960"/>
            <a:ext cx="10058400" cy="731520"/>
          </a:xfrm>
          <a:prstGeom prst="rect">
            <a:avLst/>
          </a:prstGeom>
          <a:noFill/>
        </p:spPr>
        <p:txBody>
          <a:bodyPr wrap="square"/>
          <a:lstStyle/>
          <a:p>
            <a:pPr algn="l">
              <a:lnSpc>
                <a:spcPts val="4500"/>
              </a:lnSpc>
              <a:defRPr sz="3800" b="1">
                <a:solidFill>
                  <a:srgbClr val="FFFFFF"/>
                </a:solidFill>
                <a:latin typeface="Calibri Light"/>
              </a:defRPr>
            </a:pPr>
            <a:r>
              <a:t>5 Production ML Pipelines</a:t>
            </a:r>
          </a:p>
        </p:txBody>
      </p:sp>
      <p:sp>
        <p:nvSpPr>
          <p:cNvPr id="5" name="Rectangle 4"/>
          <p:cNvSpPr/>
          <p:nvPr/>
        </p:nvSpPr>
        <p:spPr>
          <a:xfrm>
            <a:off x="731520" y="1508760"/>
            <a:ext cx="1828800" cy="38100"/>
          </a:xfrm>
          <a:prstGeom prst="rect">
            <a:avLst/>
          </a:prstGeom>
          <a:solidFill>
            <a:srgbClr val="FF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828800"/>
            <a:ext cx="11064240" cy="411480"/>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20"/>
            <a:ext cx="365760" cy="320040"/>
          </a:xfrm>
          <a:prstGeom prst="rect">
            <a:avLst/>
          </a:prstGeom>
          <a:noFill/>
        </p:spPr>
        <p:txBody>
          <a:bodyPr wrap="square"/>
          <a:lstStyle/>
          <a:p>
            <a:pPr algn="l">
              <a:lnSpc>
                <a:spcPts val="1400"/>
              </a:lnSpc>
              <a:defRPr sz="1200" b="1">
                <a:solidFill>
                  <a:srgbClr val="FFCC66"/>
                </a:solidFill>
                <a:latin typeface="Calibri"/>
              </a:defRPr>
            </a:pPr>
            <a:r>
              <a:t>#</a:t>
            </a:r>
          </a:p>
        </p:txBody>
      </p:sp>
      <p:sp>
        <p:nvSpPr>
          <p:cNvPr id="8" name="TextBox 7"/>
          <p:cNvSpPr txBox="1"/>
          <p:nvPr/>
        </p:nvSpPr>
        <p:spPr>
          <a:xfrm>
            <a:off x="1005840" y="1874520"/>
            <a:ext cx="2011680" cy="320040"/>
          </a:xfrm>
          <a:prstGeom prst="rect">
            <a:avLst/>
          </a:prstGeom>
          <a:noFill/>
        </p:spPr>
        <p:txBody>
          <a:bodyPr wrap="square"/>
          <a:lstStyle/>
          <a:p>
            <a:pPr algn="l">
              <a:lnSpc>
                <a:spcPts val="1400"/>
              </a:lnSpc>
              <a:defRPr sz="1200" b="1">
                <a:solidFill>
                  <a:srgbClr val="FFCC66"/>
                </a:solidFill>
                <a:latin typeface="Calibri"/>
              </a:defRPr>
            </a:pPr>
            <a:r>
              <a:t>Pipeline</a:t>
            </a:r>
          </a:p>
        </p:txBody>
      </p:sp>
      <p:sp>
        <p:nvSpPr>
          <p:cNvPr id="9" name="TextBox 8"/>
          <p:cNvSpPr txBox="1"/>
          <p:nvPr/>
        </p:nvSpPr>
        <p:spPr>
          <a:xfrm>
            <a:off x="3108960" y="1874520"/>
            <a:ext cx="2011680" cy="320040"/>
          </a:xfrm>
          <a:prstGeom prst="rect">
            <a:avLst/>
          </a:prstGeom>
          <a:noFill/>
        </p:spPr>
        <p:txBody>
          <a:bodyPr wrap="square"/>
          <a:lstStyle/>
          <a:p>
            <a:pPr algn="l">
              <a:lnSpc>
                <a:spcPts val="1400"/>
              </a:lnSpc>
              <a:defRPr sz="1200" b="1">
                <a:solidFill>
                  <a:srgbClr val="FFCC66"/>
                </a:solidFill>
                <a:latin typeface="Calibri"/>
              </a:defRPr>
            </a:pPr>
            <a:r>
              <a:t>Approach</a:t>
            </a:r>
          </a:p>
        </p:txBody>
      </p:sp>
      <p:sp>
        <p:nvSpPr>
          <p:cNvPr id="10" name="TextBox 9"/>
          <p:cNvSpPr txBox="1"/>
          <p:nvPr/>
        </p:nvSpPr>
        <p:spPr>
          <a:xfrm>
            <a:off x="5212080" y="1874520"/>
            <a:ext cx="2011680" cy="320040"/>
          </a:xfrm>
          <a:prstGeom prst="rect">
            <a:avLst/>
          </a:prstGeom>
          <a:noFill/>
        </p:spPr>
        <p:txBody>
          <a:bodyPr wrap="square"/>
          <a:lstStyle/>
          <a:p>
            <a:pPr algn="l">
              <a:lnSpc>
                <a:spcPts val="1400"/>
              </a:lnSpc>
              <a:defRPr sz="1200" b="1">
                <a:solidFill>
                  <a:srgbClr val="FFCC66"/>
                </a:solidFill>
                <a:latin typeface="Calibri"/>
              </a:defRPr>
            </a:pPr>
            <a:r>
              <a:t>Algorithm</a:t>
            </a:r>
          </a:p>
        </p:txBody>
      </p:sp>
      <p:sp>
        <p:nvSpPr>
          <p:cNvPr id="11" name="TextBox 10"/>
          <p:cNvSpPr txBox="1"/>
          <p:nvPr/>
        </p:nvSpPr>
        <p:spPr>
          <a:xfrm>
            <a:off x="7315200" y="1874520"/>
            <a:ext cx="1828800" cy="320040"/>
          </a:xfrm>
          <a:prstGeom prst="rect">
            <a:avLst/>
          </a:prstGeom>
          <a:noFill/>
        </p:spPr>
        <p:txBody>
          <a:bodyPr wrap="square"/>
          <a:lstStyle/>
          <a:p>
            <a:pPr algn="l">
              <a:lnSpc>
                <a:spcPts val="1400"/>
              </a:lnSpc>
              <a:defRPr sz="1200" b="1">
                <a:solidFill>
                  <a:srgbClr val="FFCC66"/>
                </a:solidFill>
                <a:latin typeface="Calibri"/>
              </a:defRPr>
            </a:pPr>
            <a:r>
              <a:t>Key Metric</a:t>
            </a:r>
          </a:p>
        </p:txBody>
      </p:sp>
      <p:sp>
        <p:nvSpPr>
          <p:cNvPr id="12" name="TextBox 11"/>
          <p:cNvSpPr txBox="1"/>
          <p:nvPr/>
        </p:nvSpPr>
        <p:spPr>
          <a:xfrm>
            <a:off x="9235440" y="1874520"/>
            <a:ext cx="2377440" cy="320040"/>
          </a:xfrm>
          <a:prstGeom prst="rect">
            <a:avLst/>
          </a:prstGeom>
          <a:noFill/>
        </p:spPr>
        <p:txBody>
          <a:bodyPr wrap="square"/>
          <a:lstStyle/>
          <a:p>
            <a:pPr algn="l">
              <a:lnSpc>
                <a:spcPts val="1400"/>
              </a:lnSpc>
              <a:defRPr sz="1200" b="1">
                <a:solidFill>
                  <a:srgbClr val="FFCC66"/>
                </a:solidFill>
                <a:latin typeface="Calibri"/>
              </a:defRPr>
            </a:pPr>
            <a:r>
              <a:t>Integration</a:t>
            </a:r>
          </a:p>
        </p:txBody>
      </p:sp>
      <p:sp>
        <p:nvSpPr>
          <p:cNvPr id="13" name="Rectangle 12"/>
          <p:cNvSpPr/>
          <p:nvPr/>
        </p:nvSpPr>
        <p:spPr>
          <a:xfrm>
            <a:off x="548640" y="2286000"/>
            <a:ext cx="11064240" cy="457200"/>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350008"/>
            <a:ext cx="365760" cy="320040"/>
          </a:xfrm>
          <a:prstGeom prst="rect">
            <a:avLst/>
          </a:prstGeom>
          <a:noFill/>
        </p:spPr>
        <p:txBody>
          <a:bodyPr wrap="square"/>
          <a:lstStyle/>
          <a:p>
            <a:pPr algn="l">
              <a:lnSpc>
                <a:spcPts val="1400"/>
              </a:lnSpc>
              <a:defRPr sz="1200" b="1">
                <a:solidFill>
                  <a:srgbClr val="A2C9E1"/>
                </a:solidFill>
                <a:latin typeface="Calibri"/>
              </a:defRPr>
            </a:pPr>
            <a:r>
              <a:t>1</a:t>
            </a:r>
          </a:p>
        </p:txBody>
      </p:sp>
      <p:sp>
        <p:nvSpPr>
          <p:cNvPr id="15" name="TextBox 14"/>
          <p:cNvSpPr txBox="1"/>
          <p:nvPr/>
        </p:nvSpPr>
        <p:spPr>
          <a:xfrm>
            <a:off x="1005840" y="2350008"/>
            <a:ext cx="2011680" cy="320040"/>
          </a:xfrm>
          <a:prstGeom prst="rect">
            <a:avLst/>
          </a:prstGeom>
          <a:noFill/>
        </p:spPr>
        <p:txBody>
          <a:bodyPr wrap="square"/>
          <a:lstStyle/>
          <a:p>
            <a:pPr algn="l">
              <a:lnSpc>
                <a:spcPts val="1400"/>
              </a:lnSpc>
              <a:defRPr sz="1200" b="0">
                <a:solidFill>
                  <a:srgbClr val="FFFFFF"/>
                </a:solidFill>
                <a:latin typeface="Calibri"/>
              </a:defRPr>
            </a:pPr>
            <a:r>
              <a:t>Donor Likelihood</a:t>
            </a:r>
          </a:p>
        </p:txBody>
      </p:sp>
      <p:sp>
        <p:nvSpPr>
          <p:cNvPr id="16" name="TextBox 15"/>
          <p:cNvSpPr txBox="1"/>
          <p:nvPr/>
        </p:nvSpPr>
        <p:spPr>
          <a:xfrm>
            <a:off x="3108960" y="2350008"/>
            <a:ext cx="2011680" cy="320040"/>
          </a:xfrm>
          <a:prstGeom prst="rect">
            <a:avLst/>
          </a:prstGeom>
          <a:noFill/>
        </p:spPr>
        <p:txBody>
          <a:bodyPr wrap="square"/>
          <a:lstStyle/>
          <a:p>
            <a:pPr algn="l">
              <a:lnSpc>
                <a:spcPts val="1400"/>
              </a:lnSpc>
              <a:defRPr sz="1200" b="0">
                <a:solidFill>
                  <a:srgbClr val="FFFFFF"/>
                </a:solidFill>
                <a:latin typeface="Calibri"/>
              </a:defRPr>
            </a:pPr>
            <a:r>
              <a:t>Predictive</a:t>
            </a:r>
          </a:p>
        </p:txBody>
      </p:sp>
      <p:sp>
        <p:nvSpPr>
          <p:cNvPr id="17" name="TextBox 16"/>
          <p:cNvSpPr txBox="1"/>
          <p:nvPr/>
        </p:nvSpPr>
        <p:spPr>
          <a:xfrm>
            <a:off x="5212080" y="2350008"/>
            <a:ext cx="2011680" cy="320040"/>
          </a:xfrm>
          <a:prstGeom prst="rect">
            <a:avLst/>
          </a:prstGeom>
          <a:noFill/>
        </p:spPr>
        <p:txBody>
          <a:bodyPr wrap="square"/>
          <a:lstStyle/>
          <a:p>
            <a:pPr algn="l">
              <a:lnSpc>
                <a:spcPts val="1400"/>
              </a:lnSpc>
              <a:defRPr sz="1200" b="0">
                <a:solidFill>
                  <a:srgbClr val="FFFFFF"/>
                </a:solidFill>
                <a:latin typeface="Calibri"/>
              </a:defRPr>
            </a:pPr>
            <a:r>
              <a:t>Gradient Boosting</a:t>
            </a:r>
          </a:p>
        </p:txBody>
      </p:sp>
      <p:sp>
        <p:nvSpPr>
          <p:cNvPr id="18" name="TextBox 17"/>
          <p:cNvSpPr txBox="1"/>
          <p:nvPr/>
        </p:nvSpPr>
        <p:spPr>
          <a:xfrm>
            <a:off x="7315200" y="2350008"/>
            <a:ext cx="1828800" cy="320040"/>
          </a:xfrm>
          <a:prstGeom prst="rect">
            <a:avLst/>
          </a:prstGeom>
          <a:noFill/>
        </p:spPr>
        <p:txBody>
          <a:bodyPr wrap="square"/>
          <a:lstStyle/>
          <a:p>
            <a:pPr algn="l">
              <a:lnSpc>
                <a:spcPts val="1400"/>
              </a:lnSpc>
              <a:defRPr sz="1200" b="0">
                <a:solidFill>
                  <a:srgbClr val="FFFFFF"/>
                </a:solidFill>
                <a:latin typeface="Calibri"/>
              </a:defRPr>
            </a:pPr>
            <a:r>
              <a:t>F1: 0.98, AUC: 0.98</a:t>
            </a:r>
          </a:p>
        </p:txBody>
      </p:sp>
      <p:sp>
        <p:nvSpPr>
          <p:cNvPr id="19" name="TextBox 18"/>
          <p:cNvSpPr txBox="1"/>
          <p:nvPr/>
        </p:nvSpPr>
        <p:spPr>
          <a:xfrm>
            <a:off x="9235440" y="2350008"/>
            <a:ext cx="2377440" cy="320040"/>
          </a:xfrm>
          <a:prstGeom prst="rect">
            <a:avLst/>
          </a:prstGeom>
          <a:noFill/>
        </p:spPr>
        <p:txBody>
          <a:bodyPr wrap="square"/>
          <a:lstStyle/>
          <a:p>
            <a:pPr algn="l">
              <a:lnSpc>
                <a:spcPts val="1400"/>
              </a:lnSpc>
              <a:defRPr sz="1200" b="0">
                <a:solidFill>
                  <a:srgbClr val="FFFFFF"/>
                </a:solidFill>
                <a:latin typeface="Calibri"/>
              </a:defRPr>
            </a:pPr>
            <a:r>
              <a:t>Supporters list badges</a:t>
            </a:r>
          </a:p>
        </p:txBody>
      </p:sp>
      <p:sp>
        <p:nvSpPr>
          <p:cNvPr id="20" name="Rectangle 19"/>
          <p:cNvSpPr/>
          <p:nvPr/>
        </p:nvSpPr>
        <p:spPr>
          <a:xfrm>
            <a:off x="548640" y="2788920"/>
            <a:ext cx="11064240" cy="457200"/>
          </a:xfrm>
          <a:prstGeom prst="rect">
            <a:avLst/>
          </a:prstGeom>
          <a:solidFill>
            <a:srgbClr val="2430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2852928"/>
            <a:ext cx="365760" cy="320040"/>
          </a:xfrm>
          <a:prstGeom prst="rect">
            <a:avLst/>
          </a:prstGeom>
          <a:noFill/>
        </p:spPr>
        <p:txBody>
          <a:bodyPr wrap="square"/>
          <a:lstStyle/>
          <a:p>
            <a:pPr algn="l">
              <a:lnSpc>
                <a:spcPts val="1400"/>
              </a:lnSpc>
              <a:defRPr sz="1200" b="1">
                <a:solidFill>
                  <a:srgbClr val="A2C9E1"/>
                </a:solidFill>
                <a:latin typeface="Calibri"/>
              </a:defRPr>
            </a:pPr>
            <a:r>
              <a:t>2</a:t>
            </a:r>
          </a:p>
        </p:txBody>
      </p:sp>
      <p:sp>
        <p:nvSpPr>
          <p:cNvPr id="22" name="TextBox 21"/>
          <p:cNvSpPr txBox="1"/>
          <p:nvPr/>
        </p:nvSpPr>
        <p:spPr>
          <a:xfrm>
            <a:off x="1005840" y="2852928"/>
            <a:ext cx="2011680" cy="320040"/>
          </a:xfrm>
          <a:prstGeom prst="rect">
            <a:avLst/>
          </a:prstGeom>
          <a:noFill/>
        </p:spPr>
        <p:txBody>
          <a:bodyPr wrap="square"/>
          <a:lstStyle/>
          <a:p>
            <a:pPr algn="l">
              <a:lnSpc>
                <a:spcPts val="1400"/>
              </a:lnSpc>
              <a:defRPr sz="1200" b="0">
                <a:solidFill>
                  <a:srgbClr val="FFFFFF"/>
                </a:solidFill>
                <a:latin typeface="Calibri"/>
              </a:defRPr>
            </a:pPr>
            <a:r>
              <a:t>Social Referrals</a:t>
            </a:r>
          </a:p>
        </p:txBody>
      </p:sp>
      <p:sp>
        <p:nvSpPr>
          <p:cNvPr id="23" name="TextBox 22"/>
          <p:cNvSpPr txBox="1"/>
          <p:nvPr/>
        </p:nvSpPr>
        <p:spPr>
          <a:xfrm>
            <a:off x="3108960" y="2852928"/>
            <a:ext cx="2011680" cy="320040"/>
          </a:xfrm>
          <a:prstGeom prst="rect">
            <a:avLst/>
          </a:prstGeom>
          <a:noFill/>
        </p:spPr>
        <p:txBody>
          <a:bodyPr wrap="square"/>
          <a:lstStyle/>
          <a:p>
            <a:pPr algn="l">
              <a:lnSpc>
                <a:spcPts val="1400"/>
              </a:lnSpc>
              <a:defRPr sz="1200" b="0">
                <a:solidFill>
                  <a:srgbClr val="FFFFFF"/>
                </a:solidFill>
                <a:latin typeface="Calibri"/>
              </a:defRPr>
            </a:pPr>
            <a:r>
              <a:t>Explanatory + Predictive</a:t>
            </a:r>
          </a:p>
        </p:txBody>
      </p:sp>
      <p:sp>
        <p:nvSpPr>
          <p:cNvPr id="24" name="TextBox 23"/>
          <p:cNvSpPr txBox="1"/>
          <p:nvPr/>
        </p:nvSpPr>
        <p:spPr>
          <a:xfrm>
            <a:off x="5212080" y="2852928"/>
            <a:ext cx="2011680" cy="320040"/>
          </a:xfrm>
          <a:prstGeom prst="rect">
            <a:avLst/>
          </a:prstGeom>
          <a:noFill/>
        </p:spPr>
        <p:txBody>
          <a:bodyPr wrap="square"/>
          <a:lstStyle/>
          <a:p>
            <a:pPr algn="l">
              <a:lnSpc>
                <a:spcPts val="1400"/>
              </a:lnSpc>
              <a:defRPr sz="1200" b="0">
                <a:solidFill>
                  <a:srgbClr val="FFFFFF"/>
                </a:solidFill>
                <a:latin typeface="Calibri"/>
              </a:defRPr>
            </a:pPr>
            <a:r>
              <a:t>GBM / Ridge / LightGBM</a:t>
            </a:r>
          </a:p>
        </p:txBody>
      </p:sp>
      <p:sp>
        <p:nvSpPr>
          <p:cNvPr id="25" name="TextBox 24"/>
          <p:cNvSpPr txBox="1"/>
          <p:nvPr/>
        </p:nvSpPr>
        <p:spPr>
          <a:xfrm>
            <a:off x="7315200" y="2852928"/>
            <a:ext cx="1828800" cy="320040"/>
          </a:xfrm>
          <a:prstGeom prst="rect">
            <a:avLst/>
          </a:prstGeom>
          <a:noFill/>
        </p:spPr>
        <p:txBody>
          <a:bodyPr wrap="square"/>
          <a:lstStyle/>
          <a:p>
            <a:pPr algn="l">
              <a:lnSpc>
                <a:spcPts val="1400"/>
              </a:lnSpc>
              <a:defRPr sz="1200" b="0">
                <a:solidFill>
                  <a:srgbClr val="FFFFFF"/>
                </a:solidFill>
                <a:latin typeface="Calibri"/>
              </a:defRPr>
            </a:pPr>
            <a:r>
              <a:t>6 target models</a:t>
            </a:r>
          </a:p>
        </p:txBody>
      </p:sp>
      <p:sp>
        <p:nvSpPr>
          <p:cNvPr id="26" name="TextBox 25"/>
          <p:cNvSpPr txBox="1"/>
          <p:nvPr/>
        </p:nvSpPr>
        <p:spPr>
          <a:xfrm>
            <a:off x="9235440" y="2852928"/>
            <a:ext cx="2377440" cy="320040"/>
          </a:xfrm>
          <a:prstGeom prst="rect">
            <a:avLst/>
          </a:prstGeom>
          <a:noFill/>
        </p:spPr>
        <p:txBody>
          <a:bodyPr wrap="square"/>
          <a:lstStyle/>
          <a:p>
            <a:pPr algn="l">
              <a:lnSpc>
                <a:spcPts val="1400"/>
              </a:lnSpc>
              <a:defRPr sz="1200" b="0">
                <a:solidFill>
                  <a:srgbClr val="FFFFFF"/>
                </a:solidFill>
                <a:latin typeface="Calibri"/>
              </a:defRPr>
            </a:pPr>
            <a:r>
              <a:t>Social Editor live cards</a:t>
            </a:r>
          </a:p>
        </p:txBody>
      </p:sp>
      <p:sp>
        <p:nvSpPr>
          <p:cNvPr id="27" name="Rectangle 26"/>
          <p:cNvSpPr/>
          <p:nvPr/>
        </p:nvSpPr>
        <p:spPr>
          <a:xfrm>
            <a:off x="548640" y="3291840"/>
            <a:ext cx="11064240" cy="457200"/>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3355848"/>
            <a:ext cx="365760" cy="320040"/>
          </a:xfrm>
          <a:prstGeom prst="rect">
            <a:avLst/>
          </a:prstGeom>
          <a:noFill/>
        </p:spPr>
        <p:txBody>
          <a:bodyPr wrap="square"/>
          <a:lstStyle/>
          <a:p>
            <a:pPr algn="l">
              <a:lnSpc>
                <a:spcPts val="1400"/>
              </a:lnSpc>
              <a:defRPr sz="1200" b="1">
                <a:solidFill>
                  <a:srgbClr val="A2C9E1"/>
                </a:solidFill>
                <a:latin typeface="Calibri"/>
              </a:defRPr>
            </a:pPr>
            <a:r>
              <a:t>3</a:t>
            </a:r>
          </a:p>
        </p:txBody>
      </p:sp>
      <p:sp>
        <p:nvSpPr>
          <p:cNvPr id="29" name="TextBox 28"/>
          <p:cNvSpPr txBox="1"/>
          <p:nvPr/>
        </p:nvSpPr>
        <p:spPr>
          <a:xfrm>
            <a:off x="1005840" y="3355848"/>
            <a:ext cx="2011680" cy="320040"/>
          </a:xfrm>
          <a:prstGeom prst="rect">
            <a:avLst/>
          </a:prstGeom>
          <a:noFill/>
        </p:spPr>
        <p:txBody>
          <a:bodyPr wrap="square"/>
          <a:lstStyle/>
          <a:p>
            <a:pPr algn="l">
              <a:lnSpc>
                <a:spcPts val="1400"/>
              </a:lnSpc>
              <a:defRPr sz="1200" b="0">
                <a:solidFill>
                  <a:srgbClr val="FFFFFF"/>
                </a:solidFill>
                <a:latin typeface="Calibri"/>
              </a:defRPr>
            </a:pPr>
            <a:r>
              <a:t>Best Posting Times</a:t>
            </a:r>
          </a:p>
        </p:txBody>
      </p:sp>
      <p:sp>
        <p:nvSpPr>
          <p:cNvPr id="30" name="TextBox 29"/>
          <p:cNvSpPr txBox="1"/>
          <p:nvPr/>
        </p:nvSpPr>
        <p:spPr>
          <a:xfrm>
            <a:off x="3108960" y="3355848"/>
            <a:ext cx="2011680" cy="320040"/>
          </a:xfrm>
          <a:prstGeom prst="rect">
            <a:avLst/>
          </a:prstGeom>
          <a:noFill/>
        </p:spPr>
        <p:txBody>
          <a:bodyPr wrap="square"/>
          <a:lstStyle/>
          <a:p>
            <a:pPr algn="l">
              <a:lnSpc>
                <a:spcPts val="1400"/>
              </a:lnSpc>
              <a:defRPr sz="1200" b="0">
                <a:solidFill>
                  <a:srgbClr val="FFFFFF"/>
                </a:solidFill>
                <a:latin typeface="Calibri"/>
              </a:defRPr>
            </a:pPr>
            <a:r>
              <a:t>Predictive</a:t>
            </a:r>
          </a:p>
        </p:txBody>
      </p:sp>
      <p:sp>
        <p:nvSpPr>
          <p:cNvPr id="31" name="TextBox 30"/>
          <p:cNvSpPr txBox="1"/>
          <p:nvPr/>
        </p:nvSpPr>
        <p:spPr>
          <a:xfrm>
            <a:off x="5212080" y="3355848"/>
            <a:ext cx="2011680" cy="320040"/>
          </a:xfrm>
          <a:prstGeom prst="rect">
            <a:avLst/>
          </a:prstGeom>
          <a:noFill/>
        </p:spPr>
        <p:txBody>
          <a:bodyPr wrap="square"/>
          <a:lstStyle/>
          <a:p>
            <a:pPr algn="l">
              <a:lnSpc>
                <a:spcPts val="1400"/>
              </a:lnSpc>
              <a:defRPr sz="1200" b="0">
                <a:solidFill>
                  <a:srgbClr val="FFFFFF"/>
                </a:solidFill>
                <a:latin typeface="Calibri"/>
              </a:defRPr>
            </a:pPr>
            <a:r>
              <a:t>Regression</a:t>
            </a:r>
          </a:p>
        </p:txBody>
      </p:sp>
      <p:sp>
        <p:nvSpPr>
          <p:cNvPr id="32" name="TextBox 31"/>
          <p:cNvSpPr txBox="1"/>
          <p:nvPr/>
        </p:nvSpPr>
        <p:spPr>
          <a:xfrm>
            <a:off x="7315200" y="3355848"/>
            <a:ext cx="1828800" cy="320040"/>
          </a:xfrm>
          <a:prstGeom prst="rect">
            <a:avLst/>
          </a:prstGeom>
          <a:noFill/>
        </p:spPr>
        <p:txBody>
          <a:bodyPr wrap="square"/>
          <a:lstStyle/>
          <a:p>
            <a:pPr algn="l">
              <a:lnSpc>
                <a:spcPts val="1400"/>
              </a:lnSpc>
              <a:defRPr sz="1200" b="0">
                <a:solidFill>
                  <a:srgbClr val="FFFFFF"/>
                </a:solidFill>
                <a:latin typeface="Calibri"/>
              </a:defRPr>
            </a:pPr>
            <a:r>
              <a:t>168 day/hr combos</a:t>
            </a:r>
          </a:p>
        </p:txBody>
      </p:sp>
      <p:sp>
        <p:nvSpPr>
          <p:cNvPr id="33" name="TextBox 32"/>
          <p:cNvSpPr txBox="1"/>
          <p:nvPr/>
        </p:nvSpPr>
        <p:spPr>
          <a:xfrm>
            <a:off x="9235440" y="3355848"/>
            <a:ext cx="2377440" cy="320040"/>
          </a:xfrm>
          <a:prstGeom prst="rect">
            <a:avLst/>
          </a:prstGeom>
          <a:noFill/>
        </p:spPr>
        <p:txBody>
          <a:bodyPr wrap="square"/>
          <a:lstStyle/>
          <a:p>
            <a:pPr algn="l">
              <a:lnSpc>
                <a:spcPts val="1400"/>
              </a:lnSpc>
              <a:defRPr sz="1200" b="0">
                <a:solidFill>
                  <a:srgbClr val="FFFFFF"/>
                </a:solidFill>
                <a:latin typeface="Calibri"/>
              </a:defRPr>
            </a:pPr>
            <a:r>
              <a:t>Social Editor scheduler</a:t>
            </a:r>
          </a:p>
        </p:txBody>
      </p:sp>
      <p:sp>
        <p:nvSpPr>
          <p:cNvPr id="34" name="Rectangle 33"/>
          <p:cNvSpPr/>
          <p:nvPr/>
        </p:nvSpPr>
        <p:spPr>
          <a:xfrm>
            <a:off x="548640" y="3794760"/>
            <a:ext cx="11064240" cy="457200"/>
          </a:xfrm>
          <a:prstGeom prst="rect">
            <a:avLst/>
          </a:prstGeom>
          <a:solidFill>
            <a:srgbClr val="2430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3858768"/>
            <a:ext cx="365760" cy="320040"/>
          </a:xfrm>
          <a:prstGeom prst="rect">
            <a:avLst/>
          </a:prstGeom>
          <a:noFill/>
        </p:spPr>
        <p:txBody>
          <a:bodyPr wrap="square"/>
          <a:lstStyle/>
          <a:p>
            <a:pPr algn="l">
              <a:lnSpc>
                <a:spcPts val="1400"/>
              </a:lnSpc>
              <a:defRPr sz="1200" b="1">
                <a:solidFill>
                  <a:srgbClr val="A2C9E1"/>
                </a:solidFill>
                <a:latin typeface="Calibri"/>
              </a:defRPr>
            </a:pPr>
            <a:r>
              <a:t>4</a:t>
            </a:r>
          </a:p>
        </p:txBody>
      </p:sp>
      <p:sp>
        <p:nvSpPr>
          <p:cNvPr id="36" name="TextBox 35"/>
          <p:cNvSpPr txBox="1"/>
          <p:nvPr/>
        </p:nvSpPr>
        <p:spPr>
          <a:xfrm>
            <a:off x="1005840" y="3858768"/>
            <a:ext cx="2011680" cy="320040"/>
          </a:xfrm>
          <a:prstGeom prst="rect">
            <a:avLst/>
          </a:prstGeom>
          <a:noFill/>
        </p:spPr>
        <p:txBody>
          <a:bodyPr wrap="square"/>
          <a:lstStyle/>
          <a:p>
            <a:pPr algn="l">
              <a:lnSpc>
                <a:spcPts val="1400"/>
              </a:lnSpc>
              <a:defRPr sz="1200" b="0">
                <a:solidFill>
                  <a:srgbClr val="FFFFFF"/>
                </a:solidFill>
                <a:latin typeface="Calibri"/>
              </a:defRPr>
            </a:pPr>
            <a:r>
              <a:t>Reintegration Causal</a:t>
            </a:r>
          </a:p>
        </p:txBody>
      </p:sp>
      <p:sp>
        <p:nvSpPr>
          <p:cNvPr id="37" name="TextBox 36"/>
          <p:cNvSpPr txBox="1"/>
          <p:nvPr/>
        </p:nvSpPr>
        <p:spPr>
          <a:xfrm>
            <a:off x="3108960" y="3858768"/>
            <a:ext cx="2011680" cy="320040"/>
          </a:xfrm>
          <a:prstGeom prst="rect">
            <a:avLst/>
          </a:prstGeom>
          <a:noFill/>
        </p:spPr>
        <p:txBody>
          <a:bodyPr wrap="square"/>
          <a:lstStyle/>
          <a:p>
            <a:pPr algn="l">
              <a:lnSpc>
                <a:spcPts val="1400"/>
              </a:lnSpc>
              <a:defRPr sz="1200" b="0">
                <a:solidFill>
                  <a:srgbClr val="FFFFFF"/>
                </a:solidFill>
                <a:latin typeface="Calibri"/>
              </a:defRPr>
            </a:pPr>
            <a:r>
              <a:t>Explanatory</a:t>
            </a:r>
          </a:p>
        </p:txBody>
      </p:sp>
      <p:sp>
        <p:nvSpPr>
          <p:cNvPr id="38" name="TextBox 37"/>
          <p:cNvSpPr txBox="1"/>
          <p:nvPr/>
        </p:nvSpPr>
        <p:spPr>
          <a:xfrm>
            <a:off x="5212080" y="3858768"/>
            <a:ext cx="2011680" cy="320040"/>
          </a:xfrm>
          <a:prstGeom prst="rect">
            <a:avLst/>
          </a:prstGeom>
          <a:noFill/>
        </p:spPr>
        <p:txBody>
          <a:bodyPr wrap="square"/>
          <a:lstStyle/>
          <a:p>
            <a:pPr algn="l">
              <a:lnSpc>
                <a:spcPts val="1400"/>
              </a:lnSpc>
              <a:defRPr sz="1200" b="0">
                <a:solidFill>
                  <a:srgbClr val="FFFFFF"/>
                </a:solidFill>
                <a:latin typeface="Calibri"/>
              </a:defRPr>
            </a:pPr>
            <a:r>
              <a:t>Logistic (statsmodels)</a:t>
            </a:r>
          </a:p>
        </p:txBody>
      </p:sp>
      <p:sp>
        <p:nvSpPr>
          <p:cNvPr id="39" name="TextBox 38"/>
          <p:cNvSpPr txBox="1"/>
          <p:nvPr/>
        </p:nvSpPr>
        <p:spPr>
          <a:xfrm>
            <a:off x="7315200" y="3858768"/>
            <a:ext cx="1828800" cy="320040"/>
          </a:xfrm>
          <a:prstGeom prst="rect">
            <a:avLst/>
          </a:prstGeom>
          <a:noFill/>
        </p:spPr>
        <p:txBody>
          <a:bodyPr wrap="square"/>
          <a:lstStyle/>
          <a:p>
            <a:pPr algn="l">
              <a:lnSpc>
                <a:spcPts val="1400"/>
              </a:lnSpc>
              <a:defRPr sz="1200" b="0">
                <a:solidFill>
                  <a:srgbClr val="FFFFFF"/>
                </a:solidFill>
                <a:latin typeface="Calibri"/>
              </a:defRPr>
            </a:pPr>
            <a:r>
              <a:t>Odds ratios, p&lt;0.05</a:t>
            </a:r>
          </a:p>
        </p:txBody>
      </p:sp>
      <p:sp>
        <p:nvSpPr>
          <p:cNvPr id="40" name="TextBox 39"/>
          <p:cNvSpPr txBox="1"/>
          <p:nvPr/>
        </p:nvSpPr>
        <p:spPr>
          <a:xfrm>
            <a:off x="9235440" y="3858768"/>
            <a:ext cx="2377440" cy="320040"/>
          </a:xfrm>
          <a:prstGeom prst="rect">
            <a:avLst/>
          </a:prstGeom>
          <a:noFill/>
        </p:spPr>
        <p:txBody>
          <a:bodyPr wrap="square"/>
          <a:lstStyle/>
          <a:p>
            <a:pPr algn="l">
              <a:lnSpc>
                <a:spcPts val="1400"/>
              </a:lnSpc>
              <a:defRPr sz="1200" b="0">
                <a:solidFill>
                  <a:srgbClr val="FFFFFF"/>
                </a:solidFill>
                <a:latin typeface="Calibri"/>
              </a:defRPr>
            </a:pPr>
            <a:r>
              <a:t>Resident detail insights</a:t>
            </a:r>
          </a:p>
        </p:txBody>
      </p:sp>
      <p:sp>
        <p:nvSpPr>
          <p:cNvPr id="41" name="Rectangle 40"/>
          <p:cNvSpPr/>
          <p:nvPr/>
        </p:nvSpPr>
        <p:spPr>
          <a:xfrm>
            <a:off x="548640" y="4297680"/>
            <a:ext cx="11064240" cy="457200"/>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48640" y="4361688"/>
            <a:ext cx="365760" cy="320040"/>
          </a:xfrm>
          <a:prstGeom prst="rect">
            <a:avLst/>
          </a:prstGeom>
          <a:noFill/>
        </p:spPr>
        <p:txBody>
          <a:bodyPr wrap="square"/>
          <a:lstStyle/>
          <a:p>
            <a:pPr algn="l">
              <a:lnSpc>
                <a:spcPts val="1400"/>
              </a:lnSpc>
              <a:defRPr sz="1200" b="1">
                <a:solidFill>
                  <a:srgbClr val="A2C9E1"/>
                </a:solidFill>
                <a:latin typeface="Calibri"/>
              </a:defRPr>
            </a:pPr>
            <a:r>
              <a:t>5</a:t>
            </a:r>
          </a:p>
        </p:txBody>
      </p:sp>
      <p:sp>
        <p:nvSpPr>
          <p:cNvPr id="43" name="TextBox 42"/>
          <p:cNvSpPr txBox="1"/>
          <p:nvPr/>
        </p:nvSpPr>
        <p:spPr>
          <a:xfrm>
            <a:off x="1005840" y="4361688"/>
            <a:ext cx="2011680" cy="320040"/>
          </a:xfrm>
          <a:prstGeom prst="rect">
            <a:avLst/>
          </a:prstGeom>
          <a:noFill/>
        </p:spPr>
        <p:txBody>
          <a:bodyPr wrap="square"/>
          <a:lstStyle/>
          <a:p>
            <a:pPr algn="l">
              <a:lnSpc>
                <a:spcPts val="1400"/>
              </a:lnSpc>
              <a:defRPr sz="1200" b="0">
                <a:solidFill>
                  <a:srgbClr val="FFFFFF"/>
                </a:solidFill>
                <a:latin typeface="Calibri"/>
              </a:defRPr>
            </a:pPr>
            <a:r>
              <a:t>Risk Prediction</a:t>
            </a:r>
          </a:p>
        </p:txBody>
      </p:sp>
      <p:sp>
        <p:nvSpPr>
          <p:cNvPr id="44" name="TextBox 43"/>
          <p:cNvSpPr txBox="1"/>
          <p:nvPr/>
        </p:nvSpPr>
        <p:spPr>
          <a:xfrm>
            <a:off x="3108960" y="4361688"/>
            <a:ext cx="2011680" cy="320040"/>
          </a:xfrm>
          <a:prstGeom prst="rect">
            <a:avLst/>
          </a:prstGeom>
          <a:noFill/>
        </p:spPr>
        <p:txBody>
          <a:bodyPr wrap="square"/>
          <a:lstStyle/>
          <a:p>
            <a:pPr algn="l">
              <a:lnSpc>
                <a:spcPts val="1400"/>
              </a:lnSpc>
              <a:defRPr sz="1200" b="0">
                <a:solidFill>
                  <a:srgbClr val="FFFFFF"/>
                </a:solidFill>
                <a:latin typeface="Calibri"/>
              </a:defRPr>
            </a:pPr>
            <a:r>
              <a:t>Predictive</a:t>
            </a:r>
          </a:p>
        </p:txBody>
      </p:sp>
      <p:sp>
        <p:nvSpPr>
          <p:cNvPr id="45" name="TextBox 44"/>
          <p:cNvSpPr txBox="1"/>
          <p:nvPr/>
        </p:nvSpPr>
        <p:spPr>
          <a:xfrm>
            <a:off x="5212080" y="4361688"/>
            <a:ext cx="2011680" cy="320040"/>
          </a:xfrm>
          <a:prstGeom prst="rect">
            <a:avLst/>
          </a:prstGeom>
          <a:noFill/>
        </p:spPr>
        <p:txBody>
          <a:bodyPr wrap="square"/>
          <a:lstStyle/>
          <a:p>
            <a:pPr algn="l">
              <a:lnSpc>
                <a:spcPts val="1400"/>
              </a:lnSpc>
              <a:defRPr sz="1200" b="0">
                <a:solidFill>
                  <a:srgbClr val="FFFFFF"/>
                </a:solidFill>
                <a:latin typeface="Calibri"/>
              </a:defRPr>
            </a:pPr>
            <a:r>
              <a:t>Random Forest</a:t>
            </a:r>
          </a:p>
        </p:txBody>
      </p:sp>
      <p:sp>
        <p:nvSpPr>
          <p:cNvPr id="46" name="TextBox 45"/>
          <p:cNvSpPr txBox="1"/>
          <p:nvPr/>
        </p:nvSpPr>
        <p:spPr>
          <a:xfrm>
            <a:off x="7315200" y="4361688"/>
            <a:ext cx="1828800" cy="320040"/>
          </a:xfrm>
          <a:prstGeom prst="rect">
            <a:avLst/>
          </a:prstGeom>
          <a:noFill/>
        </p:spPr>
        <p:txBody>
          <a:bodyPr wrap="square"/>
          <a:lstStyle/>
          <a:p>
            <a:pPr algn="l">
              <a:lnSpc>
                <a:spcPts val="1400"/>
              </a:lnSpc>
              <a:defRPr sz="1200" b="0">
                <a:solidFill>
                  <a:srgbClr val="FFFFFF"/>
                </a:solidFill>
                <a:latin typeface="Calibri"/>
              </a:defRPr>
            </a:pPr>
            <a:r>
              <a:t>Accuracy: 65%</a:t>
            </a:r>
          </a:p>
        </p:txBody>
      </p:sp>
      <p:sp>
        <p:nvSpPr>
          <p:cNvPr id="47" name="TextBox 46"/>
          <p:cNvSpPr txBox="1"/>
          <p:nvPr/>
        </p:nvSpPr>
        <p:spPr>
          <a:xfrm>
            <a:off x="9235440" y="4361688"/>
            <a:ext cx="2377440" cy="320040"/>
          </a:xfrm>
          <a:prstGeom prst="rect">
            <a:avLst/>
          </a:prstGeom>
          <a:noFill/>
        </p:spPr>
        <p:txBody>
          <a:bodyPr wrap="square"/>
          <a:lstStyle/>
          <a:p>
            <a:pPr algn="l">
              <a:lnSpc>
                <a:spcPts val="1400"/>
              </a:lnSpc>
              <a:defRPr sz="1200" b="0">
                <a:solidFill>
                  <a:srgbClr val="FFFFFF"/>
                </a:solidFill>
                <a:latin typeface="Calibri"/>
              </a:defRPr>
            </a:pPr>
            <a:r>
              <a:t>Residents list + detail</a:t>
            </a:r>
          </a:p>
        </p:txBody>
      </p:sp>
      <p:sp>
        <p:nvSpPr>
          <p:cNvPr id="48" name="Rounded Rectangle 47"/>
          <p:cNvSpPr/>
          <p:nvPr/>
        </p:nvSpPr>
        <p:spPr>
          <a:xfrm>
            <a:off x="731520" y="4754880"/>
            <a:ext cx="10698480" cy="1188720"/>
          </a:xfrm>
          <a:prstGeom prst="round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05840" y="4937760"/>
            <a:ext cx="10241280" cy="914400"/>
          </a:xfrm>
          <a:prstGeom prst="rect">
            <a:avLst/>
          </a:prstGeom>
          <a:noFill/>
        </p:spPr>
        <p:txBody>
          <a:bodyPr wrap="square"/>
          <a:lstStyle/>
          <a:p>
            <a:pPr algn="l">
              <a:lnSpc>
                <a:spcPts val="1600"/>
              </a:lnSpc>
              <a:defRPr sz="1400" b="0">
                <a:solidFill>
                  <a:srgbClr val="BBBBBB"/>
                </a:solidFill>
                <a:latin typeface="Calibri"/>
              </a:defRPr>
            </a:pPr>
            <a:r>
              <a:t>All 5 pipelines run nightly at 2:00 AM via automated scheduler. Models serialized with joblib. Predictions served through .NET API as CSV lookups. Every pipeline follows the full textbook lifecycle: Problem Framing &gt; Data Prep &gt; Exploration &gt; Modeling &gt; Feature Selection &gt; Evaluation &gt; Deployment.</a:t>
            </a:r>
          </a:p>
        </p:txBody>
      </p:sp>
      <p:sp>
        <p:nvSpPr>
          <p:cNvPr id="50" name="TextBox 49"/>
          <p:cNvSpPr txBox="1"/>
          <p:nvPr/>
        </p:nvSpPr>
        <p:spPr>
          <a:xfrm>
            <a:off x="11155680" y="6446520"/>
            <a:ext cx="914400" cy="365760"/>
          </a:xfrm>
          <a:prstGeom prst="rect">
            <a:avLst/>
          </a:prstGeom>
          <a:noFill/>
        </p:spPr>
        <p:txBody>
          <a:bodyPr wrap="square"/>
          <a:lstStyle/>
          <a:p>
            <a:pPr algn="r">
              <a:lnSpc>
                <a:spcPts val="1200"/>
              </a:lnSpc>
              <a:defRPr sz="1000" b="0">
                <a:solidFill>
                  <a:srgbClr val="999999"/>
                </a:solidFill>
                <a:latin typeface="Calibri"/>
              </a:defRPr>
            </a:pPr>
            <a:r>
              <a:t>6 / 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A2633"/>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457200"/>
          </a:xfrm>
          <a:prstGeom prst="rect">
            <a:avLst/>
          </a:prstGeom>
          <a:noFill/>
        </p:spPr>
        <p:txBody>
          <a:bodyPr wrap="square"/>
          <a:lstStyle/>
          <a:p>
            <a:pPr algn="l">
              <a:lnSpc>
                <a:spcPts val="1600"/>
              </a:lnSpc>
              <a:defRPr sz="1400" b="1">
                <a:solidFill>
                  <a:srgbClr val="FFCC66"/>
                </a:solidFill>
                <a:latin typeface="Calibri"/>
              </a:defRPr>
            </a:pPr>
            <a:r>
              <a:t>ARCHITECTURE &amp; SECURITY</a:t>
            </a:r>
          </a:p>
        </p:txBody>
      </p:sp>
      <p:sp>
        <p:nvSpPr>
          <p:cNvPr id="4" name="TextBox 3"/>
          <p:cNvSpPr txBox="1"/>
          <p:nvPr/>
        </p:nvSpPr>
        <p:spPr>
          <a:xfrm>
            <a:off x="731520" y="822960"/>
            <a:ext cx="10058400" cy="731520"/>
          </a:xfrm>
          <a:prstGeom prst="rect">
            <a:avLst/>
          </a:prstGeom>
          <a:noFill/>
        </p:spPr>
        <p:txBody>
          <a:bodyPr wrap="square"/>
          <a:lstStyle/>
          <a:p>
            <a:pPr algn="l">
              <a:lnSpc>
                <a:spcPts val="4500"/>
              </a:lnSpc>
              <a:defRPr sz="3800" b="1">
                <a:solidFill>
                  <a:srgbClr val="FFFFFF"/>
                </a:solidFill>
                <a:latin typeface="Calibri Light"/>
              </a:defRPr>
            </a:pPr>
            <a:r>
              <a:t>Built for Trust</a:t>
            </a:r>
          </a:p>
        </p:txBody>
      </p:sp>
      <p:sp>
        <p:nvSpPr>
          <p:cNvPr id="5" name="Rectangle 4"/>
          <p:cNvSpPr/>
          <p:nvPr/>
        </p:nvSpPr>
        <p:spPr>
          <a:xfrm>
            <a:off x="731520" y="1508760"/>
            <a:ext cx="1828800" cy="38100"/>
          </a:xfrm>
          <a:prstGeom prst="rect">
            <a:avLst/>
          </a:prstGeom>
          <a:solidFill>
            <a:srgbClr val="FF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828800"/>
            <a:ext cx="4572000" cy="457200"/>
          </a:xfrm>
          <a:prstGeom prst="rect">
            <a:avLst/>
          </a:prstGeom>
          <a:noFill/>
        </p:spPr>
        <p:txBody>
          <a:bodyPr wrap="square"/>
          <a:lstStyle/>
          <a:p>
            <a:pPr algn="l">
              <a:lnSpc>
                <a:spcPts val="2100"/>
              </a:lnSpc>
              <a:defRPr sz="1800" b="1">
                <a:solidFill>
                  <a:srgbClr val="A2C9E1"/>
                </a:solidFill>
                <a:latin typeface="Calibri"/>
              </a:defRPr>
            </a:pPr>
            <a:r>
              <a:t>Tech Stack</a:t>
            </a:r>
          </a:p>
        </p:txBody>
      </p:sp>
      <p:sp>
        <p:nvSpPr>
          <p:cNvPr id="7" name="TextBox 6"/>
          <p:cNvSpPr txBox="1"/>
          <p:nvPr/>
        </p:nvSpPr>
        <p:spPr>
          <a:xfrm>
            <a:off x="731520" y="2286000"/>
            <a:ext cx="5029200" cy="3657600"/>
          </a:xfrm>
          <a:prstGeom prst="rect">
            <a:avLst/>
          </a:prstGeom>
          <a:noFill/>
        </p:spPr>
        <p:txBody>
          <a:bodyPr wrap="square">
            <a:spAutoFit/>
          </a:bodyPr>
          <a:lstStyle/>
          <a:p>
            <a:pPr>
              <a:lnSpc>
                <a:spcPts val="2100"/>
              </a:lnSpc>
              <a:defRPr sz="1400">
                <a:solidFill>
                  <a:srgbClr val="CCCCCC"/>
                </a:solidFill>
                <a:latin typeface="Calibri"/>
              </a:defRPr>
              <a:buChar char="•"/>
              <a:buClr>
                <a:srgbClr val="A2C9E1"/>
              </a:buClr>
            </a:pPr>
            <a:r>
              <a:t>Frontend: React 19 + TypeScript + Vite + Tailwind CSS</a:t>
            </a:r>
          </a:p>
          <a:p>
            <a:pPr>
              <a:lnSpc>
                <a:spcPts val="2100"/>
              </a:lnSpc>
              <a:defRPr sz="1400">
                <a:solidFill>
                  <a:srgbClr val="CCCCCC"/>
                </a:solidFill>
                <a:latin typeface="Calibri"/>
              </a:defRPr>
              <a:buChar char="•"/>
              <a:buClr>
                <a:srgbClr val="A2C9E1"/>
              </a:buClr>
            </a:pPr>
            <a:r>
              <a:t>Backend: .NET 10 / C# Web API + EF Core 9</a:t>
            </a:r>
          </a:p>
          <a:p>
            <a:pPr>
              <a:lnSpc>
                <a:spcPts val="2100"/>
              </a:lnSpc>
              <a:defRPr sz="1400">
                <a:solidFill>
                  <a:srgbClr val="CCCCCC"/>
                </a:solidFill>
                <a:latin typeface="Calibri"/>
              </a:defRPr>
              <a:buChar char="•"/>
              <a:buClr>
                <a:srgbClr val="A2C9E1"/>
              </a:buClr>
            </a:pPr>
            <a:r>
              <a:t>Database: PostgreSQL on Supabase</a:t>
            </a:r>
          </a:p>
          <a:p>
            <a:pPr>
              <a:lnSpc>
                <a:spcPts val="2100"/>
              </a:lnSpc>
              <a:defRPr sz="1400">
                <a:solidFill>
                  <a:srgbClr val="CCCCCC"/>
                </a:solidFill>
                <a:latin typeface="Calibri"/>
              </a:defRPr>
              <a:buChar char="•"/>
              <a:buClr>
                <a:srgbClr val="A2C9E1"/>
              </a:buClr>
            </a:pPr>
            <a:r>
              <a:t>State: Zustand (client) + React Query (server)</a:t>
            </a:r>
          </a:p>
          <a:p>
            <a:pPr>
              <a:lnSpc>
                <a:spcPts val="2100"/>
              </a:lnSpc>
              <a:defRPr sz="1400">
                <a:solidFill>
                  <a:srgbClr val="CCCCCC"/>
                </a:solidFill>
                <a:latin typeface="Calibri"/>
              </a:defRPr>
              <a:buChar char="•"/>
              <a:buClr>
                <a:srgbClr val="A2C9E1"/>
              </a:buClr>
            </a:pPr>
            <a:r>
              <a:t>Charts: Recharts | Forms: react-hook-form + Zod</a:t>
            </a:r>
          </a:p>
          <a:p>
            <a:pPr>
              <a:lnSpc>
                <a:spcPts val="2100"/>
              </a:lnSpc>
              <a:defRPr sz="1400">
                <a:solidFill>
                  <a:srgbClr val="CCCCCC"/>
                </a:solidFill>
                <a:latin typeface="Calibri"/>
              </a:defRPr>
              <a:buChar char="•"/>
              <a:buClr>
                <a:srgbClr val="A2C9E1"/>
              </a:buClr>
            </a:pPr>
            <a:r>
              <a:t>ML: Python + scikit-learn + statsmodels + joblib</a:t>
            </a:r>
          </a:p>
          <a:p>
            <a:pPr>
              <a:lnSpc>
                <a:spcPts val="2100"/>
              </a:lnSpc>
              <a:defRPr sz="1400">
                <a:solidFill>
                  <a:srgbClr val="CCCCCC"/>
                </a:solidFill>
                <a:latin typeface="Calibri"/>
              </a:defRPr>
              <a:buChar char="•"/>
              <a:buClr>
                <a:srgbClr val="A2C9E1"/>
              </a:buClr>
            </a:pPr>
            <a:r>
              <a:t>Deployment: Vercel (frontend) + Cloud (backend)</a:t>
            </a:r>
          </a:p>
        </p:txBody>
      </p:sp>
      <p:sp>
        <p:nvSpPr>
          <p:cNvPr id="8" name="TextBox 7"/>
          <p:cNvSpPr txBox="1"/>
          <p:nvPr/>
        </p:nvSpPr>
        <p:spPr>
          <a:xfrm>
            <a:off x="6400800" y="1828800"/>
            <a:ext cx="4572000" cy="457200"/>
          </a:xfrm>
          <a:prstGeom prst="rect">
            <a:avLst/>
          </a:prstGeom>
          <a:noFill/>
        </p:spPr>
        <p:txBody>
          <a:bodyPr wrap="square"/>
          <a:lstStyle/>
          <a:p>
            <a:pPr algn="l">
              <a:lnSpc>
                <a:spcPts val="2100"/>
              </a:lnSpc>
              <a:defRPr sz="1800" b="1">
                <a:solidFill>
                  <a:srgbClr val="91B191"/>
                </a:solidFill>
                <a:latin typeface="Calibri"/>
              </a:defRPr>
            </a:pPr>
            <a:r>
              <a:t>Security (IS 414)</a:t>
            </a:r>
          </a:p>
        </p:txBody>
      </p:sp>
      <p:sp>
        <p:nvSpPr>
          <p:cNvPr id="9" name="TextBox 8"/>
          <p:cNvSpPr txBox="1"/>
          <p:nvPr/>
        </p:nvSpPr>
        <p:spPr>
          <a:xfrm>
            <a:off x="6400800" y="2286000"/>
            <a:ext cx="5029200" cy="4114800"/>
          </a:xfrm>
          <a:prstGeom prst="rect">
            <a:avLst/>
          </a:prstGeom>
          <a:noFill/>
        </p:spPr>
        <p:txBody>
          <a:bodyPr wrap="square">
            <a:spAutoFit/>
          </a:bodyPr>
          <a:lstStyle/>
          <a:p>
            <a:pPr>
              <a:lnSpc>
                <a:spcPts val="1900"/>
              </a:lnSpc>
              <a:defRPr sz="1300">
                <a:solidFill>
                  <a:srgbClr val="CCCCCC"/>
                </a:solidFill>
                <a:latin typeface="Calibri"/>
              </a:defRPr>
              <a:buChar char="•"/>
              <a:buClr>
                <a:srgbClr val="91B191"/>
              </a:buClr>
            </a:pPr>
            <a:r>
              <a:t>HTTPS/TLS with HTTP &gt; HTTPS redirect</a:t>
            </a:r>
          </a:p>
          <a:p>
            <a:pPr>
              <a:lnSpc>
                <a:spcPts val="1900"/>
              </a:lnSpc>
              <a:defRPr sz="1300">
                <a:solidFill>
                  <a:srgbClr val="CCCCCC"/>
                </a:solidFill>
                <a:latin typeface="Calibri"/>
              </a:defRPr>
              <a:buChar char="•"/>
              <a:buClr>
                <a:srgbClr val="91B191"/>
              </a:buClr>
            </a:pPr>
            <a:r>
              <a:t>ASP.NET Identity + JWT + custom password policy</a:t>
            </a:r>
          </a:p>
          <a:p>
            <a:pPr>
              <a:lnSpc>
                <a:spcPts val="1900"/>
              </a:lnSpc>
              <a:defRPr sz="1300">
                <a:solidFill>
                  <a:srgbClr val="CCCCCC"/>
                </a:solidFill>
                <a:latin typeface="Calibri"/>
              </a:defRPr>
              <a:buChar char="•"/>
              <a:buClr>
                <a:srgbClr val="91B191"/>
              </a:buClr>
            </a:pPr>
            <a:r>
              <a:t>RBAC: Admin / Donor / Public roles</a:t>
            </a:r>
          </a:p>
          <a:p>
            <a:pPr>
              <a:lnSpc>
                <a:spcPts val="1900"/>
              </a:lnSpc>
              <a:defRPr sz="1300">
                <a:solidFill>
                  <a:srgbClr val="CCCCCC"/>
                </a:solidFill>
                <a:latin typeface="Calibri"/>
              </a:defRPr>
              <a:buChar char="•"/>
              <a:buClr>
                <a:srgbClr val="91B191"/>
              </a:buClr>
            </a:pPr>
            <a:r>
              <a:t>Google OAuth + MFA (TOTP authenticator app)</a:t>
            </a:r>
          </a:p>
          <a:p>
            <a:pPr>
              <a:lnSpc>
                <a:spcPts val="1900"/>
              </a:lnSpc>
              <a:defRPr sz="1300">
                <a:solidFill>
                  <a:srgbClr val="CCCCCC"/>
                </a:solidFill>
                <a:latin typeface="Calibri"/>
              </a:defRPr>
              <a:buChar char="•"/>
              <a:buClr>
                <a:srgbClr val="91B191"/>
              </a:buClr>
            </a:pPr>
            <a:r>
              <a:t>Content-Security-Policy header via middleware</a:t>
            </a:r>
          </a:p>
          <a:p>
            <a:pPr>
              <a:lnSpc>
                <a:spcPts val="1900"/>
              </a:lnSpc>
              <a:defRPr sz="1300">
                <a:solidFill>
                  <a:srgbClr val="CCCCCC"/>
                </a:solidFill>
                <a:latin typeface="Calibri"/>
              </a:defRPr>
              <a:buChar char="•"/>
              <a:buClr>
                <a:srgbClr val="91B191"/>
              </a:buClr>
            </a:pPr>
            <a:r>
              <a:t>HSTS enabled | Delete confirmation required</a:t>
            </a:r>
          </a:p>
          <a:p>
            <a:pPr>
              <a:lnSpc>
                <a:spcPts val="1900"/>
              </a:lnSpc>
              <a:defRPr sz="1300">
                <a:solidFill>
                  <a:srgbClr val="CCCCCC"/>
                </a:solidFill>
                <a:latin typeface="Calibri"/>
              </a:defRPr>
              <a:buChar char="•"/>
              <a:buClr>
                <a:srgbClr val="91B191"/>
              </a:buClr>
            </a:pPr>
            <a:r>
              <a:t>GDPR privacy policy + functional cookie consent</a:t>
            </a:r>
          </a:p>
          <a:p>
            <a:pPr>
              <a:lnSpc>
                <a:spcPts val="1900"/>
              </a:lnSpc>
              <a:defRPr sz="1300">
                <a:solidFill>
                  <a:srgbClr val="CCCCCC"/>
                </a:solidFill>
                <a:latin typeface="Calibri"/>
              </a:defRPr>
              <a:buChar char="•"/>
              <a:buClr>
                <a:srgbClr val="91B191"/>
              </a:buClr>
            </a:pPr>
            <a:r>
              <a:t>Data sanitization | Credentials in env vars</a:t>
            </a:r>
          </a:p>
          <a:p>
            <a:pPr>
              <a:lnSpc>
                <a:spcPts val="1900"/>
              </a:lnSpc>
              <a:defRPr sz="1300">
                <a:solidFill>
                  <a:srgbClr val="CCCCCC"/>
                </a:solidFill>
                <a:latin typeface="Calibri"/>
              </a:defRPr>
              <a:buChar char="•"/>
              <a:buClr>
                <a:srgbClr val="91B191"/>
              </a:buClr>
            </a:pPr>
            <a:r>
              <a:t>Real DBMS (PostgreSQL) for identity store</a:t>
            </a:r>
          </a:p>
        </p:txBody>
      </p:sp>
      <p:sp>
        <p:nvSpPr>
          <p:cNvPr id="10" name="TextBox 9"/>
          <p:cNvSpPr txBox="1"/>
          <p:nvPr/>
        </p:nvSpPr>
        <p:spPr>
          <a:xfrm>
            <a:off x="11155680" y="6446520"/>
            <a:ext cx="914400" cy="365760"/>
          </a:xfrm>
          <a:prstGeom prst="rect">
            <a:avLst/>
          </a:prstGeom>
          <a:noFill/>
        </p:spPr>
        <p:txBody>
          <a:bodyPr wrap="square"/>
          <a:lstStyle/>
          <a:p>
            <a:pPr algn="r">
              <a:lnSpc>
                <a:spcPts val="1200"/>
              </a:lnSpc>
              <a:defRPr sz="1000" b="0">
                <a:solidFill>
                  <a:srgbClr val="999999"/>
                </a:solidFill>
                <a:latin typeface="Calibri"/>
              </a:defRPr>
            </a:pPr>
            <a:r>
              <a:t>7 / 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A2633"/>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457200"/>
          </a:xfrm>
          <a:prstGeom prst="rect">
            <a:avLst/>
          </a:prstGeom>
          <a:noFill/>
        </p:spPr>
        <p:txBody>
          <a:bodyPr wrap="square"/>
          <a:lstStyle/>
          <a:p>
            <a:pPr algn="l">
              <a:lnSpc>
                <a:spcPts val="1600"/>
              </a:lnSpc>
              <a:defRPr sz="1400" b="1">
                <a:solidFill>
                  <a:srgbClr val="FFCC66"/>
                </a:solidFill>
                <a:latin typeface="Calibri"/>
              </a:defRPr>
            </a:pPr>
            <a:r>
              <a:t>QUALITY</a:t>
            </a:r>
          </a:p>
        </p:txBody>
      </p:sp>
      <p:sp>
        <p:nvSpPr>
          <p:cNvPr id="4" name="TextBox 3"/>
          <p:cNvSpPr txBox="1"/>
          <p:nvPr/>
        </p:nvSpPr>
        <p:spPr>
          <a:xfrm>
            <a:off x="731520" y="822960"/>
            <a:ext cx="10058400" cy="731520"/>
          </a:xfrm>
          <a:prstGeom prst="rect">
            <a:avLst/>
          </a:prstGeom>
          <a:noFill/>
        </p:spPr>
        <p:txBody>
          <a:bodyPr wrap="square"/>
          <a:lstStyle/>
          <a:p>
            <a:pPr algn="l">
              <a:lnSpc>
                <a:spcPts val="4500"/>
              </a:lnSpc>
              <a:defRPr sz="3800" b="1">
                <a:solidFill>
                  <a:srgbClr val="FFFFFF"/>
                </a:solidFill>
                <a:latin typeface="Calibri Light"/>
              </a:defRPr>
            </a:pPr>
            <a:r>
              <a:t>Design, Responsiveness &amp; Accessibility</a:t>
            </a:r>
          </a:p>
        </p:txBody>
      </p:sp>
      <p:sp>
        <p:nvSpPr>
          <p:cNvPr id="5" name="Rectangle 4"/>
          <p:cNvSpPr/>
          <p:nvPr/>
        </p:nvSpPr>
        <p:spPr>
          <a:xfrm>
            <a:off x="731520" y="1508760"/>
            <a:ext cx="1828800" cy="38100"/>
          </a:xfrm>
          <a:prstGeom prst="rect">
            <a:avLst/>
          </a:prstGeom>
          <a:solidFill>
            <a:srgbClr val="FF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2011680"/>
            <a:ext cx="2606040" cy="3840480"/>
          </a:xfrm>
          <a:prstGeom prst="round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2011680"/>
            <a:ext cx="2606040" cy="54864"/>
          </a:xfrm>
          <a:prstGeom prst="rect">
            <a:avLst/>
          </a:prstGeom>
          <a:solidFill>
            <a:srgbClr val="A2C9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286000"/>
            <a:ext cx="2240280" cy="457200"/>
          </a:xfrm>
          <a:prstGeom prst="rect">
            <a:avLst/>
          </a:prstGeom>
          <a:noFill/>
        </p:spPr>
        <p:txBody>
          <a:bodyPr wrap="square"/>
          <a:lstStyle/>
          <a:p>
            <a:pPr algn="l">
              <a:lnSpc>
                <a:spcPts val="1800"/>
              </a:lnSpc>
              <a:defRPr sz="1500" b="1">
                <a:solidFill>
                  <a:srgbClr val="A2C9E1"/>
                </a:solidFill>
                <a:latin typeface="Calibri"/>
              </a:defRPr>
            </a:pPr>
            <a:r>
              <a:t>Clean, Calming Design</a:t>
            </a:r>
          </a:p>
        </p:txBody>
      </p:sp>
      <p:sp>
        <p:nvSpPr>
          <p:cNvPr id="9" name="TextBox 8"/>
          <p:cNvSpPr txBox="1"/>
          <p:nvPr/>
        </p:nvSpPr>
        <p:spPr>
          <a:xfrm>
            <a:off x="914400" y="2834640"/>
            <a:ext cx="2240280" cy="2743200"/>
          </a:xfrm>
          <a:prstGeom prst="rect">
            <a:avLst/>
          </a:prstGeom>
          <a:noFill/>
        </p:spPr>
        <p:txBody>
          <a:bodyPr wrap="square"/>
          <a:lstStyle/>
          <a:p>
            <a:pPr algn="l">
              <a:lnSpc>
                <a:spcPts val="1400"/>
              </a:lnSpc>
              <a:defRPr sz="1200" b="0">
                <a:solidFill>
                  <a:srgbClr val="BBBBBB"/>
                </a:solidFill>
                <a:latin typeface="Calibri"/>
              </a:defRPr>
            </a:pPr>
            <a:r>
              <a:t>Purpose-built palette: Sky Blue, Sage Green, Golden Honey. Designed to feel safe -- not clinical. Consistent typography, significant whitespace.</a:t>
            </a:r>
          </a:p>
        </p:txBody>
      </p:sp>
      <p:sp>
        <p:nvSpPr>
          <p:cNvPr id="10" name="Rounded Rectangle 9"/>
          <p:cNvSpPr/>
          <p:nvPr/>
        </p:nvSpPr>
        <p:spPr>
          <a:xfrm>
            <a:off x="3566160" y="2011680"/>
            <a:ext cx="2606040" cy="3840480"/>
          </a:xfrm>
          <a:prstGeom prst="round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566160" y="2011680"/>
            <a:ext cx="2606040" cy="54864"/>
          </a:xfrm>
          <a:prstGeom prst="rect">
            <a:avLst/>
          </a:prstGeom>
          <a:solidFill>
            <a:srgbClr val="91B1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49040" y="2286000"/>
            <a:ext cx="2240280" cy="457200"/>
          </a:xfrm>
          <a:prstGeom prst="rect">
            <a:avLst/>
          </a:prstGeom>
          <a:noFill/>
        </p:spPr>
        <p:txBody>
          <a:bodyPr wrap="square"/>
          <a:lstStyle/>
          <a:p>
            <a:pPr algn="l">
              <a:lnSpc>
                <a:spcPts val="1800"/>
              </a:lnSpc>
              <a:defRPr sz="1500" b="1">
                <a:solidFill>
                  <a:srgbClr val="91B191"/>
                </a:solidFill>
                <a:latin typeface="Calibri"/>
              </a:defRPr>
            </a:pPr>
            <a:r>
              <a:t>Fully Responsive</a:t>
            </a:r>
          </a:p>
        </p:txBody>
      </p:sp>
      <p:sp>
        <p:nvSpPr>
          <p:cNvPr id="13" name="TextBox 12"/>
          <p:cNvSpPr txBox="1"/>
          <p:nvPr/>
        </p:nvSpPr>
        <p:spPr>
          <a:xfrm>
            <a:off x="3749040" y="2834640"/>
            <a:ext cx="2240280" cy="2743200"/>
          </a:xfrm>
          <a:prstGeom prst="rect">
            <a:avLst/>
          </a:prstGeom>
          <a:noFill/>
        </p:spPr>
        <p:txBody>
          <a:bodyPr wrap="square"/>
          <a:lstStyle/>
          <a:p>
            <a:pPr algn="l">
              <a:lnSpc>
                <a:spcPts val="1400"/>
              </a:lnSpc>
              <a:defRPr sz="1200" b="0">
                <a:solidFill>
                  <a:srgbClr val="BBBBBB"/>
                </a:solidFill>
                <a:latin typeface="Calibri"/>
              </a:defRPr>
            </a:pPr>
            <a:r>
              <a:t>Every page works on desktop and mobile. Tailwind responsive utilities. Navigation collapses to mobile menu. Tables scroll horizontally.</a:t>
            </a:r>
          </a:p>
        </p:txBody>
      </p:sp>
      <p:sp>
        <p:nvSpPr>
          <p:cNvPr id="14" name="Rounded Rectangle 13"/>
          <p:cNvSpPr/>
          <p:nvPr/>
        </p:nvSpPr>
        <p:spPr>
          <a:xfrm>
            <a:off x="6400800" y="2011680"/>
            <a:ext cx="2606040" cy="3840480"/>
          </a:xfrm>
          <a:prstGeom prst="round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0" y="2011680"/>
            <a:ext cx="2606040" cy="54864"/>
          </a:xfrm>
          <a:prstGeom prst="rect">
            <a:avLst/>
          </a:prstGeom>
          <a:solidFill>
            <a:srgbClr val="FF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0" y="2286000"/>
            <a:ext cx="2240280" cy="457200"/>
          </a:xfrm>
          <a:prstGeom prst="rect">
            <a:avLst/>
          </a:prstGeom>
          <a:noFill/>
        </p:spPr>
        <p:txBody>
          <a:bodyPr wrap="square"/>
          <a:lstStyle/>
          <a:p>
            <a:pPr algn="l">
              <a:lnSpc>
                <a:spcPts val="1800"/>
              </a:lnSpc>
              <a:defRPr sz="1500" b="1">
                <a:solidFill>
                  <a:srgbClr val="FFCC66"/>
                </a:solidFill>
                <a:latin typeface="Calibri"/>
              </a:defRPr>
            </a:pPr>
            <a:r>
              <a:t>Accessible</a:t>
            </a:r>
          </a:p>
        </p:txBody>
      </p:sp>
      <p:sp>
        <p:nvSpPr>
          <p:cNvPr id="17" name="TextBox 16"/>
          <p:cNvSpPr txBox="1"/>
          <p:nvPr/>
        </p:nvSpPr>
        <p:spPr>
          <a:xfrm>
            <a:off x="6583680" y="2834640"/>
            <a:ext cx="2240280" cy="2743200"/>
          </a:xfrm>
          <a:prstGeom prst="rect">
            <a:avLst/>
          </a:prstGeom>
          <a:noFill/>
        </p:spPr>
        <p:txBody>
          <a:bodyPr wrap="square"/>
          <a:lstStyle/>
          <a:p>
            <a:pPr algn="l">
              <a:lnSpc>
                <a:spcPts val="1400"/>
              </a:lnSpc>
              <a:defRPr sz="1200" b="0">
                <a:solidFill>
                  <a:srgbClr val="BBBBBB"/>
                </a:solidFill>
                <a:latin typeface="Calibri"/>
              </a:defRPr>
            </a:pPr>
            <a:r>
              <a:t>Targeting Lighthouse &gt;= 90 on all pages. Semantic HTML, ARIA labels, keyboard navigation, sufficient contrast ratios.</a:t>
            </a:r>
          </a:p>
        </p:txBody>
      </p:sp>
      <p:sp>
        <p:nvSpPr>
          <p:cNvPr id="18" name="Rounded Rectangle 17"/>
          <p:cNvSpPr/>
          <p:nvPr/>
        </p:nvSpPr>
        <p:spPr>
          <a:xfrm>
            <a:off x="9235440" y="2011680"/>
            <a:ext cx="2606040" cy="3840480"/>
          </a:xfrm>
          <a:prstGeom prst="round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235440" y="2011680"/>
            <a:ext cx="2606040" cy="54864"/>
          </a:xfrm>
          <a:prstGeom prst="rect">
            <a:avLst/>
          </a:prstGeom>
          <a:solidFill>
            <a:srgbClr val="FFE6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18320" y="2286000"/>
            <a:ext cx="2240280" cy="457200"/>
          </a:xfrm>
          <a:prstGeom prst="rect">
            <a:avLst/>
          </a:prstGeom>
          <a:noFill/>
        </p:spPr>
        <p:txBody>
          <a:bodyPr wrap="square"/>
          <a:lstStyle/>
          <a:p>
            <a:pPr algn="l">
              <a:lnSpc>
                <a:spcPts val="1800"/>
              </a:lnSpc>
              <a:defRPr sz="1500" b="1">
                <a:solidFill>
                  <a:srgbClr val="FFE6E1"/>
                </a:solidFill>
                <a:latin typeface="Calibri"/>
              </a:defRPr>
            </a:pPr>
            <a:r>
              <a:t>Dark Mode</a:t>
            </a:r>
          </a:p>
        </p:txBody>
      </p:sp>
      <p:sp>
        <p:nvSpPr>
          <p:cNvPr id="21" name="TextBox 20"/>
          <p:cNvSpPr txBox="1"/>
          <p:nvPr/>
        </p:nvSpPr>
        <p:spPr>
          <a:xfrm>
            <a:off x="9418320" y="2834640"/>
            <a:ext cx="2240280" cy="2743200"/>
          </a:xfrm>
          <a:prstGeom prst="rect">
            <a:avLst/>
          </a:prstGeom>
          <a:noFill/>
        </p:spPr>
        <p:txBody>
          <a:bodyPr wrap="square"/>
          <a:lstStyle/>
          <a:p>
            <a:pPr algn="l">
              <a:lnSpc>
                <a:spcPts val="1400"/>
              </a:lnSpc>
              <a:defRPr sz="1200" b="0">
                <a:solidFill>
                  <a:srgbClr val="BBBBBB"/>
                </a:solidFill>
                <a:latin typeface="Calibri"/>
              </a:defRPr>
            </a:pPr>
            <a:r>
              <a:t>Full dark/light toggle. Preference stored in browser-accessible cookie (nd_theme). React reads and applies on load.</a:t>
            </a:r>
          </a:p>
        </p:txBody>
      </p:sp>
      <p:sp>
        <p:nvSpPr>
          <p:cNvPr id="22" name="TextBox 21"/>
          <p:cNvSpPr txBox="1"/>
          <p:nvPr/>
        </p:nvSpPr>
        <p:spPr>
          <a:xfrm>
            <a:off x="11155680" y="6446520"/>
            <a:ext cx="914400" cy="365760"/>
          </a:xfrm>
          <a:prstGeom prst="rect">
            <a:avLst/>
          </a:prstGeom>
          <a:noFill/>
        </p:spPr>
        <p:txBody>
          <a:bodyPr wrap="square"/>
          <a:lstStyle/>
          <a:p>
            <a:pPr algn="r">
              <a:lnSpc>
                <a:spcPts val="1200"/>
              </a:lnSpc>
              <a:defRPr sz="1000" b="0">
                <a:solidFill>
                  <a:srgbClr val="999999"/>
                </a:solidFill>
                <a:latin typeface="Calibri"/>
              </a:defRPr>
            </a:pPr>
            <a:r>
              <a:t>8 /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A2633"/>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457200"/>
          </a:xfrm>
          <a:prstGeom prst="rect">
            <a:avLst/>
          </a:prstGeom>
          <a:noFill/>
        </p:spPr>
        <p:txBody>
          <a:bodyPr wrap="square"/>
          <a:lstStyle/>
          <a:p>
            <a:pPr algn="l">
              <a:lnSpc>
                <a:spcPts val="1600"/>
              </a:lnSpc>
              <a:defRPr sz="1400" b="1">
                <a:solidFill>
                  <a:srgbClr val="FFCC66"/>
                </a:solidFill>
                <a:latin typeface="Calibri"/>
              </a:defRPr>
            </a:pPr>
            <a:r>
              <a:t>THE CASE FOR INVESTMENT</a:t>
            </a:r>
          </a:p>
        </p:txBody>
      </p:sp>
      <p:sp>
        <p:nvSpPr>
          <p:cNvPr id="4" name="TextBox 3"/>
          <p:cNvSpPr txBox="1"/>
          <p:nvPr/>
        </p:nvSpPr>
        <p:spPr>
          <a:xfrm>
            <a:off x="731520" y="822960"/>
            <a:ext cx="10058400" cy="731520"/>
          </a:xfrm>
          <a:prstGeom prst="rect">
            <a:avLst/>
          </a:prstGeom>
          <a:noFill/>
        </p:spPr>
        <p:txBody>
          <a:bodyPr wrap="square"/>
          <a:lstStyle/>
          <a:p>
            <a:pPr algn="l">
              <a:lnSpc>
                <a:spcPts val="4500"/>
              </a:lnSpc>
              <a:defRPr sz="3800" b="1">
                <a:solidFill>
                  <a:srgbClr val="FFFFFF"/>
                </a:solidFill>
                <a:latin typeface="Calibri Light"/>
              </a:defRPr>
            </a:pPr>
            <a:r>
              <a:t>Why New Dawn Deserves Continued Investment</a:t>
            </a:r>
          </a:p>
        </p:txBody>
      </p:sp>
      <p:sp>
        <p:nvSpPr>
          <p:cNvPr id="5" name="Rectangle 4"/>
          <p:cNvSpPr/>
          <p:nvPr/>
        </p:nvSpPr>
        <p:spPr>
          <a:xfrm>
            <a:off x="731520" y="1508760"/>
            <a:ext cx="1828800" cy="38100"/>
          </a:xfrm>
          <a:prstGeom prst="rect">
            <a:avLst/>
          </a:prstGeom>
          <a:solidFill>
            <a:srgbClr val="FF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103120"/>
            <a:ext cx="1371600" cy="640080"/>
          </a:xfrm>
          <a:prstGeom prst="rect">
            <a:avLst/>
          </a:prstGeom>
          <a:noFill/>
        </p:spPr>
        <p:txBody>
          <a:bodyPr wrap="square"/>
          <a:lstStyle/>
          <a:p>
            <a:pPr algn="ctr">
              <a:lnSpc>
                <a:spcPts val="4300"/>
              </a:lnSpc>
              <a:defRPr sz="3600" b="1">
                <a:solidFill>
                  <a:srgbClr val="FFCC66"/>
                </a:solidFill>
                <a:latin typeface="Calibri"/>
              </a:defRPr>
            </a:pPr>
            <a:r>
              <a:t>5</a:t>
            </a:r>
          </a:p>
        </p:txBody>
      </p:sp>
      <p:sp>
        <p:nvSpPr>
          <p:cNvPr id="7" name="TextBox 6"/>
          <p:cNvSpPr txBox="1"/>
          <p:nvPr/>
        </p:nvSpPr>
        <p:spPr>
          <a:xfrm>
            <a:off x="731520" y="2743200"/>
            <a:ext cx="1371600" cy="731520"/>
          </a:xfrm>
          <a:prstGeom prst="rect">
            <a:avLst/>
          </a:prstGeom>
          <a:noFill/>
        </p:spPr>
        <p:txBody>
          <a:bodyPr wrap="square"/>
          <a:lstStyle/>
          <a:p>
            <a:pPr algn="ctr">
              <a:lnSpc>
                <a:spcPts val="1400"/>
              </a:lnSpc>
              <a:defRPr sz="1200" b="0">
                <a:solidFill>
                  <a:srgbClr val="999999"/>
                </a:solidFill>
                <a:latin typeface="Calibri"/>
              </a:defRPr>
            </a:pPr>
            <a:r>
              <a:t>Production ML</a:t>
            </a:r>
            <a:br/>
            <a:r>
              <a:t>Pipelines</a:t>
            </a:r>
          </a:p>
        </p:txBody>
      </p:sp>
      <p:sp>
        <p:nvSpPr>
          <p:cNvPr id="8" name="TextBox 7"/>
          <p:cNvSpPr txBox="1"/>
          <p:nvPr/>
        </p:nvSpPr>
        <p:spPr>
          <a:xfrm>
            <a:off x="2286000" y="2103120"/>
            <a:ext cx="1371600" cy="640080"/>
          </a:xfrm>
          <a:prstGeom prst="rect">
            <a:avLst/>
          </a:prstGeom>
          <a:noFill/>
        </p:spPr>
        <p:txBody>
          <a:bodyPr wrap="square"/>
          <a:lstStyle/>
          <a:p>
            <a:pPr algn="ctr">
              <a:lnSpc>
                <a:spcPts val="4300"/>
              </a:lnSpc>
              <a:defRPr sz="3600" b="1">
                <a:solidFill>
                  <a:srgbClr val="FFCC66"/>
                </a:solidFill>
                <a:latin typeface="Calibri"/>
              </a:defRPr>
            </a:pPr>
            <a:r>
              <a:t>17</a:t>
            </a:r>
          </a:p>
        </p:txBody>
      </p:sp>
      <p:sp>
        <p:nvSpPr>
          <p:cNvPr id="9" name="TextBox 8"/>
          <p:cNvSpPr txBox="1"/>
          <p:nvPr/>
        </p:nvSpPr>
        <p:spPr>
          <a:xfrm>
            <a:off x="2286000" y="2743200"/>
            <a:ext cx="1371600" cy="731520"/>
          </a:xfrm>
          <a:prstGeom prst="rect">
            <a:avLst/>
          </a:prstGeom>
          <a:noFill/>
        </p:spPr>
        <p:txBody>
          <a:bodyPr wrap="square"/>
          <a:lstStyle/>
          <a:p>
            <a:pPr algn="ctr">
              <a:lnSpc>
                <a:spcPts val="1400"/>
              </a:lnSpc>
              <a:defRPr sz="1200" b="0">
                <a:solidFill>
                  <a:srgbClr val="999999"/>
                </a:solidFill>
                <a:latin typeface="Calibri"/>
              </a:defRPr>
            </a:pPr>
            <a:r>
              <a:t>Database Tables</a:t>
            </a:r>
            <a:br/>
            <a:r>
              <a:t>Seeded</a:t>
            </a:r>
          </a:p>
        </p:txBody>
      </p:sp>
      <p:sp>
        <p:nvSpPr>
          <p:cNvPr id="10" name="TextBox 9"/>
          <p:cNvSpPr txBox="1"/>
          <p:nvPr/>
        </p:nvSpPr>
        <p:spPr>
          <a:xfrm>
            <a:off x="3840480" y="2103120"/>
            <a:ext cx="1371600" cy="640080"/>
          </a:xfrm>
          <a:prstGeom prst="rect">
            <a:avLst/>
          </a:prstGeom>
          <a:noFill/>
        </p:spPr>
        <p:txBody>
          <a:bodyPr wrap="square"/>
          <a:lstStyle/>
          <a:p>
            <a:pPr algn="ctr">
              <a:lnSpc>
                <a:spcPts val="4300"/>
              </a:lnSpc>
              <a:defRPr sz="3600" b="1">
                <a:solidFill>
                  <a:srgbClr val="FFCC66"/>
                </a:solidFill>
                <a:latin typeface="Calibri"/>
              </a:defRPr>
            </a:pPr>
            <a:r>
              <a:t>60+</a:t>
            </a:r>
          </a:p>
        </p:txBody>
      </p:sp>
      <p:sp>
        <p:nvSpPr>
          <p:cNvPr id="11" name="TextBox 10"/>
          <p:cNvSpPr txBox="1"/>
          <p:nvPr/>
        </p:nvSpPr>
        <p:spPr>
          <a:xfrm>
            <a:off x="3840480" y="2743200"/>
            <a:ext cx="1371600" cy="731520"/>
          </a:xfrm>
          <a:prstGeom prst="rect">
            <a:avLst/>
          </a:prstGeom>
          <a:noFill/>
        </p:spPr>
        <p:txBody>
          <a:bodyPr wrap="square"/>
          <a:lstStyle/>
          <a:p>
            <a:pPr algn="ctr">
              <a:lnSpc>
                <a:spcPts val="1400"/>
              </a:lnSpc>
              <a:defRPr sz="1200" b="0">
                <a:solidFill>
                  <a:srgbClr val="999999"/>
                </a:solidFill>
                <a:latin typeface="Calibri"/>
              </a:defRPr>
            </a:pPr>
            <a:r>
              <a:t>Residents</a:t>
            </a:r>
            <a:br/>
            <a:r>
              <a:t>Managed</a:t>
            </a:r>
          </a:p>
        </p:txBody>
      </p:sp>
      <p:sp>
        <p:nvSpPr>
          <p:cNvPr id="12" name="TextBox 11"/>
          <p:cNvSpPr txBox="1"/>
          <p:nvPr/>
        </p:nvSpPr>
        <p:spPr>
          <a:xfrm>
            <a:off x="5394960" y="2103120"/>
            <a:ext cx="1371600" cy="640080"/>
          </a:xfrm>
          <a:prstGeom prst="rect">
            <a:avLst/>
          </a:prstGeom>
          <a:noFill/>
        </p:spPr>
        <p:txBody>
          <a:bodyPr wrap="square"/>
          <a:lstStyle/>
          <a:p>
            <a:pPr algn="ctr">
              <a:lnSpc>
                <a:spcPts val="4300"/>
              </a:lnSpc>
              <a:defRPr sz="3600" b="1">
                <a:solidFill>
                  <a:srgbClr val="FFCC66"/>
                </a:solidFill>
                <a:latin typeface="Calibri"/>
              </a:defRPr>
            </a:pPr>
            <a:r>
              <a:t>6</a:t>
            </a:r>
          </a:p>
        </p:txBody>
      </p:sp>
      <p:sp>
        <p:nvSpPr>
          <p:cNvPr id="13" name="TextBox 12"/>
          <p:cNvSpPr txBox="1"/>
          <p:nvPr/>
        </p:nvSpPr>
        <p:spPr>
          <a:xfrm>
            <a:off x="5394960" y="2743200"/>
            <a:ext cx="1371600" cy="731520"/>
          </a:xfrm>
          <a:prstGeom prst="rect">
            <a:avLst/>
          </a:prstGeom>
          <a:noFill/>
        </p:spPr>
        <p:txBody>
          <a:bodyPr wrap="square"/>
          <a:lstStyle/>
          <a:p>
            <a:pPr algn="ctr">
              <a:lnSpc>
                <a:spcPts val="1400"/>
              </a:lnSpc>
              <a:defRPr sz="1200" b="0">
                <a:solidFill>
                  <a:srgbClr val="999999"/>
                </a:solidFill>
                <a:latin typeface="Calibri"/>
              </a:defRPr>
            </a:pPr>
            <a:r>
              <a:t>Social Platforms</a:t>
            </a:r>
            <a:br/>
            <a:r>
              <a:t>Supported</a:t>
            </a:r>
          </a:p>
        </p:txBody>
      </p:sp>
      <p:sp>
        <p:nvSpPr>
          <p:cNvPr id="14" name="TextBox 13"/>
          <p:cNvSpPr txBox="1"/>
          <p:nvPr/>
        </p:nvSpPr>
        <p:spPr>
          <a:xfrm>
            <a:off x="6583680" y="1920240"/>
            <a:ext cx="4572000" cy="457200"/>
          </a:xfrm>
          <a:prstGeom prst="rect">
            <a:avLst/>
          </a:prstGeom>
          <a:noFill/>
        </p:spPr>
        <p:txBody>
          <a:bodyPr wrap="square"/>
          <a:lstStyle/>
          <a:p>
            <a:pPr algn="l">
              <a:lnSpc>
                <a:spcPts val="2100"/>
              </a:lnSpc>
              <a:defRPr sz="1800" b="1">
                <a:solidFill>
                  <a:srgbClr val="FFCC66"/>
                </a:solidFill>
                <a:latin typeface="Calibri"/>
              </a:defRPr>
            </a:pPr>
            <a:r>
              <a:t>Value Delivered</a:t>
            </a:r>
          </a:p>
        </p:txBody>
      </p:sp>
      <p:sp>
        <p:nvSpPr>
          <p:cNvPr id="15" name="TextBox 14"/>
          <p:cNvSpPr txBox="1"/>
          <p:nvPr/>
        </p:nvSpPr>
        <p:spPr>
          <a:xfrm>
            <a:off x="6583680" y="2377440"/>
            <a:ext cx="5029200" cy="3200400"/>
          </a:xfrm>
          <a:prstGeom prst="rect">
            <a:avLst/>
          </a:prstGeom>
          <a:noFill/>
        </p:spPr>
        <p:txBody>
          <a:bodyPr wrap="square">
            <a:spAutoFit/>
          </a:bodyPr>
          <a:lstStyle/>
          <a:p>
            <a:pPr>
              <a:lnSpc>
                <a:spcPts val="2100"/>
              </a:lnSpc>
              <a:defRPr sz="1400">
                <a:solidFill>
                  <a:srgbClr val="CCCCCC"/>
                </a:solidFill>
                <a:latin typeface="Calibri"/>
              </a:defRPr>
              <a:buChar char="•"/>
              <a:buClr>
                <a:srgbClr val="FFCC66"/>
              </a:buClr>
            </a:pPr>
            <a:r>
              <a:t>Replaces manual risk tracking with ML-powered early warning</a:t>
            </a:r>
          </a:p>
          <a:p>
            <a:pPr>
              <a:lnSpc>
                <a:spcPts val="2100"/>
              </a:lnSpc>
              <a:defRPr sz="1400">
                <a:solidFill>
                  <a:srgbClr val="CCCCCC"/>
                </a:solidFill>
                <a:latin typeface="Calibri"/>
              </a:defRPr>
              <a:buChar char="•"/>
              <a:buClr>
                <a:srgbClr val="FFCC66"/>
              </a:buClr>
            </a:pPr>
            <a:r>
              <a:t>Eliminates guesswork from social media with real-time predictions</a:t>
            </a:r>
          </a:p>
          <a:p>
            <a:pPr>
              <a:lnSpc>
                <a:spcPts val="2100"/>
              </a:lnSpc>
              <a:defRPr sz="1400">
                <a:solidFill>
                  <a:srgbClr val="CCCCCC"/>
                </a:solidFill>
                <a:latin typeface="Calibri"/>
              </a:defRPr>
              <a:buChar char="•"/>
              <a:buClr>
                <a:srgbClr val="FFCC66"/>
              </a:buClr>
            </a:pPr>
            <a:r>
              <a:t>Predicts donor lapse before it happens for proactive retention</a:t>
            </a:r>
          </a:p>
          <a:p>
            <a:pPr>
              <a:lnSpc>
                <a:spcPts val="2100"/>
              </a:lnSpc>
              <a:defRPr sz="1400">
                <a:solidFill>
                  <a:srgbClr val="CCCCCC"/>
                </a:solidFill>
                <a:latin typeface="Calibri"/>
              </a:defRPr>
              <a:buChar char="•"/>
              <a:buClr>
                <a:srgbClr val="FFCC66"/>
              </a:buClr>
            </a:pPr>
            <a:r>
              <a:t>Full case lifecycle management in one place for limited staff</a:t>
            </a:r>
          </a:p>
          <a:p>
            <a:pPr>
              <a:lnSpc>
                <a:spcPts val="2100"/>
              </a:lnSpc>
              <a:defRPr sz="1400">
                <a:solidFill>
                  <a:srgbClr val="CCCCCC"/>
                </a:solidFill>
                <a:latin typeface="Calibri"/>
              </a:defRPr>
              <a:buChar char="•"/>
              <a:buClr>
                <a:srgbClr val="FFCC66"/>
              </a:buClr>
            </a:pPr>
            <a:r>
              <a:t>All pipelines refresh nightly -- the system gets smarter over time</a:t>
            </a:r>
          </a:p>
          <a:p>
            <a:pPr>
              <a:lnSpc>
                <a:spcPts val="2100"/>
              </a:lnSpc>
              <a:defRPr sz="1400">
                <a:solidFill>
                  <a:srgbClr val="CCCCCC"/>
                </a:solidFill>
                <a:latin typeface="Calibri"/>
              </a:defRPr>
              <a:buChar char="•"/>
              <a:buClr>
                <a:srgbClr val="FFCC66"/>
              </a:buClr>
            </a:pPr>
            <a:r>
              <a:t>Enterprise-grade security for the most sensitive data</a:t>
            </a:r>
          </a:p>
        </p:txBody>
      </p:sp>
      <p:sp>
        <p:nvSpPr>
          <p:cNvPr id="16" name="TextBox 15"/>
          <p:cNvSpPr txBox="1"/>
          <p:nvPr/>
        </p:nvSpPr>
        <p:spPr>
          <a:xfrm>
            <a:off x="731520" y="5303520"/>
            <a:ext cx="10515600" cy="731520"/>
          </a:xfrm>
          <a:prstGeom prst="rect">
            <a:avLst/>
          </a:prstGeom>
          <a:noFill/>
        </p:spPr>
        <p:txBody>
          <a:bodyPr wrap="square"/>
          <a:lstStyle/>
          <a:p>
            <a:pPr algn="ctr">
              <a:lnSpc>
                <a:spcPts val="2100"/>
              </a:lnSpc>
              <a:defRPr sz="1800" b="0">
                <a:solidFill>
                  <a:srgbClr val="A2C9E1"/>
                </a:solidFill>
                <a:latin typeface="Calibri Light"/>
              </a:defRPr>
            </a:pPr>
            <a:r>
              <a:t>"New Dawn doesn't just manage data -- it transforms data into decisions</a:t>
            </a:r>
            <a:br/>
            <a:r>
              <a:t>that protect girls and grow the mission."</a:t>
            </a:r>
          </a:p>
        </p:txBody>
      </p:sp>
      <p:sp>
        <p:nvSpPr>
          <p:cNvPr id="17" name="TextBox 16"/>
          <p:cNvSpPr txBox="1"/>
          <p:nvPr/>
        </p:nvSpPr>
        <p:spPr>
          <a:xfrm>
            <a:off x="11155680" y="6446520"/>
            <a:ext cx="914400" cy="365760"/>
          </a:xfrm>
          <a:prstGeom prst="rect">
            <a:avLst/>
          </a:prstGeom>
          <a:noFill/>
        </p:spPr>
        <p:txBody>
          <a:bodyPr wrap="square"/>
          <a:lstStyle/>
          <a:p>
            <a:pPr algn="r">
              <a:lnSpc>
                <a:spcPts val="1200"/>
              </a:lnSpc>
              <a:defRPr sz="1000" b="0">
                <a:solidFill>
                  <a:srgbClr val="999999"/>
                </a:solidFill>
                <a:latin typeface="Calibri"/>
              </a:defRPr>
            </a:pPr>
            <a:r>
              <a:t>9 / 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A2633"/>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645920"/>
            <a:ext cx="9144000" cy="1097280"/>
          </a:xfrm>
          <a:prstGeom prst="rect">
            <a:avLst/>
          </a:prstGeom>
          <a:noFill/>
        </p:spPr>
        <p:txBody>
          <a:bodyPr wrap="square"/>
          <a:lstStyle/>
          <a:p>
            <a:pPr algn="ctr">
              <a:lnSpc>
                <a:spcPts val="6700"/>
              </a:lnSpc>
              <a:defRPr sz="5600" b="1">
                <a:solidFill>
                  <a:srgbClr val="FFFFFF"/>
                </a:solidFill>
                <a:latin typeface="Calibri Light"/>
              </a:defRPr>
            </a:pPr>
            <a:r>
              <a:t>NEW DAWN</a:t>
            </a:r>
          </a:p>
        </p:txBody>
      </p:sp>
      <p:sp>
        <p:nvSpPr>
          <p:cNvPr id="4" name="Rectangle 3"/>
          <p:cNvSpPr/>
          <p:nvPr/>
        </p:nvSpPr>
        <p:spPr>
          <a:xfrm>
            <a:off x="5029200" y="2834640"/>
            <a:ext cx="2103120" cy="38100"/>
          </a:xfrm>
          <a:prstGeom prst="rect">
            <a:avLst/>
          </a:prstGeom>
          <a:solidFill>
            <a:srgbClr val="FF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0" y="3108960"/>
            <a:ext cx="9144000" cy="731520"/>
          </a:xfrm>
          <a:prstGeom prst="rect">
            <a:avLst/>
          </a:prstGeom>
          <a:noFill/>
        </p:spPr>
        <p:txBody>
          <a:bodyPr wrap="square"/>
          <a:lstStyle/>
          <a:p>
            <a:pPr algn="ctr">
              <a:lnSpc>
                <a:spcPts val="3300"/>
              </a:lnSpc>
              <a:defRPr sz="2800" b="0">
                <a:solidFill>
                  <a:srgbClr val="A2C9E1"/>
                </a:solidFill>
                <a:latin typeface="Calibri Light"/>
              </a:defRPr>
            </a:pPr>
            <a:r>
              <a:t>A Path to Healing and Hope</a:t>
            </a:r>
          </a:p>
        </p:txBody>
      </p:sp>
      <p:sp>
        <p:nvSpPr>
          <p:cNvPr id="6" name="TextBox 5"/>
          <p:cNvSpPr txBox="1"/>
          <p:nvPr/>
        </p:nvSpPr>
        <p:spPr>
          <a:xfrm>
            <a:off x="1371600" y="4206240"/>
            <a:ext cx="9144000" cy="731520"/>
          </a:xfrm>
          <a:prstGeom prst="rect">
            <a:avLst/>
          </a:prstGeom>
          <a:noFill/>
        </p:spPr>
        <p:txBody>
          <a:bodyPr wrap="square"/>
          <a:lstStyle/>
          <a:p>
            <a:pPr algn="ctr">
              <a:lnSpc>
                <a:spcPts val="2800"/>
              </a:lnSpc>
              <a:defRPr sz="2400" b="1">
                <a:solidFill>
                  <a:srgbClr val="FFCC66"/>
                </a:solidFill>
                <a:latin typeface="Calibri"/>
              </a:defRPr>
            </a:pPr>
            <a:r>
              <a:t>Thank You  |  Questions?</a:t>
            </a:r>
          </a:p>
        </p:txBody>
      </p:sp>
      <p:sp>
        <p:nvSpPr>
          <p:cNvPr id="7" name="TextBox 6"/>
          <p:cNvSpPr txBox="1"/>
          <p:nvPr/>
        </p:nvSpPr>
        <p:spPr>
          <a:xfrm>
            <a:off x="1371600" y="5029200"/>
            <a:ext cx="9144000" cy="457200"/>
          </a:xfrm>
          <a:prstGeom prst="rect">
            <a:avLst/>
          </a:prstGeom>
          <a:noFill/>
        </p:spPr>
        <p:txBody>
          <a:bodyPr wrap="square"/>
          <a:lstStyle/>
          <a:p>
            <a:pPr algn="ctr">
              <a:lnSpc>
                <a:spcPts val="2100"/>
              </a:lnSpc>
              <a:defRPr sz="1800" b="0">
                <a:solidFill>
                  <a:srgbClr val="999999"/>
                </a:solidFill>
                <a:latin typeface="Calibri"/>
              </a:defRPr>
            </a:pPr>
            <a:r>
              <a:t>new-dawn-virid.vercel.app</a:t>
            </a:r>
          </a:p>
        </p:txBody>
      </p:sp>
      <p:sp>
        <p:nvSpPr>
          <p:cNvPr id="8" name="TextBox 7"/>
          <p:cNvSpPr txBox="1"/>
          <p:nvPr/>
        </p:nvSpPr>
        <p:spPr>
          <a:xfrm>
            <a:off x="1371600" y="5577840"/>
            <a:ext cx="9144000" cy="731520"/>
          </a:xfrm>
          <a:prstGeom prst="rect">
            <a:avLst/>
          </a:prstGeom>
          <a:noFill/>
        </p:spPr>
        <p:txBody>
          <a:bodyPr wrap="square"/>
          <a:lstStyle/>
          <a:p>
            <a:pPr algn="ctr">
              <a:lnSpc>
                <a:spcPts val="1600"/>
              </a:lnSpc>
              <a:defRPr sz="1400" b="0">
                <a:solidFill>
                  <a:srgbClr val="999999"/>
                </a:solidFill>
                <a:latin typeface="Calibri"/>
              </a:defRPr>
            </a:pPr>
            <a:r>
              <a:t>Section 3  |  Group 9</a:t>
            </a:r>
            <a:br/>
            <a:r>
              <a:t>Zack Hada   |   Lincoln Lyons   |   [Team Members]</a:t>
            </a:r>
          </a:p>
        </p:txBody>
      </p:sp>
      <p:sp>
        <p:nvSpPr>
          <p:cNvPr id="9" name="TextBox 8"/>
          <p:cNvSpPr txBox="1"/>
          <p:nvPr/>
        </p:nvSpPr>
        <p:spPr>
          <a:xfrm>
            <a:off x="11155680" y="6446520"/>
            <a:ext cx="914400" cy="365760"/>
          </a:xfrm>
          <a:prstGeom prst="rect">
            <a:avLst/>
          </a:prstGeom>
          <a:noFill/>
        </p:spPr>
        <p:txBody>
          <a:bodyPr wrap="square"/>
          <a:lstStyle/>
          <a:p>
            <a:pPr algn="r">
              <a:lnSpc>
                <a:spcPts val="1200"/>
              </a:lnSpc>
              <a:defRPr sz="1000" b="0">
                <a:solidFill>
                  <a:srgbClr val="999999"/>
                </a:solidFill>
                <a:latin typeface="Calibri"/>
              </a:defRPr>
            </a:pPr>
            <a:r>
              <a:t>10 / 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