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7600"/>
              </a:lnSpc>
              <a:defRPr sz="6400" b="1">
                <a:solidFill>
                  <a:srgbClr val="FFFFFF"/>
                </a:solidFill>
                <a:latin typeface="Calibri Light"/>
              </a:defRPr>
            </a:pPr>
            <a:r>
              <a:t>NEW DAWN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10312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00"/>
              </a:lnSpc>
              <a:defRPr sz="2800" b="0">
                <a:solidFill>
                  <a:srgbClr val="A2C9E1"/>
                </a:solidFill>
                <a:latin typeface="Calibri Light"/>
              </a:defRPr>
            </a:pPr>
            <a:r>
              <a:t>A Path to Healing and Hope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93192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0">
                <a:solidFill>
                  <a:srgbClr val="999999"/>
                </a:solidFill>
                <a:latin typeface="Calibri"/>
              </a:defRPr>
            </a:pPr>
            <a:r>
              <a:t>An intelligent safehouse management platform</a:t>
            </a:r>
            <a:br/>
            <a:r>
              <a:t>for girls rescued from abuse and trafficking in the Philippines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1">
                <a:solidFill>
                  <a:srgbClr val="FFCC66"/>
                </a:solidFill>
                <a:latin typeface="Calibri"/>
              </a:defRPr>
            </a:pPr>
            <a:r>
              <a:t>Section 3  |  Group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defRPr sz="1400" b="0">
                <a:solidFill>
                  <a:srgbClr val="999999"/>
                </a:solidFill>
                <a:latin typeface="Calibri"/>
              </a:defRPr>
            </a:pPr>
            <a:r>
              <a:t>Zack Hada   |   Lincoln Lyons   |   [Team Members]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Three Critical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8288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00"/>
              </a:lnSpc>
              <a:defRPr sz="3200" b="1">
                <a:solidFill>
                  <a:srgbClr val="FFCC6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Girls Falling Through</a:t>
            </a:r>
            <a:br/>
            <a:r>
              <a:t>the Cracks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743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BBBBBB"/>
                </a:solidFill>
                <a:latin typeface="Calibri"/>
              </a:defRPr>
            </a:pPr>
            <a:r>
              <a:t>Limited staff managing multiple safehouses can't track which girls are progressing vs. struggling. No system to predict readiness for reintegration or flag rising risk levels.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00"/>
              </a:lnSpc>
              <a:defRPr sz="3200" b="1">
                <a:solidFill>
                  <a:srgbClr val="FFCC6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 Social Media</a:t>
            </a:r>
            <a:br/>
            <a: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2743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BBBBBB"/>
                </a:solidFill>
                <a:latin typeface="Calibri"/>
              </a:defRPr>
            </a:pPr>
            <a:r>
              <a:t>Founders post sporadically without knowing what content drives donations vs. just likes. No dedicated marketing team and no budget to hire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00"/>
              </a:lnSpc>
              <a:defRPr sz="3200" b="1">
                <a:solidFill>
                  <a:srgbClr val="FFCC6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Donor Retention</a:t>
            </a:r>
            <a:br/>
            <a:r>
              <a:t>&amp;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27432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BBBBBB"/>
                </a:solidFill>
                <a:latin typeface="Calibri"/>
              </a:defRPr>
            </a:pPr>
            <a:r>
              <a:t>The organization depends entirely on donations but loses donors without understanding why. No way to identify at-risk supporters or personalize outreach at scale.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One Platform, Three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8288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800" b="0">
                <a:solidFill>
                  <a:srgbClr val="CCCCCC"/>
                </a:solidFill>
                <a:latin typeface="Calibri"/>
              </a:defRPr>
            </a:pPr>
            <a:r>
              <a:t>New Dawn is a full-stack web application that combines case management,</a:t>
            </a:r>
            <a:br/>
            <a:r>
              <a:t>donor intelligence, and AI-powered social media tools into a single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291840" cy="32004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3291840" cy="54864"/>
          </a:xfrm>
          <a:prstGeom prst="rect">
            <a:avLst/>
          </a:prstGeom>
          <a:solidFill>
            <a:srgbClr val="91B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2000" b="1">
                <a:solidFill>
                  <a:srgbClr val="91B191"/>
                </a:solidFill>
                <a:latin typeface="Calibri"/>
              </a:defRPr>
            </a:pPr>
            <a:r>
              <a:t>Caseload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BBBBBB"/>
                </a:solidFill>
                <a:latin typeface="Calibri"/>
              </a:defRPr>
            </a:pPr>
            <a:r>
              <a:t>ML-powered risk prediction flags at-risk residents before they regress. Causal analysis identifies which interventions actually drive successful reintegration.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999999"/>
                </a:solidFill>
                <a:latin typeface="Calibri"/>
              </a:defRPr>
            </a:pPr>
            <a:r>
              <a:t>Pipelines: Risk Prediction, Reintegration Causal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926080"/>
            <a:ext cx="3291840" cy="32004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926080"/>
            <a:ext cx="3291840" cy="54864"/>
          </a:xfrm>
          <a:prstGeom prst="rect">
            <a:avLst/>
          </a:prstGeom>
          <a:solidFill>
            <a:srgbClr val="A2C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2004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2000" b="1">
                <a:solidFill>
                  <a:srgbClr val="A2C9E1"/>
                </a:solidFill>
                <a:latin typeface="Calibri"/>
              </a:defRPr>
            </a:pPr>
            <a:r>
              <a:t>AI Social Editor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84048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BBBBBB"/>
                </a:solidFill>
                <a:latin typeface="Calibri"/>
              </a:defRPr>
            </a:pPr>
            <a:r>
              <a:t>Real-time ML predictions show expected donations, engagement, and reach as staff craft posts. Optimal posting times maximize fundraising impact.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53949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999999"/>
                </a:solidFill>
                <a:latin typeface="Calibri"/>
              </a:defRPr>
            </a:pPr>
            <a:r>
              <a:t>Pipelines: Social Referrals, Best Posting Times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926080"/>
            <a:ext cx="3291840" cy="32004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926080"/>
            <a:ext cx="3291840" cy="54864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2000" b="1">
                <a:solidFill>
                  <a:srgbClr val="FFCC66"/>
                </a:solidFill>
                <a:latin typeface="Calibri"/>
              </a:defRPr>
            </a:pPr>
            <a:r>
              <a:t>Donor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40480"/>
            <a:ext cx="2743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BBBBBB"/>
                </a:solidFill>
                <a:latin typeface="Calibri"/>
              </a:defRPr>
            </a:pPr>
            <a:r>
              <a:t>ML predicts donor likelihood to give again within 180 days. SHAP-driven reasons explain each prediction so staff can personalize outreach.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394960"/>
            <a:ext cx="2743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defRPr sz="1100" b="0">
                <a:solidFill>
                  <a:srgbClr val="999999"/>
                </a:solidFill>
                <a:latin typeface="Calibri"/>
              </a:defRPr>
            </a:pPr>
            <a:r>
              <a:t>Pipeline: Donor Likelihood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700"/>
              </a:lnSpc>
              <a:defRPr sz="5600" b="1">
                <a:solidFill>
                  <a:srgbClr val="FFFFFF"/>
                </a:solidFill>
                <a:latin typeface="Calibri Light"/>
              </a:defRPr>
            </a:pPr>
            <a: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383280"/>
            <a:ext cx="210312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00"/>
              </a:lnSpc>
              <a:defRPr sz="2200" b="0">
                <a:solidFill>
                  <a:srgbClr val="A2C9E1"/>
                </a:solidFill>
                <a:latin typeface="Calibri"/>
              </a:defRPr>
            </a:pPr>
            <a:r>
              <a:t>new-dawn-virid.vercel.app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600" b="0">
                <a:solidFill>
                  <a:srgbClr val="999999"/>
                </a:solidFill>
                <a:latin typeface="Calibri"/>
              </a:defRPr>
            </a:pPr>
            <a:r>
              <a:t>Landing  &gt;  Impact Dashboard  &gt;  Admin Dashboard  &gt;  Caseload + ML Risk</a:t>
            </a:r>
            <a:br/>
            <a:r>
              <a:t>&gt;  Social Editor + AI Predictions  &gt;  Donor Intelligence  &gt; 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Public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3716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A2C9E1"/>
                </a:solidFill>
                <a:latin typeface="Calibri"/>
              </a:defRPr>
            </a:pPr>
            <a:r>
              <a:t>What to show: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Landing page: mission, three pillars (Caring, Healing, Teaching)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Live impact stats pulled from the database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Impact Dashboard with charts (residents served, outcomes, donations)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Donation tiers ($25-$250/mo) with impact messaging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Privacy policy (GDPR-compliant) + cookie consent banner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Dark / light mode toggle (saved in browser cookie)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Google OAuth login + MFA setup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029200" cy="438912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20040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defRPr sz="2000" b="0">
                <a:solidFill>
                  <a:srgbClr val="999999"/>
                </a:solidFill>
                <a:latin typeface="Calibri"/>
              </a:defRPr>
            </a:pPr>
            <a:r>
              <a:t>[SCREENSHOT]</a:t>
            </a:r>
            <a:br/>
            <a:r>
              <a:t>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SPEAKER NOTE: Start with the public experience. Show the landing page, scroll through pillars, click Impact Dashboard, show charts. Toggle dark mode. Show privacy policy footer link. Show cookie consent.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Admin Command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3716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defRPr sz="16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Admin Dashboard: active residents, recent donations, open interventions</a:t>
            </a:r>
          </a:p>
          <a:p>
            <a:pPr>
              <a:lnSpc>
                <a:spcPts val="2400"/>
              </a:lnSpc>
              <a:defRPr sz="16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Quick-nav cards to every operational area</a:t>
            </a:r>
          </a:p>
          <a:p>
            <a:pPr>
              <a:lnSpc>
                <a:spcPts val="2400"/>
              </a:lnSpc>
              <a:defRPr sz="16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Role-based access: Admin sees everything, Donor sees own data</a:t>
            </a:r>
          </a:p>
          <a:p>
            <a:pPr>
              <a:lnSpc>
                <a:spcPts val="2400"/>
              </a:lnSpc>
              <a:defRPr sz="16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Full CRUD with delete confirmation modals</a:t>
            </a:r>
          </a:p>
          <a:p>
            <a:pPr>
              <a:lnSpc>
                <a:spcPts val="2400"/>
              </a:lnSpc>
              <a:defRPr sz="16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Pagination on all list views (20 per page)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5029200" cy="438912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320040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defRPr sz="2000" b="0">
                <a:solidFill>
                  <a:srgbClr val="999999"/>
                </a:solidFill>
                <a:latin typeface="Calibri"/>
              </a:defRPr>
            </a:pPr>
            <a:r>
              <a:t>[SCREENSHOT]</a:t>
            </a:r>
            <a:br/>
            <a:r>
              <a:t>Admin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SPEAKER NOTE: Log in as admin. Show dashboard overview. Highlight the quick-nav cards. Demonstrate RBAC by noting what a Donor user would see vs Admin.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DEMO  |  SOLUTION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00"/>
              </a:lnSpc>
              <a:defRPr sz="3600" b="1">
                <a:solidFill>
                  <a:srgbClr val="91B191"/>
                </a:solidFill>
                <a:latin typeface="Calibri Light"/>
              </a:defRPr>
            </a:pPr>
            <a:r>
              <a:t>Caseload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371600" cy="38100"/>
          </a:xfrm>
          <a:prstGeom prst="rect">
            <a:avLst/>
          </a:prstGeom>
          <a:solidFill>
            <a:srgbClr val="91B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800" b="0">
                <a:solidFill>
                  <a:srgbClr val="BBBBBB"/>
                </a:solidFill>
                <a:latin typeface="Calibri"/>
              </a:defRPr>
            </a:pPr>
            <a:r>
              <a:t>No more girls falling through the cracks.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Residents list with ML risk predictions (arrows when ML disagrees with stored value)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Resident detail: demographics, case info, disability, family profile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ML Risk Assessment card: predicted risk + confidence + top SHAP factors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Reintegration Insights: causal factors from logistic regression analysis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Process recordings (counseling), education, health, interventions, incidents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Full case lifecycle from intake to reintegration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029200" cy="438912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0">
                <a:solidFill>
                  <a:srgbClr val="999999"/>
                </a:solidFill>
                <a:latin typeface="Calibri"/>
              </a:defRPr>
            </a:pPr>
            <a:r>
              <a:t>[SCREENSHOT]</a:t>
            </a:r>
            <a:br/>
            <a:r>
              <a:t>Resident Detail</a:t>
            </a:r>
            <a:br/>
            <a:r>
              <a:t>with ML Risk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SPEAKER NOTE: Show residents list. Point out the ML risk arrows. Click into a resident. Show the ML Risk Assessment card and Reintegration Insights. Briefly show process recordings. Emphasize that these predictions update nightly.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DEMO  |  SOLUTION 2  | 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00"/>
              </a:lnSpc>
              <a:defRPr sz="3600" b="1">
                <a:solidFill>
                  <a:srgbClr val="A2C9E1"/>
                </a:solidFill>
                <a:latin typeface="Calibri Light"/>
              </a:defRPr>
            </a:pPr>
            <a:r>
              <a:t>AI-Powered Social Editor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371600" cy="38100"/>
          </a:xfrm>
          <a:prstGeom prst="rect">
            <a:avLst/>
          </a:prstGeom>
          <a:solidFill>
            <a:srgbClr val="A2C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800" b="0">
                <a:solidFill>
                  <a:srgbClr val="BBBBBB"/>
                </a:solidFill>
                <a:latin typeface="Calibri"/>
              </a:defRPr>
            </a:pPr>
            <a:r>
              <a:t>Turns a social media novice into a data-driven content strategist.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383280" cy="1828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A2C9E1"/>
                </a:solidFill>
                <a:latin typeface="Calibri"/>
              </a:defRPr>
            </a:pPr>
            <a:r>
              <a:t>Live Predictions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BBBBBB"/>
                </a:solidFill>
                <a:latin typeface="Calibri"/>
              </a:defRPr>
            </a:pPr>
            <a:r>
              <a:t>6 real-time ML metrics update as you edit:</a:t>
            </a:r>
            <a:br/>
            <a:r>
              <a:t>Donation referrals, donation value,</a:t>
            </a:r>
            <a:br/>
            <a:r>
              <a:t>engagement rate, forwards, profile</a:t>
            </a:r>
            <a:br/>
            <a:r>
              <a:t>visits, impressions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3383280" cy="1828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FFCC66"/>
                </a:solidFill>
                <a:latin typeface="Calibri"/>
              </a:defRPr>
            </a:pPr>
            <a:r>
              <a:t>Golden Window 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10896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BBBBBB"/>
                </a:solidFill>
                <a:latin typeface="Calibri"/>
              </a:defRPr>
            </a:pPr>
            <a:r>
              <a:t>Simulates all 168 day/hour combos</a:t>
            </a:r>
            <a:br/>
            <a:r>
              <a:t>to find the optimal posting window.</a:t>
            </a:r>
            <a:br/>
            <a:r>
              <a:t>Top 15 slots ranked by predicted</a:t>
            </a:r>
            <a:br/>
            <a:r>
              <a:t>donation value with 1-click scheduling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468880"/>
            <a:ext cx="3383280" cy="1828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600" b="1">
                <a:solidFill>
                  <a:srgbClr val="91B191"/>
                </a:solidFill>
                <a:latin typeface="Calibri"/>
              </a:defRPr>
            </a:pPr>
            <a:r>
              <a:t>Content Builder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29260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defRPr sz="1300" b="0">
                <a:solidFill>
                  <a:srgbClr val="BBBBBB"/>
                </a:solidFill>
                <a:latin typeface="Calibri"/>
              </a:defRPr>
            </a:pPr>
            <a:r>
              <a:t>Platform, post type, media type,</a:t>
            </a:r>
            <a:br/>
            <a:r>
              <a:t>topic, sentiment, CTA selector.</a:t>
            </a:r>
            <a:br/>
            <a:r>
              <a:t>Caption editor with character count.</a:t>
            </a:r>
            <a:br/>
            <a:r>
              <a:t>Schedule for any date/time.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THE DEMO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80"/>
            <a:ext cx="102412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CCCCCC"/>
                </a:solidFill>
                <a:latin typeface="Calibri"/>
              </a:defRPr>
            </a:pPr>
            <a:r>
              <a:t>Change the platform from Instagram to LinkedIn, switch the CTA from LearnMore to DonateNow, and watch all 6 prediction cards update in real time. Then click an optimal time slot to auto-schedule. This is the feature that turns a small nonprofit with zero marketing budget into a data-driven fundraising machine.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SPEAKER NOTE: This is the star of the show. Spend 3-4 minutes here. Build a post from scratch. Change attributes and narrate the prediction changes. Show the optimal times. Click one to schedule. Emphasize: no marketing hire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DEMO  |  SOLUTION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00"/>
              </a:lnSpc>
              <a:defRPr sz="3600" b="1">
                <a:solidFill>
                  <a:srgbClr val="FFCC66"/>
                </a:solidFill>
                <a:latin typeface="Calibri Light"/>
              </a:defRPr>
            </a:pPr>
            <a:r>
              <a:t>Donor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3716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800" b="0">
                <a:solidFill>
                  <a:srgbClr val="BBBBBB"/>
                </a:solidFill>
                <a:latin typeface="Calibri"/>
              </a:defRPr>
            </a:pPr>
            <a:r>
              <a:t>Know your donors before they leave.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Supporters list with ML likelihood scores: High / Medium / Low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SHAP-derived top reasons explain each prediction in plain language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Color-coded badges for instant triage (green = likely, red = at-risk)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Sort by likelihood to prioritize outreach to at-risk donors first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Donor detail: full history, total lifetime value, frequency, avg gift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Donation tracking across all types (monetary, in-kind, time, skills, social)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Allocation view: see exactly where each dollar goes (by safehouse/program)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029200" cy="438912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92608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0">
                <a:solidFill>
                  <a:srgbClr val="999999"/>
                </a:solidFill>
                <a:latin typeface="Calibri"/>
              </a:defRPr>
            </a:pPr>
            <a:r>
              <a:t>[SCREENSHOT]</a:t>
            </a:r>
            <a:br/>
            <a:r>
              <a:t>Supporters List</a:t>
            </a:r>
            <a:br/>
            <a:r>
              <a:t>with Likelihood Badges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SPEAKER NOTE: Show supporters list. Point out the likelihood badges. Click into a donor detail. Show their history and the SHAP reasons. Demonstrate sorting by likelihood. Show allocations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Reports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3716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Donation trends over time (monthly totals and counts)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Education progress by safehouse (avg progress %, enrollment)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Health &amp; wellbeing trends (nutrition, sleep, energy, general health)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Reintegration success rates per safehouse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Incident summary by type and severity (pie charts)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Social media post performance and platform comparison</a:t>
            </a:r>
          </a:p>
          <a:p>
            <a:pPr>
              <a:lnSpc>
                <a:spcPts val="2200"/>
              </a:lnSpc>
              <a:defRPr sz="15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Structured to align with Philippine Annual Accomplishment Report format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5029200" cy="438912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92608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0">
                <a:solidFill>
                  <a:srgbClr val="999999"/>
                </a:solidFill>
                <a:latin typeface="Calibri"/>
              </a:defRPr>
            </a:pPr>
            <a:r>
              <a:t>[SCREENSHOT]</a:t>
            </a:r>
            <a:br/>
            <a:r>
              <a:t>Reports Page</a:t>
            </a:r>
            <a:br/>
            <a:r>
              <a:t>with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5 Production ML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3716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064240" cy="4114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FFCC66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FFCC66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87452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FFCC66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7452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FFCC66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745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FFCC66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874520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FFCC66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5000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A2C9E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35000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Donor Likelihood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5000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Predictive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35000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35000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F1: 0.98, AUC: 0.98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350008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Supporters list badges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788920"/>
            <a:ext cx="11064240" cy="457200"/>
          </a:xfrm>
          <a:prstGeom prst="rect">
            <a:avLst/>
          </a:prstGeom>
          <a:solidFill>
            <a:srgbClr val="2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5292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A2C9E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85292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Social Referrals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85292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Explanatory + Predictive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85292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GBM / Ridge / LightGBM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85292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6 target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852928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Social Editor live cards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35584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A2C9E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35584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Posting Times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35584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Predictive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335584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35584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168 day/hr combos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355848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Social Editor scheduler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solidFill>
            <a:srgbClr val="24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85876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A2C9E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85876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Reintegration Causal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385876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Explanatory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85876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Logistic (statsmodels)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85876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Odds ratios, p&lt;0.05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3858768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Resident detail insights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361688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1">
                <a:solidFill>
                  <a:srgbClr val="A2C9E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36168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Risk Prediction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08960" y="436168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Predictive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436168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361688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Accuracy: 65%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4361688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Residents list + detail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4754880"/>
            <a:ext cx="10698480" cy="118872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4937760"/>
            <a:ext cx="102412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0">
                <a:solidFill>
                  <a:srgbClr val="BBBBBB"/>
                </a:solidFill>
                <a:latin typeface="Calibri"/>
              </a:defRPr>
            </a:pPr>
            <a:r>
              <a:t>All 5 pipelines run nightly at 2:00 AM via automated scheduler. Models serialized with joblib. Predictions served through .NET API endpoints as CSV lookups. Every pipeline follows the full lifecycle: Problem Framing &gt; Data Prep &gt; Exploration &gt; Modeling &gt; Feature Selection &gt; Evaluation &gt; Deployment.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ARCHITECTURE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Built for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3716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800" b="1">
                <a:solidFill>
                  <a:srgbClr val="A2C9E1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A2C9E1"/>
              </a:buClr>
            </a:pPr>
            <a:r>
              <a:t>Frontend: React 19 + TypeScript + Vite + Tailwind CSS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A2C9E1"/>
              </a:buClr>
            </a:pPr>
            <a:r>
              <a:t>Backend: .NET 10 / C# Web API + EF Core 9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A2C9E1"/>
              </a:buClr>
            </a:pPr>
            <a:r>
              <a:t>Database: PostgreSQL on Supabase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A2C9E1"/>
              </a:buClr>
            </a:pPr>
            <a:r>
              <a:t>State: Zustand (client) + React Query (server)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A2C9E1"/>
              </a:buClr>
            </a:pPr>
            <a:r>
              <a:t>Charts: Recharts | Forms: react-hook-form + Zod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A2C9E1"/>
              </a:buClr>
            </a:pPr>
            <a:r>
              <a:t>ML: Python + scikit-learn + statsmodels + joblib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A2C9E1"/>
              </a:buClr>
            </a:pPr>
            <a:r>
              <a:t>Deployment: Vercel (frontend) + Cloud (backend)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800" b="1">
                <a:solidFill>
                  <a:srgbClr val="91B191"/>
                </a:solidFill>
                <a:latin typeface="Calibri"/>
              </a:defRPr>
            </a:pPr>
            <a:r>
              <a:t>Security (IS 414)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HTTPS/TLS with HTTP &gt; HTTPS redirect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ASP.NET Identity + JWT auth + custom password policy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Role-Based Access Control (Admin / Donor / Public)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Google OAuth third-party authentication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Multi-Factor Authentication (TOTP authenticator app)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Content-Security-Policy header via middleware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HSTS enabled | Delete confirmation required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GDPR privacy policy + functional cookie consent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Data sanitization on all inputs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Credentials in env vars, not in repo</a:t>
            </a:r>
          </a:p>
          <a:p>
            <a:pPr>
              <a:lnSpc>
                <a:spcPts val="1900"/>
              </a:lnSpc>
              <a:defRPr sz="1300">
                <a:solidFill>
                  <a:srgbClr val="CCCCCC"/>
                </a:solidFill>
                <a:latin typeface="Calibri"/>
              </a:defRPr>
              <a:buChar char="•"/>
              <a:buClr>
                <a:srgbClr val="91B191"/>
              </a:buClr>
            </a:pPr>
            <a:r>
              <a:t>Real DBMS (PostgreSQL) for identity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000"/>
              </a:lnSpc>
              <a:defRPr sz="3400" b="1">
                <a:solidFill>
                  <a:srgbClr val="FFFFFF"/>
                </a:solidFill>
                <a:latin typeface="Calibri Light"/>
              </a:defRPr>
            </a:pPr>
            <a:r>
              <a:t>Design, Responsiveness &amp; Accessibility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3716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606040" cy="4114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606040" cy="54864"/>
          </a:xfrm>
          <a:prstGeom prst="rect">
            <a:avLst/>
          </a:prstGeom>
          <a:solidFill>
            <a:srgbClr val="A2C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A2C9E1"/>
                </a:solidFill>
                <a:latin typeface="Calibri"/>
              </a:defRPr>
            </a:pPr>
            <a:r>
              <a:t>Clean, Calming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224028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BBBBBB"/>
                </a:solidFill>
                <a:latin typeface="Calibri"/>
              </a:defRPr>
            </a:pPr>
            <a:r>
              <a:t>Purpose-built color palette: Sky Blue, Sage Green, Golden Honey. Designed to feel safe and professional -- not clinical. Significant whitespace, no harsh imagery. Consistent typography (Inter/Poppins headings, Montserrat body).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606040" cy="4114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2011680"/>
            <a:ext cx="2606040" cy="54864"/>
          </a:xfrm>
          <a:prstGeom prst="rect">
            <a:avLst/>
          </a:prstGeom>
          <a:solidFill>
            <a:srgbClr val="91B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28600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91B191"/>
                </a:solidFill>
                <a:latin typeface="Calibri"/>
              </a:defRPr>
            </a:pPr>
            <a:r>
              <a:t>Fully Responsive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24028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BBBBBB"/>
                </a:solidFill>
                <a:latin typeface="Calibri"/>
              </a:defRPr>
            </a:pPr>
            <a:r>
              <a:t>Every page tested on desktop and mobile. Tailwind CSS responsive utilities ensure layouts adapt gracefully. Navigation collapses to mobile menu. Tables scroll horizontally on small screens.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606040" cy="4114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2606040" cy="54864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FFCC66"/>
                </a:solidFill>
                <a:latin typeface="Calibri"/>
              </a:defRPr>
            </a:pPr>
            <a:r>
              <a:t>Accessible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224028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BBBBBB"/>
                </a:solidFill>
                <a:latin typeface="Calibri"/>
              </a:defRPr>
            </a:pPr>
            <a:r>
              <a:t>Targeting Lighthouse accessibility score &gt;= 90 on all pages. Semantic HTML, proper ARIA labels, keyboard navigation support, sufficient color contrast ratios.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011680"/>
            <a:ext cx="2606040" cy="411480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011680"/>
            <a:ext cx="2606040" cy="54864"/>
          </a:xfrm>
          <a:prstGeom prst="rect">
            <a:avLst/>
          </a:prstGeom>
          <a:solidFill>
            <a:srgbClr val="FFE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500" b="1">
                <a:solidFill>
                  <a:srgbClr val="FFE6E1"/>
                </a:solidFill>
                <a:latin typeface="Calibri"/>
              </a:defRPr>
            </a:pPr>
            <a:r>
              <a:t>Dark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834640"/>
            <a:ext cx="224028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00"/>
              </a:lnSpc>
              <a:defRPr sz="1200" b="0">
                <a:solidFill>
                  <a:srgbClr val="BBBBBB"/>
                </a:solidFill>
                <a:latin typeface="Calibri"/>
              </a:defRPr>
            </a:pPr>
            <a:r>
              <a:t>Full dark/light mode with class-based toggling. Preference stored in a browser-accessible cookie (nd_theme). React reads and applies the theme on 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400" b="1">
                <a:solidFill>
                  <a:srgbClr val="FFCC66"/>
                </a:solidFill>
                <a:latin typeface="Calibri"/>
              </a:defRPr>
            </a:pPr>
            <a:r>
              <a:t>THE CASE FOR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300"/>
              </a:lnSpc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Why New Dawn Deserves</a:t>
            </a:r>
            <a:br/>
            <a:r>
              <a:t>Continued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19"/>
            <a:ext cx="182880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300"/>
              </a:lnSpc>
              <a:defRPr sz="3600" b="1">
                <a:solidFill>
                  <a:srgbClr val="FFCC6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999999"/>
                </a:solidFill>
                <a:latin typeface="Calibri"/>
              </a:defRPr>
            </a:pPr>
            <a:r>
              <a:t>Production ML</a:t>
            </a:r>
            <a:br/>
            <a:r>
              <a:t>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860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300"/>
              </a:lnSpc>
              <a:defRPr sz="3600" b="1">
                <a:solidFill>
                  <a:srgbClr val="FFCC66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92608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999999"/>
                </a:solidFill>
                <a:latin typeface="Calibri"/>
              </a:defRPr>
            </a:pPr>
            <a:r>
              <a:t>Database Tables</a:t>
            </a:r>
            <a:br/>
            <a:r>
              <a:t>Seeded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300"/>
              </a:lnSpc>
              <a:defRPr sz="3600" b="1">
                <a:solidFill>
                  <a:srgbClr val="FFCC66"/>
                </a:solidFill>
                <a:latin typeface="Calibri"/>
              </a:defRPr>
            </a:pPr>
            <a:r>
              <a:t>60+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92608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999999"/>
                </a:solidFill>
                <a:latin typeface="Calibri"/>
              </a:defRPr>
            </a:pPr>
            <a:r>
              <a:t>Residents</a:t>
            </a:r>
            <a:br/>
            <a:r>
              <a:t>Managed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286000"/>
            <a:ext cx="1371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300"/>
              </a:lnSpc>
              <a:defRPr sz="3600" b="1">
                <a:solidFill>
                  <a:srgbClr val="FFCC6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926080"/>
            <a:ext cx="1371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00"/>
              </a:lnSpc>
              <a:defRPr sz="1200" b="0">
                <a:solidFill>
                  <a:srgbClr val="999999"/>
                </a:solidFill>
                <a:latin typeface="Calibri"/>
              </a:defRPr>
            </a:pPr>
            <a:r>
              <a:t>Social Platforms</a:t>
            </a:r>
            <a:br/>
            <a:r>
              <a:t>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800" b="1">
                <a:solidFill>
                  <a:srgbClr val="FFCC66"/>
                </a:solidFill>
                <a:latin typeface="Calibri"/>
              </a:defRPr>
            </a:pPr>
            <a:r>
              <a:t>Value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Replaces manual risk tracking with ML-powered early warning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Eliminates guesswork from social media with real-time predictions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Predicts donor lapse before it happens, enabling proactive retention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Full case lifecycle management in one place for limited staff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All pipelines refresh nightly -- the system gets smarter over time</a:t>
            </a:r>
          </a:p>
          <a:p>
            <a:pPr>
              <a:lnSpc>
                <a:spcPts val="2100"/>
              </a:lnSpc>
              <a:defRPr sz="1400">
                <a:solidFill>
                  <a:srgbClr val="CCCCCC"/>
                </a:solidFill>
                <a:latin typeface="Calibri"/>
              </a:defRPr>
              <a:buChar char="•"/>
              <a:buClr>
                <a:srgbClr val="FFCC66"/>
              </a:buClr>
            </a:pPr>
            <a:r>
              <a:t>Built with enterprise-grade security for the most sensitive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0">
                <a:solidFill>
                  <a:srgbClr val="A2C9E1"/>
                </a:solidFill>
                <a:latin typeface="Calibri Light"/>
              </a:defRPr>
            </a:pPr>
            <a:r>
              <a:t>"New Dawn doesn't just manage data -- it transforms data into decisions</a:t>
            </a:r>
            <a:br/>
            <a:r>
              <a:t>that protect girls and grow the mission."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6700"/>
              </a:lnSpc>
              <a:defRPr sz="5600" b="1">
                <a:solidFill>
                  <a:srgbClr val="FFFFFF"/>
                </a:solidFill>
                <a:latin typeface="Calibri Light"/>
              </a:defRPr>
            </a:pPr>
            <a:r>
              <a:t>NEW DAWN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103120" cy="38100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3300"/>
              </a:lnSpc>
              <a:defRPr sz="2800" b="0">
                <a:solidFill>
                  <a:srgbClr val="A2C9E1"/>
                </a:solidFill>
                <a:latin typeface="Calibri Light"/>
              </a:defRPr>
            </a:pPr>
            <a:r>
              <a:t>A Path to Healing and Hope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800"/>
              </a:lnSpc>
              <a:defRPr sz="2400" b="1">
                <a:solidFill>
                  <a:srgbClr val="FFCC66"/>
                </a:solidFill>
                <a:latin typeface="Calibri"/>
              </a:defRPr>
            </a:pPr>
            <a:r>
              <a:t>Thank You  | 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100"/>
              </a:lnSpc>
              <a:defRPr sz="1800" b="0">
                <a:solidFill>
                  <a:srgbClr val="999999"/>
                </a:solidFill>
                <a:latin typeface="Calibri"/>
              </a:defRPr>
            </a:pPr>
            <a:r>
              <a:t>new-dawn-virid.vercel.app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00"/>
              </a:lnSpc>
              <a:defRPr sz="1400" b="0">
                <a:solidFill>
                  <a:srgbClr val="999999"/>
                </a:solidFill>
                <a:latin typeface="Calibri"/>
              </a:defRPr>
            </a:pPr>
            <a:r>
              <a:t>Section 3  |  Group 9</a:t>
            </a:r>
            <a:br/>
            <a:r>
              <a:t>Zack Hada   |   Lincoln Lyons   |   [Team Members]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200"/>
              </a:lnSpc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